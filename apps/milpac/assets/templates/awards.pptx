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95" r:id="rId32"/>
    <p:sldId id="300" r:id="rId33"/>
    <p:sldId id="301" r:id="rId34"/>
    <p:sldId id="302" r:id="rId35"/>
    <p:sldId id="303" r:id="rId36"/>
    <p:sldId id="304" r:id="rId37"/>
    <p:sldId id="305" r:id="rId38"/>
    <p:sldId id="306" r:id="rId39"/>
    <p:sldId id="307" r:id="rId40"/>
    <p:sldId id="308" r:id="rId41"/>
    <p:sldId id="309" r:id="rId42"/>
    <p:sldId id="310" r:id="rId43"/>
  </p:sldIdLst>
  <p:sldSz cx="14039850" cy="8459788"/>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5" d="100"/>
          <a:sy n="125" d="100"/>
        </p:scale>
        <p:origin x="88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C261EC9F-9A10-4F07-8D0C-8D83FB965704}" type="datetimeFigureOut">
              <a:rPr lang="en-AU" smtClean="0"/>
              <a:t>2/12/2024</a:t>
            </a:fld>
            <a:endParaRPr lang="en-AU"/>
          </a:p>
        </p:txBody>
      </p:sp>
      <p:sp>
        <p:nvSpPr>
          <p:cNvPr id="4" name="Slide Image Placeholder 3"/>
          <p:cNvSpPr>
            <a:spLocks noGrp="1" noRot="1" noChangeAspect="1"/>
          </p:cNvSpPr>
          <p:nvPr>
            <p:ph type="sldImg" idx="2"/>
          </p:nvPr>
        </p:nvSpPr>
        <p:spPr>
          <a:xfrm>
            <a:off x="785813" y="1336675"/>
            <a:ext cx="5988050" cy="3608388"/>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FFB7ED70-23D5-4FBE-96C2-9591E0975DC0}" type="slidenum">
              <a:rPr lang="en-AU" smtClean="0"/>
              <a:t>‹#›</a:t>
            </a:fld>
            <a:endParaRPr lang="en-AU"/>
          </a:p>
        </p:txBody>
      </p:sp>
    </p:spTree>
    <p:extLst>
      <p:ext uri="{BB962C8B-B14F-4D97-AF65-F5344CB8AC3E}">
        <p14:creationId xmlns:p14="http://schemas.microsoft.com/office/powerpoint/2010/main" val="9812637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FFB7ED70-23D5-4FBE-96C2-9591E0975DC0}" type="slidenum">
              <a:rPr lang="en-AU" smtClean="0"/>
              <a:t>30</a:t>
            </a:fld>
            <a:endParaRPr lang="en-AU"/>
          </a:p>
        </p:txBody>
      </p:sp>
    </p:spTree>
    <p:extLst>
      <p:ext uri="{BB962C8B-B14F-4D97-AF65-F5344CB8AC3E}">
        <p14:creationId xmlns:p14="http://schemas.microsoft.com/office/powerpoint/2010/main" val="1127069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lstStyle/>
          <a:p>
            <a:r>
              <a:t>Footer</a:t>
            </a:r>
          </a:p>
        </p:txBody>
      </p:sp>
      <p:sp>
        <p:nvSpPr>
          <p:cNvPr id="3" name="PlaceHolder 2"/>
          <p:cNvSpPr>
            <a:spLocks noGrp="1"/>
          </p:cNvSpPr>
          <p:nvPr>
            <p:ph type="sldNum" idx="2"/>
          </p:nvPr>
        </p:nvSpPr>
        <p:spPr/>
        <p:txBody>
          <a:bodyPr/>
          <a:lstStyle/>
          <a:p>
            <a:fld id="{4025AACC-78AB-4E01-BE03-CD6AA753465C}" type="slidenum">
              <a:t>‹#›</a:t>
            </a:fld>
            <a:endParaRPr/>
          </a:p>
        </p:txBody>
      </p:sp>
      <p:sp>
        <p:nvSpPr>
          <p:cNvPr id="4" name="PlaceHolder 3"/>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702000" y="337320"/>
            <a:ext cx="12635640" cy="141228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8" name="PlaceHolder 2"/>
          <p:cNvSpPr>
            <a:spLocks noGrp="1"/>
          </p:cNvSpPr>
          <p:nvPr>
            <p:ph type="subTitle"/>
          </p:nvPr>
        </p:nvSpPr>
        <p:spPr>
          <a:xfrm>
            <a:off x="702000" y="1979280"/>
            <a:ext cx="12635640" cy="490608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A15A3C0F-B3D7-45B7-AAA0-F3E7C3535259}" type="slidenum">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702000" y="337320"/>
            <a:ext cx="12635640" cy="141228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10" name="PlaceHolder 2"/>
          <p:cNvSpPr>
            <a:spLocks noGrp="1"/>
          </p:cNvSpPr>
          <p:nvPr>
            <p:ph/>
          </p:nvPr>
        </p:nvSpPr>
        <p:spPr>
          <a:xfrm>
            <a:off x="702000" y="1979280"/>
            <a:ext cx="12635640" cy="490608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D3389FBA-6E3A-4CD8-A735-3CDE349BFCFE}" type="slidenum">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702000" y="337320"/>
            <a:ext cx="12635640" cy="141228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12" name="PlaceHolder 2"/>
          <p:cNvSpPr>
            <a:spLocks noGrp="1"/>
          </p:cNvSpPr>
          <p:nvPr>
            <p:ph/>
          </p:nvPr>
        </p:nvSpPr>
        <p:spPr>
          <a:xfrm>
            <a:off x="702000" y="1979280"/>
            <a:ext cx="6166080" cy="490608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13" name="PlaceHolder 3"/>
          <p:cNvSpPr>
            <a:spLocks noGrp="1"/>
          </p:cNvSpPr>
          <p:nvPr>
            <p:ph/>
          </p:nvPr>
        </p:nvSpPr>
        <p:spPr>
          <a:xfrm>
            <a:off x="7176600" y="1979280"/>
            <a:ext cx="6166080" cy="490608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0B40342C-7308-4207-BBB3-5767F0951323}" type="slidenum">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 name="PlaceHolder 1"/>
          <p:cNvSpPr>
            <a:spLocks noGrp="1"/>
          </p:cNvSpPr>
          <p:nvPr>
            <p:ph type="title"/>
          </p:nvPr>
        </p:nvSpPr>
        <p:spPr>
          <a:xfrm>
            <a:off x="702000" y="337320"/>
            <a:ext cx="12635640" cy="141228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90104A20-FD60-4673-BE14-C76B57499AC4}" type="slidenum">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5" name="PlaceHolder 1"/>
          <p:cNvSpPr>
            <a:spLocks noGrp="1"/>
          </p:cNvSpPr>
          <p:nvPr>
            <p:ph type="subTitle"/>
          </p:nvPr>
        </p:nvSpPr>
        <p:spPr>
          <a:xfrm>
            <a:off x="702000" y="337320"/>
            <a:ext cx="12635640" cy="6547680"/>
          </a:xfrm>
          <a:prstGeom prst="rect">
            <a:avLst/>
          </a:prstGeom>
          <a:noFill/>
          <a:ln w="0">
            <a:noFill/>
          </a:ln>
        </p:spPr>
        <p:txBody>
          <a:bodyPr lIns="0" tIns="0" rIns="0" bIns="0" anchor="ctr">
            <a:noAutofit/>
          </a:bodyPr>
          <a:lstStyle/>
          <a:p>
            <a:pPr algn="ctr"/>
            <a:endParaRPr lang="en-IN" sz="3200" b="0" strike="noStrike" spc="-1">
              <a:solidFill>
                <a:srgbClr val="000000"/>
              </a:solidFill>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EA3D5602-8A9A-494C-8635-A5B6BC58FCAD}" type="slidenum">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702000" y="337320"/>
            <a:ext cx="12635640" cy="141228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17" name="PlaceHolder 2"/>
          <p:cNvSpPr>
            <a:spLocks noGrp="1"/>
          </p:cNvSpPr>
          <p:nvPr>
            <p:ph/>
          </p:nvPr>
        </p:nvSpPr>
        <p:spPr>
          <a:xfrm>
            <a:off x="702000" y="1979280"/>
            <a:ext cx="6166080" cy="234000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18" name="PlaceHolder 3"/>
          <p:cNvSpPr>
            <a:spLocks noGrp="1"/>
          </p:cNvSpPr>
          <p:nvPr>
            <p:ph/>
          </p:nvPr>
        </p:nvSpPr>
        <p:spPr>
          <a:xfrm>
            <a:off x="7176600" y="1979280"/>
            <a:ext cx="6166080" cy="490608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19" name="PlaceHolder 4"/>
          <p:cNvSpPr>
            <a:spLocks noGrp="1"/>
          </p:cNvSpPr>
          <p:nvPr>
            <p:ph/>
          </p:nvPr>
        </p:nvSpPr>
        <p:spPr>
          <a:xfrm>
            <a:off x="702000" y="4542120"/>
            <a:ext cx="6166080" cy="234000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487F46A6-2630-43F5-822C-B90E1B25AF20}"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702000" y="337320"/>
            <a:ext cx="12635640" cy="141228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21" name="PlaceHolder 2"/>
          <p:cNvSpPr>
            <a:spLocks noGrp="1"/>
          </p:cNvSpPr>
          <p:nvPr>
            <p:ph/>
          </p:nvPr>
        </p:nvSpPr>
        <p:spPr>
          <a:xfrm>
            <a:off x="702000" y="1979280"/>
            <a:ext cx="6166080" cy="490608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22" name="PlaceHolder 3"/>
          <p:cNvSpPr>
            <a:spLocks noGrp="1"/>
          </p:cNvSpPr>
          <p:nvPr>
            <p:ph/>
          </p:nvPr>
        </p:nvSpPr>
        <p:spPr>
          <a:xfrm>
            <a:off x="7176600" y="1979280"/>
            <a:ext cx="6166080" cy="234000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23" name="PlaceHolder 4"/>
          <p:cNvSpPr>
            <a:spLocks noGrp="1"/>
          </p:cNvSpPr>
          <p:nvPr>
            <p:ph/>
          </p:nvPr>
        </p:nvSpPr>
        <p:spPr>
          <a:xfrm>
            <a:off x="7176600" y="4542120"/>
            <a:ext cx="6166080" cy="234000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A5F744AF-CE39-49F2-B6A0-F82700B9385C}"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702000" y="337320"/>
            <a:ext cx="12635640" cy="141228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25" name="PlaceHolder 2"/>
          <p:cNvSpPr>
            <a:spLocks noGrp="1"/>
          </p:cNvSpPr>
          <p:nvPr>
            <p:ph/>
          </p:nvPr>
        </p:nvSpPr>
        <p:spPr>
          <a:xfrm>
            <a:off x="702000" y="1979280"/>
            <a:ext cx="6166080" cy="234000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26" name="PlaceHolder 3"/>
          <p:cNvSpPr>
            <a:spLocks noGrp="1"/>
          </p:cNvSpPr>
          <p:nvPr>
            <p:ph/>
          </p:nvPr>
        </p:nvSpPr>
        <p:spPr>
          <a:xfrm>
            <a:off x="7176600" y="1979280"/>
            <a:ext cx="6166080" cy="234000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27" name="PlaceHolder 4"/>
          <p:cNvSpPr>
            <a:spLocks noGrp="1"/>
          </p:cNvSpPr>
          <p:nvPr>
            <p:ph/>
          </p:nvPr>
        </p:nvSpPr>
        <p:spPr>
          <a:xfrm>
            <a:off x="702000" y="4542120"/>
            <a:ext cx="12635640" cy="234000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DD2C3CD2-DF8C-4393-8113-6F5E2892C02E}"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702000" y="337320"/>
            <a:ext cx="12635640" cy="141228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29" name="PlaceHolder 2"/>
          <p:cNvSpPr>
            <a:spLocks noGrp="1"/>
          </p:cNvSpPr>
          <p:nvPr>
            <p:ph/>
          </p:nvPr>
        </p:nvSpPr>
        <p:spPr>
          <a:xfrm>
            <a:off x="702000" y="1979280"/>
            <a:ext cx="12635640" cy="234000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30" name="PlaceHolder 3"/>
          <p:cNvSpPr>
            <a:spLocks noGrp="1"/>
          </p:cNvSpPr>
          <p:nvPr>
            <p:ph/>
          </p:nvPr>
        </p:nvSpPr>
        <p:spPr>
          <a:xfrm>
            <a:off x="702000" y="4542120"/>
            <a:ext cx="12635640" cy="234000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C0D8AB95-B5C5-41A8-9806-31741F1FA0E6}" type="slidenum">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702000" y="337320"/>
            <a:ext cx="12635640" cy="141228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32" name="PlaceHolder 2"/>
          <p:cNvSpPr>
            <a:spLocks noGrp="1"/>
          </p:cNvSpPr>
          <p:nvPr>
            <p:ph/>
          </p:nvPr>
        </p:nvSpPr>
        <p:spPr>
          <a:xfrm>
            <a:off x="702000" y="1979280"/>
            <a:ext cx="6166080" cy="234000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33" name="PlaceHolder 3"/>
          <p:cNvSpPr>
            <a:spLocks noGrp="1"/>
          </p:cNvSpPr>
          <p:nvPr>
            <p:ph/>
          </p:nvPr>
        </p:nvSpPr>
        <p:spPr>
          <a:xfrm>
            <a:off x="7176600" y="1979280"/>
            <a:ext cx="6166080" cy="234000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34" name="PlaceHolder 4"/>
          <p:cNvSpPr>
            <a:spLocks noGrp="1"/>
          </p:cNvSpPr>
          <p:nvPr>
            <p:ph/>
          </p:nvPr>
        </p:nvSpPr>
        <p:spPr>
          <a:xfrm>
            <a:off x="702000" y="4542120"/>
            <a:ext cx="6166080" cy="234000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35" name="PlaceHolder 5"/>
          <p:cNvSpPr>
            <a:spLocks noGrp="1"/>
          </p:cNvSpPr>
          <p:nvPr>
            <p:ph/>
          </p:nvPr>
        </p:nvSpPr>
        <p:spPr>
          <a:xfrm>
            <a:off x="7176600" y="4542120"/>
            <a:ext cx="6166080" cy="234000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7" name="PlaceHolder 6"/>
          <p:cNvSpPr>
            <a:spLocks noGrp="1"/>
          </p:cNvSpPr>
          <p:nvPr>
            <p:ph type="ftr" idx="1"/>
          </p:nvPr>
        </p:nvSpPr>
        <p:spPr/>
        <p:txBody>
          <a:bodyPr/>
          <a:lstStyle/>
          <a:p>
            <a:r>
              <a:t>Footer</a:t>
            </a:r>
          </a:p>
        </p:txBody>
      </p:sp>
      <p:sp>
        <p:nvSpPr>
          <p:cNvPr id="8" name="PlaceHolder 7"/>
          <p:cNvSpPr>
            <a:spLocks noGrp="1"/>
          </p:cNvSpPr>
          <p:nvPr>
            <p:ph type="sldNum" idx="2"/>
          </p:nvPr>
        </p:nvSpPr>
        <p:spPr/>
        <p:txBody>
          <a:bodyPr/>
          <a:lstStyle/>
          <a:p>
            <a:fld id="{BCB64269-7638-4A12-9E9B-A35B5DB27C31}" type="slidenum">
              <a:t>‹#›</a:t>
            </a:fld>
            <a:endParaRPr/>
          </a:p>
        </p:txBody>
      </p:sp>
      <p:sp>
        <p:nvSpPr>
          <p:cNvPr id="9" name="PlaceHolder 8"/>
          <p:cNvSpPr>
            <a:spLocks noGrp="1"/>
          </p:cNvSpPr>
          <p:nvPr>
            <p:ph type="dt" idx="3"/>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702000" y="337320"/>
            <a:ext cx="12635640" cy="141228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37" name="PlaceHolder 2"/>
          <p:cNvSpPr>
            <a:spLocks noGrp="1"/>
          </p:cNvSpPr>
          <p:nvPr>
            <p:ph/>
          </p:nvPr>
        </p:nvSpPr>
        <p:spPr>
          <a:xfrm>
            <a:off x="702000" y="1979280"/>
            <a:ext cx="4068360" cy="234000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38" name="PlaceHolder 3"/>
          <p:cNvSpPr>
            <a:spLocks noGrp="1"/>
          </p:cNvSpPr>
          <p:nvPr>
            <p:ph/>
          </p:nvPr>
        </p:nvSpPr>
        <p:spPr>
          <a:xfrm>
            <a:off x="4974120" y="1979280"/>
            <a:ext cx="4068360" cy="234000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39" name="PlaceHolder 4"/>
          <p:cNvSpPr>
            <a:spLocks noGrp="1"/>
          </p:cNvSpPr>
          <p:nvPr>
            <p:ph/>
          </p:nvPr>
        </p:nvSpPr>
        <p:spPr>
          <a:xfrm>
            <a:off x="9246240" y="1979280"/>
            <a:ext cx="4068360" cy="234000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40" name="PlaceHolder 5"/>
          <p:cNvSpPr>
            <a:spLocks noGrp="1"/>
          </p:cNvSpPr>
          <p:nvPr>
            <p:ph/>
          </p:nvPr>
        </p:nvSpPr>
        <p:spPr>
          <a:xfrm>
            <a:off x="702000" y="4542120"/>
            <a:ext cx="4068360" cy="234000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41" name="PlaceHolder 6"/>
          <p:cNvSpPr>
            <a:spLocks noGrp="1"/>
          </p:cNvSpPr>
          <p:nvPr>
            <p:ph/>
          </p:nvPr>
        </p:nvSpPr>
        <p:spPr>
          <a:xfrm>
            <a:off x="4974120" y="4542120"/>
            <a:ext cx="4068360" cy="234000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42" name="PlaceHolder 7"/>
          <p:cNvSpPr>
            <a:spLocks noGrp="1"/>
          </p:cNvSpPr>
          <p:nvPr>
            <p:ph/>
          </p:nvPr>
        </p:nvSpPr>
        <p:spPr>
          <a:xfrm>
            <a:off x="9246240" y="4542120"/>
            <a:ext cx="4068360" cy="234000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9" name="PlaceHolder 8"/>
          <p:cNvSpPr>
            <a:spLocks noGrp="1"/>
          </p:cNvSpPr>
          <p:nvPr>
            <p:ph type="ftr" idx="1"/>
          </p:nvPr>
        </p:nvSpPr>
        <p:spPr/>
        <p:txBody>
          <a:bodyPr/>
          <a:lstStyle/>
          <a:p>
            <a:r>
              <a:t>Footer</a:t>
            </a:r>
          </a:p>
        </p:txBody>
      </p:sp>
      <p:sp>
        <p:nvSpPr>
          <p:cNvPr id="10" name="PlaceHolder 9"/>
          <p:cNvSpPr>
            <a:spLocks noGrp="1"/>
          </p:cNvSpPr>
          <p:nvPr>
            <p:ph type="sldNum" idx="2"/>
          </p:nvPr>
        </p:nvSpPr>
        <p:spPr/>
        <p:txBody>
          <a:bodyPr/>
          <a:lstStyle/>
          <a:p>
            <a:fld id="{A6516320-4C1E-4E58-B58F-9D146E22D1DF}" type="slidenum">
              <a:t>‹#›</a:t>
            </a:fld>
            <a:endParaRPr/>
          </a:p>
        </p:txBody>
      </p:sp>
      <p:sp>
        <p:nvSpPr>
          <p:cNvPr id="11" name="PlaceHolder 10"/>
          <p:cNvSpPr>
            <a:spLocks noGrp="1"/>
          </p:cNvSpPr>
          <p:nvPr>
            <p:ph type="dt" idx="3"/>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4981" y="1384507"/>
            <a:ext cx="10529888" cy="2945260"/>
          </a:xfrm>
        </p:spPr>
        <p:txBody>
          <a:bodyPr anchor="b"/>
          <a:lstStyle>
            <a:lvl1pPr algn="ctr">
              <a:defRPr sz="6910"/>
            </a:lvl1pPr>
          </a:lstStyle>
          <a:p>
            <a:r>
              <a:rPr lang="en-US"/>
              <a:t>Click to edit Master title style</a:t>
            </a:r>
            <a:endParaRPr lang="en-US" dirty="0"/>
          </a:p>
        </p:txBody>
      </p:sp>
      <p:sp>
        <p:nvSpPr>
          <p:cNvPr id="3" name="Subtitle 2"/>
          <p:cNvSpPr>
            <a:spLocks noGrp="1"/>
          </p:cNvSpPr>
          <p:nvPr>
            <p:ph type="subTitle" idx="1"/>
          </p:nvPr>
        </p:nvSpPr>
        <p:spPr>
          <a:xfrm>
            <a:off x="1754981" y="4443348"/>
            <a:ext cx="10529888" cy="2042490"/>
          </a:xfrm>
        </p:spPr>
        <p:txBody>
          <a:bodyPr/>
          <a:lstStyle>
            <a:lvl1pPr marL="0" indent="0" algn="ctr">
              <a:buNone/>
              <a:defRPr sz="2764"/>
            </a:lvl1pPr>
            <a:lvl2pPr marL="526512" indent="0" algn="ctr">
              <a:buNone/>
              <a:defRPr sz="2303"/>
            </a:lvl2pPr>
            <a:lvl3pPr marL="1053023" indent="0" algn="ctr">
              <a:buNone/>
              <a:defRPr sz="2073"/>
            </a:lvl3pPr>
            <a:lvl4pPr marL="1579535" indent="0" algn="ctr">
              <a:buNone/>
              <a:defRPr sz="1843"/>
            </a:lvl4pPr>
            <a:lvl5pPr marL="2106046" indent="0" algn="ctr">
              <a:buNone/>
              <a:defRPr sz="1843"/>
            </a:lvl5pPr>
            <a:lvl6pPr marL="2632558" indent="0" algn="ctr">
              <a:buNone/>
              <a:defRPr sz="1843"/>
            </a:lvl6pPr>
            <a:lvl7pPr marL="3159069" indent="0" algn="ctr">
              <a:buNone/>
              <a:defRPr sz="1843"/>
            </a:lvl7pPr>
            <a:lvl8pPr marL="3685581" indent="0" algn="ctr">
              <a:buNone/>
              <a:defRPr sz="1843"/>
            </a:lvl8pPr>
            <a:lvl9pPr marL="4212092" indent="0" algn="ctr">
              <a:buNone/>
              <a:defRPr sz="184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D60B86A-5A4C-464C-A431-FF2CFB840FAA}" type="datetimeFigureOut">
              <a:rPr lang="en-AU" smtClean="0"/>
              <a:t>2/12/2024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FFC645DF-F63C-4E1D-AEE5-7AFC12BC758F}" type="slidenum">
              <a:rPr lang="en-AU" smtClean="0"/>
              <a:t>‹#›</a:t>
            </a:fld>
            <a:endParaRPr lang="en-AU"/>
          </a:p>
        </p:txBody>
      </p:sp>
    </p:spTree>
    <p:extLst>
      <p:ext uri="{BB962C8B-B14F-4D97-AF65-F5344CB8AC3E}">
        <p14:creationId xmlns:p14="http://schemas.microsoft.com/office/powerpoint/2010/main" val="4198943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1755000" y="1384560"/>
            <a:ext cx="10528560" cy="2943720"/>
          </a:xfrm>
          <a:prstGeom prst="rect">
            <a:avLst/>
          </a:prstGeom>
          <a:noFill/>
          <a:ln w="0">
            <a:noFill/>
          </a:ln>
        </p:spPr>
        <p:txBody>
          <a:bodyPr lIns="0" tIns="0" rIns="0" bIns="0" anchor="ctr">
            <a:noAutofit/>
          </a:bodyPr>
          <a:lstStyle/>
          <a:p>
            <a:pPr indent="0">
              <a:buNone/>
            </a:pPr>
            <a:r>
              <a:rPr lang="en-IN" sz="1800" b="0" strike="noStrike" spc="-1">
                <a:solidFill>
                  <a:srgbClr val="000000"/>
                </a:solidFill>
                <a:latin typeface="Arial"/>
              </a:rPr>
              <a:t>Click to edit the title text format</a:t>
            </a:r>
          </a:p>
        </p:txBody>
      </p:sp>
      <p:sp>
        <p:nvSpPr>
          <p:cNvPr id="8" name="PlaceHolder 2"/>
          <p:cNvSpPr>
            <a:spLocks noGrp="1"/>
          </p:cNvSpPr>
          <p:nvPr>
            <p:ph type="body"/>
          </p:nvPr>
        </p:nvSpPr>
        <p:spPr>
          <a:xfrm>
            <a:off x="702000" y="1979280"/>
            <a:ext cx="6165360" cy="2339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1800" b="0" strike="noStrike" spc="-1">
                <a:solidFill>
                  <a:srgbClr val="000000"/>
                </a:solidFill>
                <a:latin typeface="Arial"/>
              </a:rPr>
              <a:t>Seventh Outline Level</a:t>
            </a:r>
          </a:p>
        </p:txBody>
      </p:sp>
      <p:sp>
        <p:nvSpPr>
          <p:cNvPr id="2" name="PlaceHolder 3"/>
          <p:cNvSpPr>
            <a:spLocks noGrp="1"/>
          </p:cNvSpPr>
          <p:nvPr>
            <p:ph type="body"/>
          </p:nvPr>
        </p:nvSpPr>
        <p:spPr>
          <a:xfrm>
            <a:off x="7176240" y="1979280"/>
            <a:ext cx="6165360" cy="2339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1800" b="0" strike="noStrike" spc="-1">
                <a:solidFill>
                  <a:srgbClr val="000000"/>
                </a:solidFill>
                <a:latin typeface="Arial"/>
              </a:rPr>
              <a:t>Seventh Outline Level</a:t>
            </a:r>
          </a:p>
        </p:txBody>
      </p:sp>
      <p:sp>
        <p:nvSpPr>
          <p:cNvPr id="3" name="PlaceHolder 4"/>
          <p:cNvSpPr>
            <a:spLocks noGrp="1"/>
          </p:cNvSpPr>
          <p:nvPr>
            <p:ph type="body"/>
          </p:nvPr>
        </p:nvSpPr>
        <p:spPr>
          <a:xfrm>
            <a:off x="702000" y="4542120"/>
            <a:ext cx="12634920" cy="2339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1800" b="0" strike="noStrike" spc="-1">
                <a:solidFill>
                  <a:srgbClr val="000000"/>
                </a:solidFill>
                <a:latin typeface="Arial"/>
              </a:rPr>
              <a:t>Seventh Outline Level</a:t>
            </a:r>
          </a:p>
        </p:txBody>
      </p:sp>
      <p:sp>
        <p:nvSpPr>
          <p:cNvPr id="4" name="PlaceHolder 5"/>
          <p:cNvSpPr>
            <a:spLocks noGrp="1"/>
          </p:cNvSpPr>
          <p:nvPr>
            <p:ph type="ftr" idx="1"/>
          </p:nvPr>
        </p:nvSpPr>
        <p:spPr>
          <a:xfrm>
            <a:off x="4650840" y="7840800"/>
            <a:ext cx="4736880" cy="448920"/>
          </a:xfrm>
          <a:prstGeom prst="rect">
            <a:avLst/>
          </a:prstGeom>
          <a:noFill/>
          <a:ln w="0">
            <a:noFill/>
          </a:ln>
        </p:spPr>
        <p:txBody>
          <a:bodyPr lIns="90000" tIns="45000" rIns="90000" bIns="45000" anchor="ctr">
            <a:noAutofit/>
          </a:bodyPr>
          <a:lstStyle>
            <a:lvl1pPr indent="0" algn="ctr">
              <a:lnSpc>
                <a:spcPct val="100000"/>
              </a:lnSpc>
              <a:buNone/>
              <a:tabLst>
                <a:tab pos="0" algn="l"/>
              </a:tabLst>
              <a:defRPr lang="en-AU" sz="1400" b="0" strike="noStrike" spc="-1">
                <a:solidFill>
                  <a:srgbClr val="000000"/>
                </a:solidFill>
                <a:latin typeface="Times New Roman"/>
              </a:defRPr>
            </a:lvl1pPr>
          </a:lstStyle>
          <a:p>
            <a:pPr indent="0" algn="ctr">
              <a:lnSpc>
                <a:spcPct val="100000"/>
              </a:lnSpc>
              <a:buNone/>
              <a:tabLst>
                <a:tab pos="0" algn="l"/>
              </a:tabLst>
            </a:pPr>
            <a:r>
              <a:rPr lang="en-AU" sz="1400" b="0" strike="noStrike" spc="-1">
                <a:solidFill>
                  <a:srgbClr val="000000"/>
                </a:solidFill>
                <a:latin typeface="Times New Roman"/>
              </a:rPr>
              <a:t>&lt;footer&gt;</a:t>
            </a:r>
            <a:endParaRPr lang="en-IN" sz="1400" b="0" strike="noStrike" spc="-1">
              <a:solidFill>
                <a:srgbClr val="000000"/>
              </a:solidFill>
              <a:latin typeface="Times New Roman"/>
            </a:endParaRPr>
          </a:p>
        </p:txBody>
      </p:sp>
      <p:sp>
        <p:nvSpPr>
          <p:cNvPr id="5" name="PlaceHolder 6"/>
          <p:cNvSpPr>
            <a:spLocks noGrp="1"/>
          </p:cNvSpPr>
          <p:nvPr>
            <p:ph type="sldNum" idx="2"/>
          </p:nvPr>
        </p:nvSpPr>
        <p:spPr>
          <a:xfrm>
            <a:off x="9915480" y="7840800"/>
            <a:ext cx="3157560" cy="44892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AU" sz="1380" b="0" strike="noStrike" spc="-1">
                <a:solidFill>
                  <a:srgbClr val="8B8B8B"/>
                </a:solidFill>
                <a:latin typeface="Calibri"/>
              </a:defRPr>
            </a:lvl1pPr>
          </a:lstStyle>
          <a:p>
            <a:pPr indent="0" algn="r">
              <a:lnSpc>
                <a:spcPct val="100000"/>
              </a:lnSpc>
              <a:buNone/>
              <a:tabLst>
                <a:tab pos="0" algn="l"/>
              </a:tabLst>
            </a:pPr>
            <a:fld id="{2B442C2E-4DFB-46DB-992F-C154D851FF5F}" type="slidenum">
              <a:rPr lang="en-AU" sz="1380" b="0" strike="noStrike" spc="-1">
                <a:solidFill>
                  <a:srgbClr val="8B8B8B"/>
                </a:solidFill>
                <a:latin typeface="Calibri"/>
              </a:rPr>
              <a:t>‹#›</a:t>
            </a:fld>
            <a:endParaRPr lang="en-IN" sz="1380" b="0" strike="noStrike" spc="-1">
              <a:solidFill>
                <a:srgbClr val="000000"/>
              </a:solidFill>
              <a:latin typeface="Times New Roman"/>
            </a:endParaRPr>
          </a:p>
        </p:txBody>
      </p:sp>
      <p:sp>
        <p:nvSpPr>
          <p:cNvPr id="6" name="PlaceHolder 7"/>
          <p:cNvSpPr>
            <a:spLocks noGrp="1"/>
          </p:cNvSpPr>
          <p:nvPr>
            <p:ph type="dt" idx="3"/>
          </p:nvPr>
        </p:nvSpPr>
        <p:spPr>
          <a:xfrm>
            <a:off x="965160" y="7840800"/>
            <a:ext cx="3157560" cy="448920"/>
          </a:xfrm>
          <a:prstGeom prst="rect">
            <a:avLst/>
          </a:prstGeom>
          <a:noFill/>
          <a:ln w="0">
            <a:noFill/>
          </a:ln>
        </p:spPr>
        <p:txBody>
          <a:bodyPr lIns="90000" tIns="45000" rIns="90000" bIns="45000" anchor="ctr">
            <a:noAutofit/>
          </a:bodyPr>
          <a:lstStyle>
            <a:lvl1pPr indent="0">
              <a:buNone/>
              <a:defRPr lang="en-IN" sz="1400" b="0" strike="noStrike" spc="-1">
                <a:solidFill>
                  <a:srgbClr val="000000"/>
                </a:solidFill>
                <a:latin typeface="Times New Roman"/>
              </a:defRPr>
            </a:lvl1pPr>
          </a:lstStyle>
          <a:p>
            <a:pPr indent="0">
              <a:buNone/>
            </a:pPr>
            <a:r>
              <a:rPr lang="en-IN" sz="1400" b="0" strike="noStrike" spc="-1">
                <a:solidFill>
                  <a:srgbClr val="000000"/>
                </a:solidFill>
                <a:latin typeface="Times New Roman"/>
              </a:rPr>
              <a:t>&lt;date/time&gt;</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9.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11.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13.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11.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11.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11.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18.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19.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20.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21.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22.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23.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24.pn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25.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26.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27.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28.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9.pn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30.png"/><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31.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2.pn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31.png"/><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2.pn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31.png"/><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2.pn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31.png"/><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jpeg"/><Relationship Id="rId7" Type="http://schemas.openxmlformats.org/officeDocument/2006/relationships/image" Target="../media/image31.png"/><Relationship Id="rId2" Type="http://schemas.openxmlformats.org/officeDocument/2006/relationships/notesSlide" Target="../notesSlides/notesSlide1.xml"/><Relationship Id="rId1" Type="http://schemas.openxmlformats.org/officeDocument/2006/relationships/slideLayout" Target="../slideLayouts/slideLayout9.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2.png"/><Relationship Id="rId7" Type="http://schemas.openxmlformats.org/officeDocument/2006/relationships/image" Target="../media/image36.png"/><Relationship Id="rId2" Type="http://schemas.openxmlformats.org/officeDocument/2006/relationships/image" Target="../media/image1.jpeg"/><Relationship Id="rId1" Type="http://schemas.openxmlformats.org/officeDocument/2006/relationships/slideLayout" Target="../slideLayouts/slideLayout13.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3.xml"/><Relationship Id="rId6" Type="http://schemas.openxmlformats.org/officeDocument/2006/relationships/image" Target="../media/image38.png"/><Relationship Id="rId5" Type="http://schemas.openxmlformats.org/officeDocument/2006/relationships/image" Target="../media/image34.png"/><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3.xml"/><Relationship Id="rId6" Type="http://schemas.openxmlformats.org/officeDocument/2006/relationships/image" Target="../media/image39.png"/><Relationship Id="rId5" Type="http://schemas.openxmlformats.org/officeDocument/2006/relationships/image" Target="../media/image34.png"/><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3.xml"/><Relationship Id="rId6" Type="http://schemas.openxmlformats.org/officeDocument/2006/relationships/image" Target="../media/image40.png"/><Relationship Id="rId5" Type="http://schemas.openxmlformats.org/officeDocument/2006/relationships/image" Target="../media/image34.png"/><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3.xml"/><Relationship Id="rId6" Type="http://schemas.openxmlformats.org/officeDocument/2006/relationships/image" Target="../media/image41.png"/><Relationship Id="rId5" Type="http://schemas.openxmlformats.org/officeDocument/2006/relationships/image" Target="../media/image34.png"/><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3.xml"/><Relationship Id="rId6" Type="http://schemas.openxmlformats.org/officeDocument/2006/relationships/image" Target="../media/image42.png"/><Relationship Id="rId5" Type="http://schemas.openxmlformats.org/officeDocument/2006/relationships/image" Target="../media/image34.png"/><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3.xml"/><Relationship Id="rId6" Type="http://schemas.openxmlformats.org/officeDocument/2006/relationships/image" Target="../media/image43.png"/><Relationship Id="rId5" Type="http://schemas.openxmlformats.org/officeDocument/2006/relationships/image" Target="../media/image34.png"/><Relationship Id="rId4" Type="http://schemas.openxmlformats.org/officeDocument/2006/relationships/image" Target="../media/image3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3.xml"/><Relationship Id="rId6" Type="http://schemas.openxmlformats.org/officeDocument/2006/relationships/image" Target="../media/image44.png"/><Relationship Id="rId5" Type="http://schemas.openxmlformats.org/officeDocument/2006/relationships/image" Target="../media/image34.png"/><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3.xml"/><Relationship Id="rId6" Type="http://schemas.openxmlformats.org/officeDocument/2006/relationships/image" Target="../media/image45.png"/><Relationship Id="rId5" Type="http://schemas.openxmlformats.org/officeDocument/2006/relationships/image" Target="../media/image34.png"/><Relationship Id="rId4" Type="http://schemas.openxmlformats.org/officeDocument/2006/relationships/image" Target="../media/image3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3.xml"/><Relationship Id="rId6" Type="http://schemas.openxmlformats.org/officeDocument/2006/relationships/image" Target="../media/image46.png"/><Relationship Id="rId5" Type="http://schemas.openxmlformats.org/officeDocument/2006/relationships/image" Target="../media/image34.png"/><Relationship Id="rId4" Type="http://schemas.openxmlformats.org/officeDocument/2006/relationships/image" Target="../media/image3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3.xml"/><Relationship Id="rId6" Type="http://schemas.openxmlformats.org/officeDocument/2006/relationships/image" Target="../media/image47.png"/><Relationship Id="rId5" Type="http://schemas.openxmlformats.org/officeDocument/2006/relationships/image" Target="../media/image34.png"/><Relationship Id="rId4" Type="http://schemas.openxmlformats.org/officeDocument/2006/relationships/image" Target="../media/image3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8.png"/><Relationship Id="rId2" Type="http://schemas.openxmlformats.org/officeDocument/2006/relationships/image" Target="../media/image1.jpeg"/><Relationship Id="rId1" Type="http://schemas.openxmlformats.org/officeDocument/2006/relationships/slideLayout" Target="../slideLayouts/slideLayout13.xml"/><Relationship Id="rId6" Type="http://schemas.openxmlformats.org/officeDocument/2006/relationships/image" Target="../media/image47.png"/><Relationship Id="rId5" Type="http://schemas.openxmlformats.org/officeDocument/2006/relationships/image" Target="../media/image34.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Picture 38"/>
          <p:cNvPicPr/>
          <p:nvPr/>
        </p:nvPicPr>
        <p:blipFill>
          <a:blip r:embed="rId2"/>
          <a:stretch/>
        </p:blipFill>
        <p:spPr>
          <a:xfrm>
            <a:off x="819000" y="684720"/>
            <a:ext cx="12428640" cy="7104240"/>
          </a:xfrm>
          <a:prstGeom prst="rect">
            <a:avLst/>
          </a:prstGeom>
          <a:ln w="0">
            <a:noFill/>
          </a:ln>
        </p:spPr>
      </p:pic>
      <p:pic>
        <p:nvPicPr>
          <p:cNvPr id="44" name="Picture 15"/>
          <p:cNvPicPr/>
          <p:nvPr/>
        </p:nvPicPr>
        <p:blipFill>
          <a:blip r:embed="rId3"/>
          <a:srcRect l="10028" t="12536" r="10465" b="20264"/>
          <a:stretch/>
        </p:blipFill>
        <p:spPr>
          <a:xfrm>
            <a:off x="0" y="3240"/>
            <a:ext cx="14038560" cy="8455320"/>
          </a:xfrm>
          <a:prstGeom prst="rect">
            <a:avLst/>
          </a:prstGeom>
          <a:ln w="0">
            <a:noFill/>
          </a:ln>
        </p:spPr>
      </p:pic>
      <p:cxnSp>
        <p:nvCxnSpPr>
          <p:cNvPr id="47" name="Straight Connector 31"/>
          <p:cNvCxnSpPr/>
          <p:nvPr/>
        </p:nvCxnSpPr>
        <p:spPr>
          <a:xfrm flipH="1">
            <a:off x="5849280" y="6801480"/>
            <a:ext cx="2452680" cy="1440"/>
          </a:xfrm>
          <a:prstGeom prst="straightConnector1">
            <a:avLst/>
          </a:prstGeom>
          <a:ln w="12700">
            <a:solidFill>
              <a:srgbClr val="000000"/>
            </a:solidFill>
            <a:round/>
          </a:ln>
        </p:spPr>
      </p:cxnSp>
      <p:pic>
        <p:nvPicPr>
          <p:cNvPr id="48" name="Picture 2"/>
          <p:cNvPicPr/>
          <p:nvPr/>
        </p:nvPicPr>
        <p:blipFill>
          <a:blip r:embed="rId4"/>
          <a:stretch/>
        </p:blipFill>
        <p:spPr>
          <a:xfrm>
            <a:off x="10481400" y="6171480"/>
            <a:ext cx="1571040" cy="1370880"/>
          </a:xfrm>
          <a:prstGeom prst="rect">
            <a:avLst/>
          </a:prstGeom>
          <a:ln w="0">
            <a:noFill/>
          </a:ln>
        </p:spPr>
      </p:pic>
      <p:pic>
        <p:nvPicPr>
          <p:cNvPr id="49" name="Picture 4"/>
          <p:cNvPicPr/>
          <p:nvPr/>
        </p:nvPicPr>
        <p:blipFill>
          <a:blip r:embed="rId5"/>
          <a:stretch/>
        </p:blipFill>
        <p:spPr>
          <a:xfrm>
            <a:off x="1668960" y="6107760"/>
            <a:ext cx="1393560" cy="1441080"/>
          </a:xfrm>
          <a:prstGeom prst="rect">
            <a:avLst/>
          </a:prstGeom>
          <a:ln w="0">
            <a:noFill/>
          </a:ln>
        </p:spPr>
      </p:pic>
      <p:pic>
        <p:nvPicPr>
          <p:cNvPr id="50" name="Picture 6"/>
          <p:cNvPicPr/>
          <p:nvPr/>
        </p:nvPicPr>
        <p:blipFill>
          <a:blip r:embed="rId6"/>
          <a:stretch/>
        </p:blipFill>
        <p:spPr>
          <a:xfrm>
            <a:off x="6601320" y="838080"/>
            <a:ext cx="835920" cy="1771920"/>
          </a:xfrm>
          <a:prstGeom prst="rect">
            <a:avLst/>
          </a:prstGeom>
          <a:ln w="0">
            <a:noFill/>
          </a:ln>
        </p:spPr>
      </p:pic>
      <p:sp>
        <p:nvSpPr>
          <p:cNvPr id="51" name="TextBox 7"/>
          <p:cNvSpPr/>
          <p:nvPr/>
        </p:nvSpPr>
        <p:spPr>
          <a:xfrm>
            <a:off x="1668960" y="2526120"/>
            <a:ext cx="10736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AUSTRALIAN SPECIAL OPERATIONS TASKFORCE</a:t>
            </a:r>
            <a:endParaRPr lang="en-IN" sz="3600" b="0" strike="noStrike" spc="-1">
              <a:solidFill>
                <a:srgbClr val="000000"/>
              </a:solidFill>
              <a:latin typeface="Arial"/>
            </a:endParaRPr>
          </a:p>
        </p:txBody>
      </p:sp>
      <p:sp>
        <p:nvSpPr>
          <p:cNvPr id="52" name="TextBox 8"/>
          <p:cNvSpPr/>
          <p:nvPr/>
        </p:nvSpPr>
        <p:spPr>
          <a:xfrm>
            <a:off x="4094640" y="2918160"/>
            <a:ext cx="607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This is to certify that command has awarded the</a:t>
            </a:r>
            <a:r>
              <a:rPr lang="en-AU" sz="3600" b="0" strike="noStrike" spc="-1">
                <a:solidFill>
                  <a:srgbClr val="000000"/>
                </a:solidFill>
                <a:latin typeface="Times New Roman"/>
                <a:ea typeface="DejaVu Sans"/>
              </a:rPr>
              <a:t> </a:t>
            </a:r>
            <a:endParaRPr lang="en-IN" sz="3600" b="0" strike="noStrike" spc="-1">
              <a:solidFill>
                <a:srgbClr val="000000"/>
              </a:solidFill>
              <a:latin typeface="Arial"/>
            </a:endParaRPr>
          </a:p>
        </p:txBody>
      </p:sp>
      <p:sp>
        <p:nvSpPr>
          <p:cNvPr id="53" name="TextBox 9"/>
          <p:cNvSpPr/>
          <p:nvPr/>
        </p:nvSpPr>
        <p:spPr>
          <a:xfrm>
            <a:off x="5310360" y="4259520"/>
            <a:ext cx="346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endParaRPr lang="en-IN" sz="1800" b="0" strike="noStrike" spc="-1">
              <a:solidFill>
                <a:srgbClr val="000000"/>
              </a:solidFill>
              <a:latin typeface="Arial"/>
            </a:endParaRPr>
          </a:p>
        </p:txBody>
      </p:sp>
      <p:sp>
        <p:nvSpPr>
          <p:cNvPr id="54" name="TextBox 10"/>
          <p:cNvSpPr/>
          <p:nvPr/>
        </p:nvSpPr>
        <p:spPr>
          <a:xfrm>
            <a:off x="4533480" y="3421440"/>
            <a:ext cx="49712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1 Year of Service Citation</a:t>
            </a:r>
            <a:endParaRPr lang="en-IN" sz="3600" b="0" strike="noStrike" spc="-1">
              <a:solidFill>
                <a:srgbClr val="000000"/>
              </a:solidFill>
              <a:latin typeface="Arial"/>
            </a:endParaRPr>
          </a:p>
        </p:txBody>
      </p:sp>
      <p:sp>
        <p:nvSpPr>
          <p:cNvPr id="55" name="TextBox 11"/>
          <p:cNvSpPr/>
          <p:nvPr/>
        </p:nvSpPr>
        <p:spPr>
          <a:xfrm>
            <a:off x="6723360" y="3931920"/>
            <a:ext cx="5914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TO</a:t>
            </a:r>
            <a:endParaRPr lang="en-IN" sz="2400" b="0" strike="noStrike" spc="-1">
              <a:solidFill>
                <a:srgbClr val="000000"/>
              </a:solidFill>
              <a:latin typeface="Arial"/>
            </a:endParaRPr>
          </a:p>
        </p:txBody>
      </p:sp>
      <p:sp>
        <p:nvSpPr>
          <p:cNvPr id="57" name="TextBox 32"/>
          <p:cNvSpPr/>
          <p:nvPr/>
        </p:nvSpPr>
        <p:spPr>
          <a:xfrm>
            <a:off x="2021760" y="5599440"/>
            <a:ext cx="10030680" cy="699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000" b="0" strike="noStrike" spc="-1" dirty="0">
                <a:solidFill>
                  <a:srgbClr val="000000"/>
                </a:solidFill>
                <a:latin typeface="Times New Roman"/>
                <a:ea typeface="DejaVu Sans"/>
              </a:rPr>
              <a:t>On today’s date, </a:t>
            </a:r>
            <a:r>
              <a:rPr lang="en-AU" sz="2000" b="0" i="1" strike="noStrike" spc="-1" dirty="0">
                <a:solidFill>
                  <a:srgbClr val="000000"/>
                </a:solidFill>
                <a:latin typeface="Times New Roman"/>
                <a:ea typeface="DejaVu Sans"/>
              </a:rPr>
              <a:t>{</a:t>
            </a:r>
            <a:r>
              <a:rPr lang="en-AU" sz="2000" b="0" i="1" strike="noStrike" spc="-1" dirty="0" err="1">
                <a:solidFill>
                  <a:srgbClr val="000000"/>
                </a:solidFill>
                <a:latin typeface="Times New Roman"/>
                <a:ea typeface="DejaVu Sans"/>
              </a:rPr>
              <a:t>dateNumber</a:t>
            </a:r>
            <a:r>
              <a:rPr lang="en-AU" sz="2000" b="0" i="1" strike="noStrike" spc="-1" dirty="0">
                <a:solidFill>
                  <a:srgbClr val="000000"/>
                </a:solidFill>
                <a:latin typeface="Times New Roman"/>
                <a:ea typeface="DejaVu Sans"/>
              </a:rPr>
              <a:t>}</a:t>
            </a:r>
            <a:r>
              <a:rPr lang="en-AU" sz="2000" b="0" i="1" strike="noStrike" spc="-1" baseline="30000" dirty="0">
                <a:solidFill>
                  <a:srgbClr val="000000"/>
                </a:solidFill>
                <a:latin typeface="Times New Roman"/>
                <a:ea typeface="DejaVu Sans"/>
              </a:rPr>
              <a:t>{suffix}</a:t>
            </a:r>
            <a:r>
              <a:rPr lang="en-AU" sz="2000" b="0" i="1" strike="noStrike" spc="-1" dirty="0">
                <a:solidFill>
                  <a:srgbClr val="000000"/>
                </a:solidFill>
                <a:latin typeface="Times New Roman"/>
                <a:ea typeface="DejaVu Sans"/>
              </a:rPr>
              <a:t> {date}</a:t>
            </a:r>
            <a:r>
              <a:rPr lang="en-AU" sz="2000" b="0" strike="noStrike" spc="-1" dirty="0">
                <a:solidFill>
                  <a:srgbClr val="000000"/>
                </a:solidFill>
                <a:latin typeface="Times New Roman"/>
                <a:ea typeface="DejaVu Sans"/>
              </a:rPr>
              <a:t>, {name} is therefore awarded the </a:t>
            </a:r>
            <a:br>
              <a:rPr sz="2000" dirty="0"/>
            </a:br>
            <a:r>
              <a:rPr lang="en-AU" sz="2000" b="0" strike="noStrike" spc="-1" dirty="0">
                <a:solidFill>
                  <a:srgbClr val="000000"/>
                </a:solidFill>
                <a:latin typeface="Times New Roman"/>
                <a:ea typeface="DejaVu Sans"/>
              </a:rPr>
              <a:t>1 Year Service Citation. </a:t>
            </a:r>
            <a:endParaRPr lang="en-IN" sz="2000" b="0" strike="noStrike" spc="-1" dirty="0">
              <a:solidFill>
                <a:srgbClr val="000000"/>
              </a:solidFill>
              <a:latin typeface="Arial"/>
            </a:endParaRPr>
          </a:p>
        </p:txBody>
      </p:sp>
      <p:sp>
        <p:nvSpPr>
          <p:cNvPr id="4" name="TextBox 33">
            <a:extLst>
              <a:ext uri="{FF2B5EF4-FFF2-40B4-BE49-F238E27FC236}">
                <a16:creationId xmlns:a16="http://schemas.microsoft.com/office/drawing/2014/main" id="{540AF61E-F7FC-2ADE-B655-02F44DDC5A16}"/>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sp>
        <p:nvSpPr>
          <p:cNvPr id="5" name="TextBox 12">
            <a:extLst>
              <a:ext uri="{FF2B5EF4-FFF2-40B4-BE49-F238E27FC236}">
                <a16:creationId xmlns:a16="http://schemas.microsoft.com/office/drawing/2014/main" id="{49512E51-76EA-BE84-0608-57C893D01481}"/>
              </a:ext>
            </a:extLst>
          </p:cNvPr>
          <p:cNvSpPr/>
          <p:nvPr/>
        </p:nvSpPr>
        <p:spPr>
          <a:xfrm>
            <a:off x="1720800" y="4926272"/>
            <a:ext cx="10596600" cy="70643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000" b="0" strike="noStrike" spc="-1" dirty="0">
                <a:solidFill>
                  <a:srgbClr val="000000"/>
                </a:solidFill>
                <a:latin typeface="Times New Roman"/>
                <a:ea typeface="DejaVu Sans"/>
              </a:rPr>
              <a:t>{name} joined on the </a:t>
            </a:r>
            <a:r>
              <a:rPr lang="en-AU" sz="2000" b="0" i="1" strike="noStrike" spc="-1" dirty="0">
                <a:solidFill>
                  <a:srgbClr val="000000"/>
                </a:solidFill>
                <a:latin typeface="Times New Roman"/>
                <a:ea typeface="DejaVu Sans"/>
              </a:rPr>
              <a:t>{</a:t>
            </a:r>
            <a:r>
              <a:rPr lang="en-AU" sz="2000" b="0" i="1" strike="noStrike" spc="-1" dirty="0" err="1">
                <a:solidFill>
                  <a:srgbClr val="000000"/>
                </a:solidFill>
                <a:latin typeface="Times New Roman"/>
                <a:ea typeface="DejaVu Sans"/>
              </a:rPr>
              <a:t>jdnum</a:t>
            </a:r>
            <a:r>
              <a:rPr lang="en-AU" sz="2000" b="0" i="1" strike="noStrike" spc="-1" dirty="0">
                <a:solidFill>
                  <a:srgbClr val="000000"/>
                </a:solidFill>
                <a:latin typeface="Times New Roman"/>
                <a:ea typeface="DejaVu Sans"/>
              </a:rPr>
              <a:t>}</a:t>
            </a:r>
            <a:r>
              <a:rPr lang="en-AU" sz="2000" b="0" i="1" strike="noStrike" spc="-1" baseline="30000" dirty="0">
                <a:solidFill>
                  <a:srgbClr val="000000"/>
                </a:solidFill>
                <a:latin typeface="Times New Roman"/>
                <a:ea typeface="DejaVu Sans"/>
              </a:rPr>
              <a:t>{</a:t>
            </a:r>
            <a:r>
              <a:rPr lang="en-AU" sz="2000" b="0" i="1" strike="noStrike" spc="-1" baseline="30000" dirty="0" err="1">
                <a:solidFill>
                  <a:srgbClr val="000000"/>
                </a:solidFill>
                <a:latin typeface="Times New Roman"/>
                <a:ea typeface="DejaVu Sans"/>
              </a:rPr>
              <a:t>jdsuffix</a:t>
            </a:r>
            <a:r>
              <a:rPr lang="en-AU" sz="2000" b="0" i="1" strike="noStrike" spc="-1" baseline="30000" dirty="0">
                <a:solidFill>
                  <a:srgbClr val="000000"/>
                </a:solidFill>
                <a:latin typeface="Times New Roman"/>
                <a:ea typeface="DejaVu Sans"/>
              </a:rPr>
              <a:t>}</a:t>
            </a:r>
            <a:r>
              <a:rPr lang="en-AU" sz="2000" b="0" i="1" strike="noStrike" spc="-1" dirty="0">
                <a:solidFill>
                  <a:srgbClr val="000000"/>
                </a:solidFill>
                <a:latin typeface="Times New Roman"/>
                <a:ea typeface="DejaVu Sans"/>
              </a:rPr>
              <a:t> {</a:t>
            </a:r>
            <a:r>
              <a:rPr lang="en-AU" sz="2000" b="0" i="1" strike="noStrike" spc="-1" dirty="0" err="1">
                <a:solidFill>
                  <a:srgbClr val="000000"/>
                </a:solidFill>
                <a:latin typeface="Times New Roman"/>
                <a:ea typeface="DejaVu Sans"/>
              </a:rPr>
              <a:t>jddate</a:t>
            </a:r>
            <a:r>
              <a:rPr lang="en-AU" sz="2000" b="0" i="1" strike="noStrike" spc="-1" dirty="0">
                <a:solidFill>
                  <a:srgbClr val="000000"/>
                </a:solidFill>
                <a:latin typeface="Times New Roman"/>
                <a:ea typeface="DejaVu Sans"/>
              </a:rPr>
              <a:t>}</a:t>
            </a:r>
            <a:r>
              <a:rPr lang="en-AU" sz="2000" b="0" strike="noStrike" spc="-1" dirty="0">
                <a:solidFill>
                  <a:srgbClr val="000000"/>
                </a:solidFill>
                <a:latin typeface="Times New Roman"/>
                <a:ea typeface="DejaVu Sans"/>
              </a:rPr>
              <a:t> and has been a part of the community for a period of </a:t>
            </a:r>
            <a:r>
              <a:rPr lang="en-AU" sz="2000" spc="-1" dirty="0">
                <a:solidFill>
                  <a:srgbClr val="000000"/>
                </a:solidFill>
                <a:latin typeface="Times New Roman"/>
              </a:rPr>
              <a:t>1</a:t>
            </a:r>
            <a:r>
              <a:rPr lang="en-AU" sz="2000" b="0" strike="noStrike" spc="-1" dirty="0">
                <a:solidFill>
                  <a:srgbClr val="000000"/>
                </a:solidFill>
                <a:latin typeface="Times New Roman"/>
                <a:ea typeface="DejaVu Sans"/>
              </a:rPr>
              <a:t> year or more. </a:t>
            </a:r>
            <a:endParaRPr lang="en-IN" sz="2000" b="0" strike="noStrike" spc="-1" dirty="0">
              <a:solidFill>
                <a:srgbClr val="000000"/>
              </a:solidFill>
              <a:latin typeface="Arial"/>
            </a:endParaRPr>
          </a:p>
        </p:txBody>
      </p:sp>
      <p:sp>
        <p:nvSpPr>
          <p:cNvPr id="2" name="Google Shape;90;p1">
            <a:extLst>
              <a:ext uri="{FF2B5EF4-FFF2-40B4-BE49-F238E27FC236}">
                <a16:creationId xmlns:a16="http://schemas.microsoft.com/office/drawing/2014/main" id="{569BA185-0434-D6E1-69BB-E8874B42F7BF}"/>
              </a:ext>
            </a:extLst>
          </p:cNvPr>
          <p:cNvSpPr/>
          <p:nvPr/>
        </p:nvSpPr>
        <p:spPr>
          <a:xfrm>
            <a:off x="4967670" y="6749098"/>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3" name="Google Shape;347;p28">
            <a:extLst>
              <a:ext uri="{FF2B5EF4-FFF2-40B4-BE49-F238E27FC236}">
                <a16:creationId xmlns:a16="http://schemas.microsoft.com/office/drawing/2014/main" id="{632342AA-73D5-DE6D-A046-23CE7185C7A3}"/>
              </a:ext>
            </a:extLst>
          </p:cNvPr>
          <p:cNvSpPr/>
          <p:nvPr/>
        </p:nvSpPr>
        <p:spPr>
          <a:xfrm>
            <a:off x="4914480" y="6279714"/>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Picture 38"/>
          <p:cNvPicPr/>
          <p:nvPr/>
        </p:nvPicPr>
        <p:blipFill>
          <a:blip r:embed="rId2"/>
          <a:stretch/>
        </p:blipFill>
        <p:spPr>
          <a:xfrm>
            <a:off x="819000" y="714240"/>
            <a:ext cx="12428640" cy="7104240"/>
          </a:xfrm>
          <a:prstGeom prst="rect">
            <a:avLst/>
          </a:prstGeom>
          <a:ln w="0">
            <a:noFill/>
          </a:ln>
        </p:spPr>
      </p:pic>
      <p:pic>
        <p:nvPicPr>
          <p:cNvPr id="60" name="Picture 18"/>
          <p:cNvPicPr/>
          <p:nvPr/>
        </p:nvPicPr>
        <p:blipFill>
          <a:blip r:embed="rId3"/>
          <a:srcRect l="10028" t="12536" r="10465" b="20264"/>
          <a:stretch/>
        </p:blipFill>
        <p:spPr>
          <a:xfrm>
            <a:off x="0" y="3240"/>
            <a:ext cx="14038560" cy="8455320"/>
          </a:xfrm>
          <a:prstGeom prst="rect">
            <a:avLst/>
          </a:prstGeom>
          <a:ln w="0">
            <a:noFill/>
          </a:ln>
        </p:spPr>
      </p:pic>
      <p:sp>
        <p:nvSpPr>
          <p:cNvPr id="61" name="TextBox 7"/>
          <p:cNvSpPr/>
          <p:nvPr/>
        </p:nvSpPr>
        <p:spPr>
          <a:xfrm>
            <a:off x="1668960" y="2526120"/>
            <a:ext cx="10736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AUSTRALIAN SPECIAL OPERATIONS TASKFORCE</a:t>
            </a:r>
            <a:endParaRPr lang="en-IN" sz="3600" b="0" strike="noStrike" spc="-1">
              <a:solidFill>
                <a:srgbClr val="000000"/>
              </a:solidFill>
              <a:latin typeface="Arial"/>
            </a:endParaRPr>
          </a:p>
        </p:txBody>
      </p:sp>
      <p:sp>
        <p:nvSpPr>
          <p:cNvPr id="62" name="TextBox 8"/>
          <p:cNvSpPr/>
          <p:nvPr/>
        </p:nvSpPr>
        <p:spPr>
          <a:xfrm>
            <a:off x="4094640" y="2918160"/>
            <a:ext cx="607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This is to certify that command has awarded the</a:t>
            </a:r>
            <a:r>
              <a:rPr lang="en-AU" sz="3600" b="0" strike="noStrike" spc="-1">
                <a:solidFill>
                  <a:srgbClr val="000000"/>
                </a:solidFill>
                <a:latin typeface="Times New Roman"/>
                <a:ea typeface="DejaVu Sans"/>
              </a:rPr>
              <a:t> </a:t>
            </a:r>
            <a:endParaRPr lang="en-IN" sz="3600" b="0" strike="noStrike" spc="-1">
              <a:solidFill>
                <a:srgbClr val="000000"/>
              </a:solidFill>
              <a:latin typeface="Arial"/>
            </a:endParaRPr>
          </a:p>
        </p:txBody>
      </p:sp>
      <p:sp>
        <p:nvSpPr>
          <p:cNvPr id="63" name="TextBox 9"/>
          <p:cNvSpPr/>
          <p:nvPr/>
        </p:nvSpPr>
        <p:spPr>
          <a:xfrm>
            <a:off x="5220000" y="4320000"/>
            <a:ext cx="364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endParaRPr lang="en-IN" sz="1800" b="0" strike="noStrike" spc="-1">
              <a:solidFill>
                <a:srgbClr val="000000"/>
              </a:solidFill>
              <a:latin typeface="Arial"/>
            </a:endParaRPr>
          </a:p>
        </p:txBody>
      </p:sp>
      <p:sp>
        <p:nvSpPr>
          <p:cNvPr id="64" name="TextBox 10"/>
          <p:cNvSpPr/>
          <p:nvPr/>
        </p:nvSpPr>
        <p:spPr>
          <a:xfrm>
            <a:off x="4533480" y="3421440"/>
            <a:ext cx="49712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2 Year of Service Citation</a:t>
            </a:r>
            <a:endParaRPr lang="en-IN" sz="3600" b="0" strike="noStrike" spc="-1">
              <a:solidFill>
                <a:srgbClr val="000000"/>
              </a:solidFill>
              <a:latin typeface="Arial"/>
            </a:endParaRPr>
          </a:p>
        </p:txBody>
      </p:sp>
      <p:sp>
        <p:nvSpPr>
          <p:cNvPr id="65" name="TextBox 11"/>
          <p:cNvSpPr/>
          <p:nvPr/>
        </p:nvSpPr>
        <p:spPr>
          <a:xfrm>
            <a:off x="6723360" y="3931920"/>
            <a:ext cx="5914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TO</a:t>
            </a:r>
            <a:endParaRPr lang="en-IN" sz="2400" b="0" strike="noStrike" spc="-1">
              <a:solidFill>
                <a:srgbClr val="000000"/>
              </a:solidFill>
              <a:latin typeface="Arial"/>
            </a:endParaRPr>
          </a:p>
        </p:txBody>
      </p:sp>
      <p:sp>
        <p:nvSpPr>
          <p:cNvPr id="66" name="TextBox 12"/>
          <p:cNvSpPr/>
          <p:nvPr/>
        </p:nvSpPr>
        <p:spPr>
          <a:xfrm>
            <a:off x="1721625" y="4930903"/>
            <a:ext cx="10596600" cy="70643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000" b="0" strike="noStrike" spc="-1" dirty="0">
                <a:solidFill>
                  <a:srgbClr val="000000"/>
                </a:solidFill>
                <a:latin typeface="Times New Roman"/>
                <a:ea typeface="DejaVu Sans"/>
              </a:rPr>
              <a:t>{name} joined on the </a:t>
            </a:r>
            <a:r>
              <a:rPr lang="en-AU" sz="2000" b="0" i="1" strike="noStrike" spc="-1" dirty="0">
                <a:solidFill>
                  <a:srgbClr val="000000"/>
                </a:solidFill>
                <a:latin typeface="Times New Roman"/>
                <a:ea typeface="DejaVu Sans"/>
              </a:rPr>
              <a:t>{</a:t>
            </a:r>
            <a:r>
              <a:rPr lang="en-AU" sz="2000" b="0" i="1" strike="noStrike" spc="-1" dirty="0" err="1">
                <a:solidFill>
                  <a:srgbClr val="000000"/>
                </a:solidFill>
                <a:latin typeface="Times New Roman"/>
                <a:ea typeface="DejaVu Sans"/>
              </a:rPr>
              <a:t>jdnum</a:t>
            </a:r>
            <a:r>
              <a:rPr lang="en-AU" sz="2000" b="0" i="1" strike="noStrike" spc="-1" dirty="0">
                <a:solidFill>
                  <a:srgbClr val="000000"/>
                </a:solidFill>
                <a:latin typeface="Times New Roman"/>
                <a:ea typeface="DejaVu Sans"/>
              </a:rPr>
              <a:t>}</a:t>
            </a:r>
            <a:r>
              <a:rPr lang="en-AU" sz="2000" b="0" i="1" strike="noStrike" spc="-1" baseline="30000" dirty="0">
                <a:solidFill>
                  <a:srgbClr val="000000"/>
                </a:solidFill>
                <a:latin typeface="Times New Roman"/>
                <a:ea typeface="DejaVu Sans"/>
              </a:rPr>
              <a:t>{</a:t>
            </a:r>
            <a:r>
              <a:rPr lang="en-AU" sz="2000" b="0" i="1" strike="noStrike" spc="-1" baseline="30000" dirty="0" err="1">
                <a:solidFill>
                  <a:srgbClr val="000000"/>
                </a:solidFill>
                <a:latin typeface="Times New Roman"/>
                <a:ea typeface="DejaVu Sans"/>
              </a:rPr>
              <a:t>jdsuffix</a:t>
            </a:r>
            <a:r>
              <a:rPr lang="en-AU" sz="2000" b="0" i="1" strike="noStrike" spc="-1" baseline="30000" dirty="0">
                <a:solidFill>
                  <a:srgbClr val="000000"/>
                </a:solidFill>
                <a:latin typeface="Times New Roman"/>
                <a:ea typeface="DejaVu Sans"/>
              </a:rPr>
              <a:t>}</a:t>
            </a:r>
            <a:r>
              <a:rPr lang="en-AU" sz="2000" b="0" i="1" strike="noStrike" spc="-1" dirty="0">
                <a:solidFill>
                  <a:srgbClr val="000000"/>
                </a:solidFill>
                <a:latin typeface="Times New Roman"/>
                <a:ea typeface="DejaVu Sans"/>
              </a:rPr>
              <a:t> {</a:t>
            </a:r>
            <a:r>
              <a:rPr lang="en-AU" sz="2000" b="0" i="1" strike="noStrike" spc="-1" dirty="0" err="1">
                <a:solidFill>
                  <a:srgbClr val="000000"/>
                </a:solidFill>
                <a:latin typeface="Times New Roman"/>
                <a:ea typeface="DejaVu Sans"/>
              </a:rPr>
              <a:t>jddate</a:t>
            </a:r>
            <a:r>
              <a:rPr lang="en-AU" sz="2000" b="0" i="1" strike="noStrike" spc="-1" dirty="0">
                <a:solidFill>
                  <a:srgbClr val="000000"/>
                </a:solidFill>
                <a:latin typeface="Times New Roman"/>
                <a:ea typeface="DejaVu Sans"/>
              </a:rPr>
              <a:t>}</a:t>
            </a:r>
            <a:r>
              <a:rPr lang="en-AU" sz="2000" b="0" strike="noStrike" spc="-1" dirty="0">
                <a:solidFill>
                  <a:srgbClr val="000000"/>
                </a:solidFill>
                <a:latin typeface="Times New Roman"/>
                <a:ea typeface="DejaVu Sans"/>
              </a:rPr>
              <a:t> and has been a part of the community for a period of 2 years or more. </a:t>
            </a:r>
            <a:endParaRPr lang="en-IN" sz="2000" b="0" strike="noStrike" spc="-1" dirty="0">
              <a:solidFill>
                <a:srgbClr val="000000"/>
              </a:solidFill>
              <a:latin typeface="Arial"/>
            </a:endParaRPr>
          </a:p>
        </p:txBody>
      </p:sp>
      <p:cxnSp>
        <p:nvCxnSpPr>
          <p:cNvPr id="69" name="Straight Connector 31"/>
          <p:cNvCxnSpPr/>
          <p:nvPr/>
        </p:nvCxnSpPr>
        <p:spPr>
          <a:xfrm flipH="1">
            <a:off x="5849280" y="6801480"/>
            <a:ext cx="2452680" cy="1440"/>
          </a:xfrm>
          <a:prstGeom prst="straightConnector1">
            <a:avLst/>
          </a:prstGeom>
          <a:ln w="12700">
            <a:solidFill>
              <a:srgbClr val="000000"/>
            </a:solidFill>
            <a:round/>
          </a:ln>
        </p:spPr>
      </p:cxnSp>
      <p:sp>
        <p:nvSpPr>
          <p:cNvPr id="70" name="TextBox 32"/>
          <p:cNvSpPr/>
          <p:nvPr/>
        </p:nvSpPr>
        <p:spPr>
          <a:xfrm>
            <a:off x="2021760" y="5599440"/>
            <a:ext cx="10030680" cy="699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000" b="0" strike="noStrike" spc="-1">
                <a:solidFill>
                  <a:srgbClr val="000000"/>
                </a:solidFill>
                <a:latin typeface="Times New Roman"/>
                <a:ea typeface="DejaVu Sans"/>
              </a:rPr>
              <a:t>On today’s date, </a:t>
            </a:r>
            <a:r>
              <a:rPr lang="en-AU" sz="2000" b="0" i="1" strike="noStrike" spc="-1">
                <a:solidFill>
                  <a:srgbClr val="000000"/>
                </a:solidFill>
                <a:latin typeface="Times New Roman"/>
                <a:ea typeface="DejaVu Sans"/>
              </a:rPr>
              <a:t>{dateNumber}</a:t>
            </a:r>
            <a:r>
              <a:rPr lang="en-AU" sz="2000" b="0" i="1" strike="noStrike" spc="-1" baseline="30000">
                <a:solidFill>
                  <a:srgbClr val="000000"/>
                </a:solidFill>
                <a:latin typeface="Times New Roman"/>
                <a:ea typeface="DejaVu Sans"/>
              </a:rPr>
              <a:t>{suffix}</a:t>
            </a:r>
            <a:r>
              <a:rPr lang="en-AU" sz="2000" b="0" i="1" strike="noStrike" spc="-1">
                <a:solidFill>
                  <a:srgbClr val="000000"/>
                </a:solidFill>
                <a:latin typeface="Times New Roman"/>
                <a:ea typeface="DejaVu Sans"/>
              </a:rPr>
              <a:t> {date}</a:t>
            </a:r>
            <a:r>
              <a:rPr lang="en-AU" sz="2000" b="0" strike="noStrike" spc="-1">
                <a:solidFill>
                  <a:srgbClr val="000000"/>
                </a:solidFill>
                <a:latin typeface="Times New Roman"/>
                <a:ea typeface="DejaVu Sans"/>
              </a:rPr>
              <a:t>, {name} is therefore awarded the </a:t>
            </a:r>
            <a:br>
              <a:rPr sz="2000"/>
            </a:br>
            <a:r>
              <a:rPr lang="en-AU" sz="2000" b="0" strike="noStrike" spc="-1">
                <a:solidFill>
                  <a:srgbClr val="000000"/>
                </a:solidFill>
                <a:latin typeface="Times New Roman"/>
                <a:ea typeface="DejaVu Sans"/>
              </a:rPr>
              <a:t>2 Year Service Citation. </a:t>
            </a:r>
            <a:endParaRPr lang="en-IN" sz="2000" b="0" strike="noStrike" spc="-1">
              <a:solidFill>
                <a:srgbClr val="000000"/>
              </a:solidFill>
              <a:latin typeface="Arial"/>
            </a:endParaRPr>
          </a:p>
        </p:txBody>
      </p:sp>
      <p:pic>
        <p:nvPicPr>
          <p:cNvPr id="71" name="Picture 2"/>
          <p:cNvPicPr/>
          <p:nvPr/>
        </p:nvPicPr>
        <p:blipFill>
          <a:blip r:embed="rId4"/>
          <a:stretch/>
        </p:blipFill>
        <p:spPr>
          <a:xfrm>
            <a:off x="10481400" y="6171480"/>
            <a:ext cx="1571040" cy="1370880"/>
          </a:xfrm>
          <a:prstGeom prst="rect">
            <a:avLst/>
          </a:prstGeom>
          <a:ln w="0">
            <a:noFill/>
          </a:ln>
        </p:spPr>
      </p:pic>
      <p:pic>
        <p:nvPicPr>
          <p:cNvPr id="72" name="Picture 4"/>
          <p:cNvPicPr/>
          <p:nvPr/>
        </p:nvPicPr>
        <p:blipFill>
          <a:blip r:embed="rId5"/>
          <a:stretch/>
        </p:blipFill>
        <p:spPr>
          <a:xfrm>
            <a:off x="1668960" y="6107760"/>
            <a:ext cx="1393560" cy="1441080"/>
          </a:xfrm>
          <a:prstGeom prst="rect">
            <a:avLst/>
          </a:prstGeom>
          <a:ln w="0">
            <a:noFill/>
          </a:ln>
        </p:spPr>
      </p:pic>
      <p:pic>
        <p:nvPicPr>
          <p:cNvPr id="73" name="Picture 20"/>
          <p:cNvPicPr/>
          <p:nvPr/>
        </p:nvPicPr>
        <p:blipFill>
          <a:blip r:embed="rId6"/>
          <a:stretch/>
        </p:blipFill>
        <p:spPr>
          <a:xfrm>
            <a:off x="6601320" y="838080"/>
            <a:ext cx="835920" cy="1771920"/>
          </a:xfrm>
          <a:prstGeom prst="rect">
            <a:avLst/>
          </a:prstGeom>
          <a:ln w="0">
            <a:noFill/>
          </a:ln>
        </p:spPr>
      </p:pic>
      <p:sp>
        <p:nvSpPr>
          <p:cNvPr id="2" name="TextBox 33">
            <a:extLst>
              <a:ext uri="{FF2B5EF4-FFF2-40B4-BE49-F238E27FC236}">
                <a16:creationId xmlns:a16="http://schemas.microsoft.com/office/drawing/2014/main" id="{5C6AAB05-A07F-642C-F2F3-EF2CB9B5C5D2}"/>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sp>
        <p:nvSpPr>
          <p:cNvPr id="3" name="Google Shape;90;p1">
            <a:extLst>
              <a:ext uri="{FF2B5EF4-FFF2-40B4-BE49-F238E27FC236}">
                <a16:creationId xmlns:a16="http://schemas.microsoft.com/office/drawing/2014/main" id="{79764305-37BE-443C-2810-DF6B180C33DA}"/>
              </a:ext>
            </a:extLst>
          </p:cNvPr>
          <p:cNvSpPr/>
          <p:nvPr/>
        </p:nvSpPr>
        <p:spPr>
          <a:xfrm>
            <a:off x="4967670" y="6749098"/>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4" name="Google Shape;347;p28">
            <a:extLst>
              <a:ext uri="{FF2B5EF4-FFF2-40B4-BE49-F238E27FC236}">
                <a16:creationId xmlns:a16="http://schemas.microsoft.com/office/drawing/2014/main" id="{B45989DC-DFE0-8222-1E64-29C08D196D1B}"/>
              </a:ext>
            </a:extLst>
          </p:cNvPr>
          <p:cNvSpPr/>
          <p:nvPr/>
        </p:nvSpPr>
        <p:spPr>
          <a:xfrm>
            <a:off x="4914480" y="6279714"/>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Picture 38"/>
          <p:cNvPicPr/>
          <p:nvPr/>
        </p:nvPicPr>
        <p:blipFill>
          <a:blip r:embed="rId2"/>
          <a:stretch/>
        </p:blipFill>
        <p:spPr>
          <a:xfrm>
            <a:off x="819000" y="714240"/>
            <a:ext cx="12428640" cy="7104240"/>
          </a:xfrm>
          <a:prstGeom prst="rect">
            <a:avLst/>
          </a:prstGeom>
          <a:ln w="0">
            <a:noFill/>
          </a:ln>
        </p:spPr>
      </p:pic>
      <p:pic>
        <p:nvPicPr>
          <p:cNvPr id="76" name="Picture 20"/>
          <p:cNvPicPr/>
          <p:nvPr/>
        </p:nvPicPr>
        <p:blipFill>
          <a:blip r:embed="rId3"/>
          <a:srcRect l="10028" t="12536" r="10465" b="20264"/>
          <a:stretch/>
        </p:blipFill>
        <p:spPr>
          <a:xfrm>
            <a:off x="0" y="3240"/>
            <a:ext cx="14038560" cy="8455320"/>
          </a:xfrm>
          <a:prstGeom prst="rect">
            <a:avLst/>
          </a:prstGeom>
          <a:ln w="0">
            <a:noFill/>
          </a:ln>
        </p:spPr>
      </p:pic>
      <p:sp>
        <p:nvSpPr>
          <p:cNvPr id="77" name="TextBox 7"/>
          <p:cNvSpPr/>
          <p:nvPr/>
        </p:nvSpPr>
        <p:spPr>
          <a:xfrm>
            <a:off x="1668960" y="2526120"/>
            <a:ext cx="10736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AUSTRALIAN SPECIAL OPERATIONS TASKFORCE</a:t>
            </a:r>
            <a:endParaRPr lang="en-IN" sz="3600" b="0" strike="noStrike" spc="-1">
              <a:solidFill>
                <a:srgbClr val="000000"/>
              </a:solidFill>
              <a:latin typeface="Arial"/>
            </a:endParaRPr>
          </a:p>
        </p:txBody>
      </p:sp>
      <p:sp>
        <p:nvSpPr>
          <p:cNvPr id="78" name="TextBox 8"/>
          <p:cNvSpPr/>
          <p:nvPr/>
        </p:nvSpPr>
        <p:spPr>
          <a:xfrm>
            <a:off x="4094640" y="2918160"/>
            <a:ext cx="607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This is to certify that command has awarded the</a:t>
            </a:r>
            <a:r>
              <a:rPr lang="en-AU" sz="3600" b="0" strike="noStrike" spc="-1">
                <a:solidFill>
                  <a:srgbClr val="000000"/>
                </a:solidFill>
                <a:latin typeface="Times New Roman"/>
                <a:ea typeface="DejaVu Sans"/>
              </a:rPr>
              <a:t> </a:t>
            </a:r>
            <a:endParaRPr lang="en-IN" sz="3600" b="0" strike="noStrike" spc="-1">
              <a:solidFill>
                <a:srgbClr val="000000"/>
              </a:solidFill>
              <a:latin typeface="Arial"/>
            </a:endParaRPr>
          </a:p>
        </p:txBody>
      </p:sp>
      <p:sp>
        <p:nvSpPr>
          <p:cNvPr id="79" name="TextBox 9"/>
          <p:cNvSpPr/>
          <p:nvPr/>
        </p:nvSpPr>
        <p:spPr>
          <a:xfrm>
            <a:off x="5573160" y="4307400"/>
            <a:ext cx="29275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endParaRPr lang="en-IN" sz="1800" b="0" strike="noStrike" spc="-1">
              <a:solidFill>
                <a:srgbClr val="000000"/>
              </a:solidFill>
              <a:latin typeface="Arial"/>
            </a:endParaRPr>
          </a:p>
        </p:txBody>
      </p:sp>
      <p:sp>
        <p:nvSpPr>
          <p:cNvPr id="80" name="TextBox 10"/>
          <p:cNvSpPr/>
          <p:nvPr/>
        </p:nvSpPr>
        <p:spPr>
          <a:xfrm>
            <a:off x="4533480" y="3421440"/>
            <a:ext cx="49712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3 Year of Service Citation</a:t>
            </a:r>
            <a:endParaRPr lang="en-IN" sz="3600" b="0" strike="noStrike" spc="-1">
              <a:solidFill>
                <a:srgbClr val="000000"/>
              </a:solidFill>
              <a:latin typeface="Arial"/>
            </a:endParaRPr>
          </a:p>
        </p:txBody>
      </p:sp>
      <p:sp>
        <p:nvSpPr>
          <p:cNvPr id="81" name="TextBox 11"/>
          <p:cNvSpPr/>
          <p:nvPr/>
        </p:nvSpPr>
        <p:spPr>
          <a:xfrm>
            <a:off x="6723360" y="3931920"/>
            <a:ext cx="5914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TO</a:t>
            </a:r>
            <a:endParaRPr lang="en-IN" sz="2400" b="0" strike="noStrike" spc="-1">
              <a:solidFill>
                <a:srgbClr val="000000"/>
              </a:solidFill>
              <a:latin typeface="Arial"/>
            </a:endParaRPr>
          </a:p>
        </p:txBody>
      </p:sp>
      <p:sp>
        <p:nvSpPr>
          <p:cNvPr id="82" name="TextBox 12"/>
          <p:cNvSpPr/>
          <p:nvPr/>
        </p:nvSpPr>
        <p:spPr>
          <a:xfrm>
            <a:off x="1650960" y="4931287"/>
            <a:ext cx="10736280" cy="70643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000" b="0" strike="noStrike" spc="-1" dirty="0">
                <a:solidFill>
                  <a:srgbClr val="000000"/>
                </a:solidFill>
                <a:latin typeface="Times New Roman"/>
                <a:ea typeface="DejaVu Sans"/>
              </a:rPr>
              <a:t>{name} joined on the </a:t>
            </a:r>
            <a:r>
              <a:rPr lang="en-AU" sz="2000" b="0" i="1" strike="noStrike" spc="-1" dirty="0">
                <a:solidFill>
                  <a:srgbClr val="000000"/>
                </a:solidFill>
                <a:latin typeface="Times New Roman"/>
                <a:ea typeface="DejaVu Sans"/>
              </a:rPr>
              <a:t>{</a:t>
            </a:r>
            <a:r>
              <a:rPr lang="en-AU" sz="2000" b="0" i="1" strike="noStrike" spc="-1" dirty="0" err="1">
                <a:solidFill>
                  <a:srgbClr val="000000"/>
                </a:solidFill>
                <a:latin typeface="Times New Roman"/>
                <a:ea typeface="DejaVu Sans"/>
              </a:rPr>
              <a:t>jdnum</a:t>
            </a:r>
            <a:r>
              <a:rPr lang="en-AU" sz="2000" b="0" i="1" strike="noStrike" spc="-1" dirty="0">
                <a:solidFill>
                  <a:srgbClr val="000000"/>
                </a:solidFill>
                <a:latin typeface="Times New Roman"/>
                <a:ea typeface="DejaVu Sans"/>
              </a:rPr>
              <a:t>}</a:t>
            </a:r>
            <a:r>
              <a:rPr lang="en-AU" sz="2000" b="0" i="1" strike="noStrike" spc="-1" baseline="30000" dirty="0">
                <a:solidFill>
                  <a:srgbClr val="000000"/>
                </a:solidFill>
                <a:latin typeface="Times New Roman"/>
                <a:ea typeface="DejaVu Sans"/>
              </a:rPr>
              <a:t>{</a:t>
            </a:r>
            <a:r>
              <a:rPr lang="en-AU" sz="2000" b="0" i="1" strike="noStrike" spc="-1" baseline="30000" dirty="0" err="1">
                <a:solidFill>
                  <a:srgbClr val="000000"/>
                </a:solidFill>
                <a:latin typeface="Times New Roman"/>
                <a:ea typeface="DejaVu Sans"/>
              </a:rPr>
              <a:t>jdsuffix</a:t>
            </a:r>
            <a:r>
              <a:rPr lang="en-AU" sz="2000" b="0" i="1" strike="noStrike" spc="-1" baseline="30000" dirty="0">
                <a:solidFill>
                  <a:srgbClr val="000000"/>
                </a:solidFill>
                <a:latin typeface="Times New Roman"/>
                <a:ea typeface="DejaVu Sans"/>
              </a:rPr>
              <a:t>}</a:t>
            </a:r>
            <a:r>
              <a:rPr lang="en-AU" sz="2000" b="0" i="1" strike="noStrike" spc="-1" dirty="0">
                <a:solidFill>
                  <a:srgbClr val="000000"/>
                </a:solidFill>
                <a:latin typeface="Times New Roman"/>
                <a:ea typeface="DejaVu Sans"/>
              </a:rPr>
              <a:t> {</a:t>
            </a:r>
            <a:r>
              <a:rPr lang="en-AU" sz="2000" b="0" i="1" strike="noStrike" spc="-1" dirty="0" err="1">
                <a:solidFill>
                  <a:srgbClr val="000000"/>
                </a:solidFill>
                <a:latin typeface="Times New Roman"/>
                <a:ea typeface="DejaVu Sans"/>
              </a:rPr>
              <a:t>jddate</a:t>
            </a:r>
            <a:r>
              <a:rPr lang="en-AU" sz="2000" b="0" i="1" strike="noStrike" spc="-1" dirty="0">
                <a:solidFill>
                  <a:srgbClr val="000000"/>
                </a:solidFill>
                <a:latin typeface="Times New Roman"/>
                <a:ea typeface="DejaVu Sans"/>
              </a:rPr>
              <a:t>} </a:t>
            </a:r>
            <a:r>
              <a:rPr lang="en-AU" sz="2000" b="0" strike="noStrike" spc="-1" dirty="0">
                <a:solidFill>
                  <a:srgbClr val="000000"/>
                </a:solidFill>
                <a:latin typeface="Times New Roman"/>
                <a:ea typeface="DejaVu Sans"/>
              </a:rPr>
              <a:t>and has been a part of the community for a period of 3 years or more. </a:t>
            </a:r>
            <a:endParaRPr lang="en-IN" sz="2000" b="0" strike="noStrike" spc="-1" dirty="0">
              <a:solidFill>
                <a:srgbClr val="000000"/>
              </a:solidFill>
              <a:latin typeface="Arial"/>
            </a:endParaRPr>
          </a:p>
        </p:txBody>
      </p:sp>
      <p:cxnSp>
        <p:nvCxnSpPr>
          <p:cNvPr id="85" name="Straight Connector 31"/>
          <p:cNvCxnSpPr/>
          <p:nvPr/>
        </p:nvCxnSpPr>
        <p:spPr>
          <a:xfrm flipH="1">
            <a:off x="5849280" y="6801480"/>
            <a:ext cx="2452680" cy="1440"/>
          </a:xfrm>
          <a:prstGeom prst="straightConnector1">
            <a:avLst/>
          </a:prstGeom>
          <a:ln w="12700">
            <a:solidFill>
              <a:srgbClr val="000000"/>
            </a:solidFill>
            <a:round/>
          </a:ln>
        </p:spPr>
      </p:cxnSp>
      <p:sp>
        <p:nvSpPr>
          <p:cNvPr id="86" name="TextBox 32"/>
          <p:cNvSpPr/>
          <p:nvPr/>
        </p:nvSpPr>
        <p:spPr>
          <a:xfrm>
            <a:off x="2021760" y="5599440"/>
            <a:ext cx="10030680" cy="699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000" b="0" strike="noStrike" spc="-1">
                <a:solidFill>
                  <a:srgbClr val="000000"/>
                </a:solidFill>
                <a:latin typeface="Times New Roman"/>
                <a:ea typeface="DejaVu Sans"/>
              </a:rPr>
              <a:t>On today’s date, </a:t>
            </a:r>
            <a:r>
              <a:rPr lang="en-AU" sz="2000" b="0" i="1" strike="noStrike" spc="-1">
                <a:solidFill>
                  <a:srgbClr val="000000"/>
                </a:solidFill>
                <a:latin typeface="Times New Roman"/>
                <a:ea typeface="DejaVu Sans"/>
              </a:rPr>
              <a:t>{dateNumber}</a:t>
            </a:r>
            <a:r>
              <a:rPr lang="en-AU" sz="2000" b="0" i="1" strike="noStrike" spc="-1" baseline="30000">
                <a:solidFill>
                  <a:srgbClr val="000000"/>
                </a:solidFill>
                <a:latin typeface="Times New Roman"/>
                <a:ea typeface="DejaVu Sans"/>
              </a:rPr>
              <a:t>{suffix}</a:t>
            </a:r>
            <a:r>
              <a:rPr lang="en-AU" sz="2000" b="0" i="1" strike="noStrike" spc="-1">
                <a:solidFill>
                  <a:srgbClr val="000000"/>
                </a:solidFill>
                <a:latin typeface="Times New Roman"/>
                <a:ea typeface="DejaVu Sans"/>
              </a:rPr>
              <a:t> {date}</a:t>
            </a:r>
            <a:r>
              <a:rPr lang="en-AU" sz="2000" b="0" strike="noStrike" spc="-1">
                <a:solidFill>
                  <a:srgbClr val="000000"/>
                </a:solidFill>
                <a:latin typeface="Times New Roman"/>
                <a:ea typeface="DejaVu Sans"/>
              </a:rPr>
              <a:t>, {name} is therefore awarded the </a:t>
            </a:r>
            <a:br>
              <a:rPr sz="2000"/>
            </a:br>
            <a:r>
              <a:rPr lang="en-AU" sz="2000" b="0" strike="noStrike" spc="-1">
                <a:solidFill>
                  <a:srgbClr val="000000"/>
                </a:solidFill>
                <a:latin typeface="Times New Roman"/>
                <a:ea typeface="DejaVu Sans"/>
              </a:rPr>
              <a:t>3 Year Service Citation. </a:t>
            </a:r>
            <a:endParaRPr lang="en-IN" sz="2000" b="0" strike="noStrike" spc="-1">
              <a:solidFill>
                <a:srgbClr val="000000"/>
              </a:solidFill>
              <a:latin typeface="Arial"/>
            </a:endParaRPr>
          </a:p>
        </p:txBody>
      </p:sp>
      <p:pic>
        <p:nvPicPr>
          <p:cNvPr id="87" name="Picture 2"/>
          <p:cNvPicPr/>
          <p:nvPr/>
        </p:nvPicPr>
        <p:blipFill>
          <a:blip r:embed="rId4"/>
          <a:stretch/>
        </p:blipFill>
        <p:spPr>
          <a:xfrm>
            <a:off x="10481400" y="6171480"/>
            <a:ext cx="1571040" cy="1370880"/>
          </a:xfrm>
          <a:prstGeom prst="rect">
            <a:avLst/>
          </a:prstGeom>
          <a:ln w="0">
            <a:noFill/>
          </a:ln>
        </p:spPr>
      </p:pic>
      <p:pic>
        <p:nvPicPr>
          <p:cNvPr id="88" name="Picture 4"/>
          <p:cNvPicPr/>
          <p:nvPr/>
        </p:nvPicPr>
        <p:blipFill>
          <a:blip r:embed="rId5"/>
          <a:stretch/>
        </p:blipFill>
        <p:spPr>
          <a:xfrm>
            <a:off x="1668960" y="6107760"/>
            <a:ext cx="1393560" cy="1441080"/>
          </a:xfrm>
          <a:prstGeom prst="rect">
            <a:avLst/>
          </a:prstGeom>
          <a:ln w="0">
            <a:noFill/>
          </a:ln>
        </p:spPr>
      </p:pic>
      <p:pic>
        <p:nvPicPr>
          <p:cNvPr id="89" name="Picture 21"/>
          <p:cNvPicPr/>
          <p:nvPr/>
        </p:nvPicPr>
        <p:blipFill>
          <a:blip r:embed="rId6"/>
          <a:stretch/>
        </p:blipFill>
        <p:spPr>
          <a:xfrm>
            <a:off x="6601320" y="838080"/>
            <a:ext cx="835920" cy="1771920"/>
          </a:xfrm>
          <a:prstGeom prst="rect">
            <a:avLst/>
          </a:prstGeom>
          <a:ln w="0">
            <a:noFill/>
          </a:ln>
        </p:spPr>
      </p:pic>
      <p:sp>
        <p:nvSpPr>
          <p:cNvPr id="2" name="TextBox 33">
            <a:extLst>
              <a:ext uri="{FF2B5EF4-FFF2-40B4-BE49-F238E27FC236}">
                <a16:creationId xmlns:a16="http://schemas.microsoft.com/office/drawing/2014/main" id="{07FF68C3-D0B4-8CAE-4FC4-BAF7365ABAB0}"/>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sp>
        <p:nvSpPr>
          <p:cNvPr id="3" name="Google Shape;90;p1">
            <a:extLst>
              <a:ext uri="{FF2B5EF4-FFF2-40B4-BE49-F238E27FC236}">
                <a16:creationId xmlns:a16="http://schemas.microsoft.com/office/drawing/2014/main" id="{7EBDEBCC-B7AE-04DD-826D-00ACB25EEB0C}"/>
              </a:ext>
            </a:extLst>
          </p:cNvPr>
          <p:cNvSpPr/>
          <p:nvPr/>
        </p:nvSpPr>
        <p:spPr>
          <a:xfrm>
            <a:off x="4967670" y="6749098"/>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4" name="Google Shape;347;p28">
            <a:extLst>
              <a:ext uri="{FF2B5EF4-FFF2-40B4-BE49-F238E27FC236}">
                <a16:creationId xmlns:a16="http://schemas.microsoft.com/office/drawing/2014/main" id="{4F37BB94-6ACA-605F-CF8A-1297AAA3ACBF}"/>
              </a:ext>
            </a:extLst>
          </p:cNvPr>
          <p:cNvSpPr/>
          <p:nvPr/>
        </p:nvSpPr>
        <p:spPr>
          <a:xfrm>
            <a:off x="4914480" y="6279714"/>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 name="Picture 38"/>
          <p:cNvPicPr/>
          <p:nvPr/>
        </p:nvPicPr>
        <p:blipFill>
          <a:blip r:embed="rId2"/>
          <a:stretch/>
        </p:blipFill>
        <p:spPr>
          <a:xfrm>
            <a:off x="819000" y="714240"/>
            <a:ext cx="12428640" cy="7104240"/>
          </a:xfrm>
          <a:prstGeom prst="rect">
            <a:avLst/>
          </a:prstGeom>
          <a:ln w="0">
            <a:noFill/>
          </a:ln>
        </p:spPr>
      </p:pic>
      <p:pic>
        <p:nvPicPr>
          <p:cNvPr id="92" name="Picture 20"/>
          <p:cNvPicPr/>
          <p:nvPr/>
        </p:nvPicPr>
        <p:blipFill>
          <a:blip r:embed="rId3"/>
          <a:srcRect l="10028" t="12536" r="10465" b="20264"/>
          <a:stretch/>
        </p:blipFill>
        <p:spPr>
          <a:xfrm>
            <a:off x="0" y="3240"/>
            <a:ext cx="14038560" cy="8455320"/>
          </a:xfrm>
          <a:prstGeom prst="rect">
            <a:avLst/>
          </a:prstGeom>
          <a:ln w="0">
            <a:noFill/>
          </a:ln>
        </p:spPr>
      </p:pic>
      <p:pic>
        <p:nvPicPr>
          <p:cNvPr id="93" name="Picture 14"/>
          <p:cNvPicPr/>
          <p:nvPr/>
        </p:nvPicPr>
        <p:blipFill>
          <a:blip r:embed="rId4"/>
          <a:srcRect l="5260" b="10694"/>
          <a:stretch/>
        </p:blipFill>
        <p:spPr>
          <a:xfrm>
            <a:off x="6563880" y="816840"/>
            <a:ext cx="910440" cy="1818720"/>
          </a:xfrm>
          <a:prstGeom prst="rect">
            <a:avLst/>
          </a:prstGeom>
          <a:ln w="0">
            <a:noFill/>
          </a:ln>
        </p:spPr>
      </p:pic>
      <p:sp>
        <p:nvSpPr>
          <p:cNvPr id="94" name="TextBox 7"/>
          <p:cNvSpPr/>
          <p:nvPr/>
        </p:nvSpPr>
        <p:spPr>
          <a:xfrm>
            <a:off x="1668960" y="2526120"/>
            <a:ext cx="10736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AUSTRALIAN SPECIAL OPERATIONS TASKFORCE</a:t>
            </a:r>
            <a:endParaRPr lang="en-IN" sz="3600" b="0" strike="noStrike" spc="-1">
              <a:solidFill>
                <a:srgbClr val="000000"/>
              </a:solidFill>
              <a:latin typeface="Arial"/>
            </a:endParaRPr>
          </a:p>
        </p:txBody>
      </p:sp>
      <p:sp>
        <p:nvSpPr>
          <p:cNvPr id="95" name="TextBox 8"/>
          <p:cNvSpPr/>
          <p:nvPr/>
        </p:nvSpPr>
        <p:spPr>
          <a:xfrm>
            <a:off x="4094640" y="2918160"/>
            <a:ext cx="607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This is to certify that command has awarded the</a:t>
            </a:r>
            <a:r>
              <a:rPr lang="en-AU" sz="3600" b="0" strike="noStrike" spc="-1">
                <a:solidFill>
                  <a:srgbClr val="000000"/>
                </a:solidFill>
                <a:latin typeface="Times New Roman"/>
                <a:ea typeface="DejaVu Sans"/>
              </a:rPr>
              <a:t> </a:t>
            </a:r>
            <a:endParaRPr lang="en-IN" sz="3600" b="0" strike="noStrike" spc="-1">
              <a:solidFill>
                <a:srgbClr val="000000"/>
              </a:solidFill>
              <a:latin typeface="Arial"/>
            </a:endParaRPr>
          </a:p>
        </p:txBody>
      </p:sp>
      <p:sp>
        <p:nvSpPr>
          <p:cNvPr id="96" name="TextBox 9"/>
          <p:cNvSpPr/>
          <p:nvPr/>
        </p:nvSpPr>
        <p:spPr>
          <a:xfrm>
            <a:off x="5573160" y="4307400"/>
            <a:ext cx="29275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endParaRPr lang="en-IN" sz="1800" b="0" strike="noStrike" spc="-1">
              <a:solidFill>
                <a:srgbClr val="000000"/>
              </a:solidFill>
              <a:latin typeface="Arial"/>
            </a:endParaRPr>
          </a:p>
        </p:txBody>
      </p:sp>
      <p:sp>
        <p:nvSpPr>
          <p:cNvPr id="97" name="TextBox 10"/>
          <p:cNvSpPr/>
          <p:nvPr/>
        </p:nvSpPr>
        <p:spPr>
          <a:xfrm>
            <a:off x="4411800" y="3396240"/>
            <a:ext cx="53254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Long Term Service Citation</a:t>
            </a:r>
            <a:endParaRPr lang="en-IN" sz="3600" b="0" strike="noStrike" spc="-1">
              <a:solidFill>
                <a:srgbClr val="000000"/>
              </a:solidFill>
              <a:latin typeface="Arial"/>
            </a:endParaRPr>
          </a:p>
        </p:txBody>
      </p:sp>
      <p:sp>
        <p:nvSpPr>
          <p:cNvPr id="98" name="TextBox 11"/>
          <p:cNvSpPr/>
          <p:nvPr/>
        </p:nvSpPr>
        <p:spPr>
          <a:xfrm>
            <a:off x="6723360" y="3931920"/>
            <a:ext cx="5914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TO</a:t>
            </a:r>
            <a:endParaRPr lang="en-IN" sz="2400" b="0" strike="noStrike" spc="-1">
              <a:solidFill>
                <a:srgbClr val="000000"/>
              </a:solidFill>
              <a:latin typeface="Arial"/>
            </a:endParaRPr>
          </a:p>
        </p:txBody>
      </p:sp>
      <p:sp>
        <p:nvSpPr>
          <p:cNvPr id="99" name="TextBox 12"/>
          <p:cNvSpPr/>
          <p:nvPr/>
        </p:nvSpPr>
        <p:spPr>
          <a:xfrm>
            <a:off x="1646829" y="4932856"/>
            <a:ext cx="10736280" cy="70643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000" b="0" strike="noStrike" spc="-1" dirty="0">
                <a:solidFill>
                  <a:srgbClr val="000000"/>
                </a:solidFill>
                <a:latin typeface="Times New Roman"/>
                <a:ea typeface="DejaVu Sans"/>
              </a:rPr>
              <a:t>{name} joined on the </a:t>
            </a:r>
            <a:r>
              <a:rPr lang="en-AU" sz="2000" b="0" i="1" strike="noStrike" spc="-1" dirty="0">
                <a:solidFill>
                  <a:srgbClr val="000000"/>
                </a:solidFill>
                <a:latin typeface="Times New Roman"/>
                <a:ea typeface="DejaVu Sans"/>
              </a:rPr>
              <a:t>{</a:t>
            </a:r>
            <a:r>
              <a:rPr lang="en-AU" sz="2000" b="0" i="1" strike="noStrike" spc="-1" dirty="0" err="1">
                <a:solidFill>
                  <a:srgbClr val="000000"/>
                </a:solidFill>
                <a:latin typeface="Times New Roman"/>
                <a:ea typeface="DejaVu Sans"/>
              </a:rPr>
              <a:t>jdnum</a:t>
            </a:r>
            <a:r>
              <a:rPr lang="en-AU" sz="2000" b="0" i="1" strike="noStrike" spc="-1" dirty="0">
                <a:solidFill>
                  <a:srgbClr val="000000"/>
                </a:solidFill>
                <a:latin typeface="Times New Roman"/>
                <a:ea typeface="DejaVu Sans"/>
              </a:rPr>
              <a:t>}</a:t>
            </a:r>
            <a:r>
              <a:rPr lang="en-AU" sz="2000" b="0" i="1" strike="noStrike" spc="-1" baseline="30000" dirty="0">
                <a:solidFill>
                  <a:srgbClr val="000000"/>
                </a:solidFill>
                <a:latin typeface="Times New Roman"/>
                <a:ea typeface="DejaVu Sans"/>
              </a:rPr>
              <a:t>{</a:t>
            </a:r>
            <a:r>
              <a:rPr lang="en-AU" sz="2000" b="0" i="1" strike="noStrike" spc="-1" baseline="30000" dirty="0" err="1">
                <a:solidFill>
                  <a:srgbClr val="000000"/>
                </a:solidFill>
                <a:latin typeface="Times New Roman"/>
                <a:ea typeface="DejaVu Sans"/>
              </a:rPr>
              <a:t>jdsuffix</a:t>
            </a:r>
            <a:r>
              <a:rPr lang="en-AU" sz="2000" b="0" i="1" strike="noStrike" spc="-1" baseline="30000" dirty="0">
                <a:solidFill>
                  <a:srgbClr val="000000"/>
                </a:solidFill>
                <a:latin typeface="Times New Roman"/>
                <a:ea typeface="DejaVu Sans"/>
              </a:rPr>
              <a:t>}</a:t>
            </a:r>
            <a:r>
              <a:rPr lang="en-AU" sz="2000" b="0" i="1" strike="noStrike" spc="-1" dirty="0">
                <a:solidFill>
                  <a:srgbClr val="000000"/>
                </a:solidFill>
                <a:latin typeface="Times New Roman"/>
                <a:ea typeface="DejaVu Sans"/>
              </a:rPr>
              <a:t> {</a:t>
            </a:r>
            <a:r>
              <a:rPr lang="en-AU" sz="2000" b="0" i="1" strike="noStrike" spc="-1" dirty="0" err="1">
                <a:solidFill>
                  <a:srgbClr val="000000"/>
                </a:solidFill>
                <a:latin typeface="Times New Roman"/>
                <a:ea typeface="DejaVu Sans"/>
              </a:rPr>
              <a:t>jddate</a:t>
            </a:r>
            <a:r>
              <a:rPr lang="en-AU" sz="2000" b="0" i="1" strike="noStrike" spc="-1" dirty="0">
                <a:solidFill>
                  <a:srgbClr val="000000"/>
                </a:solidFill>
                <a:latin typeface="Times New Roman"/>
                <a:ea typeface="DejaVu Sans"/>
              </a:rPr>
              <a:t>} </a:t>
            </a:r>
            <a:r>
              <a:rPr lang="en-AU" sz="2000" b="0" strike="noStrike" spc="-1" dirty="0">
                <a:solidFill>
                  <a:srgbClr val="000000"/>
                </a:solidFill>
                <a:latin typeface="Times New Roman"/>
                <a:ea typeface="DejaVu Sans"/>
              </a:rPr>
              <a:t>and has been a part of the community for a period of 4 years or more. </a:t>
            </a:r>
            <a:endParaRPr lang="en-IN" sz="2000" b="0" strike="noStrike" spc="-1" dirty="0">
              <a:solidFill>
                <a:srgbClr val="000000"/>
              </a:solidFill>
              <a:latin typeface="Arial"/>
            </a:endParaRPr>
          </a:p>
        </p:txBody>
      </p:sp>
      <p:cxnSp>
        <p:nvCxnSpPr>
          <p:cNvPr id="102" name="Straight Connector 31"/>
          <p:cNvCxnSpPr/>
          <p:nvPr/>
        </p:nvCxnSpPr>
        <p:spPr>
          <a:xfrm flipH="1">
            <a:off x="5849280" y="6801480"/>
            <a:ext cx="2452680" cy="1440"/>
          </a:xfrm>
          <a:prstGeom prst="straightConnector1">
            <a:avLst/>
          </a:prstGeom>
          <a:ln w="12700">
            <a:solidFill>
              <a:srgbClr val="000000"/>
            </a:solidFill>
            <a:round/>
          </a:ln>
        </p:spPr>
      </p:cxnSp>
      <p:sp>
        <p:nvSpPr>
          <p:cNvPr id="103" name="TextBox 32"/>
          <p:cNvSpPr/>
          <p:nvPr/>
        </p:nvSpPr>
        <p:spPr>
          <a:xfrm>
            <a:off x="2021760" y="5599440"/>
            <a:ext cx="10030680" cy="699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000" b="0" strike="noStrike" spc="-1" dirty="0">
                <a:solidFill>
                  <a:srgbClr val="000000"/>
                </a:solidFill>
                <a:latin typeface="Times New Roman"/>
                <a:ea typeface="DejaVu Sans"/>
              </a:rPr>
              <a:t>On today’s date, </a:t>
            </a:r>
            <a:r>
              <a:rPr lang="en-AU" sz="2000" b="0" i="1" strike="noStrike" spc="-1" dirty="0">
                <a:solidFill>
                  <a:srgbClr val="000000"/>
                </a:solidFill>
                <a:latin typeface="Times New Roman"/>
                <a:ea typeface="DejaVu Sans"/>
              </a:rPr>
              <a:t>{</a:t>
            </a:r>
            <a:r>
              <a:rPr lang="en-AU" sz="2000" b="0" i="1" strike="noStrike" spc="-1" dirty="0" err="1">
                <a:solidFill>
                  <a:srgbClr val="000000"/>
                </a:solidFill>
                <a:latin typeface="Times New Roman"/>
                <a:ea typeface="DejaVu Sans"/>
              </a:rPr>
              <a:t>dateNumber</a:t>
            </a:r>
            <a:r>
              <a:rPr lang="en-AU" sz="2000" b="0" i="1" strike="noStrike" spc="-1" dirty="0">
                <a:solidFill>
                  <a:srgbClr val="000000"/>
                </a:solidFill>
                <a:latin typeface="Times New Roman"/>
                <a:ea typeface="DejaVu Sans"/>
              </a:rPr>
              <a:t>}</a:t>
            </a:r>
            <a:r>
              <a:rPr lang="en-AU" sz="2000" b="0" i="1" strike="noStrike" spc="-1" baseline="30000" dirty="0">
                <a:solidFill>
                  <a:srgbClr val="000000"/>
                </a:solidFill>
                <a:latin typeface="Times New Roman"/>
                <a:ea typeface="DejaVu Sans"/>
              </a:rPr>
              <a:t>{suffix}</a:t>
            </a:r>
            <a:r>
              <a:rPr lang="en-AU" sz="2000" b="0" i="1" strike="noStrike" spc="-1" dirty="0">
                <a:solidFill>
                  <a:srgbClr val="000000"/>
                </a:solidFill>
                <a:latin typeface="Times New Roman"/>
                <a:ea typeface="DejaVu Sans"/>
              </a:rPr>
              <a:t> {date}</a:t>
            </a:r>
            <a:r>
              <a:rPr lang="en-AU" sz="2000" b="0" strike="noStrike" spc="-1" dirty="0">
                <a:solidFill>
                  <a:srgbClr val="000000"/>
                </a:solidFill>
                <a:latin typeface="Times New Roman"/>
                <a:ea typeface="DejaVu Sans"/>
              </a:rPr>
              <a:t>, {name} is therefore awarded the </a:t>
            </a:r>
            <a:br>
              <a:rPr sz="2000" dirty="0"/>
            </a:br>
            <a:r>
              <a:rPr lang="en-AU" sz="2000" b="0" strike="noStrike" spc="-1" dirty="0">
                <a:solidFill>
                  <a:srgbClr val="000000"/>
                </a:solidFill>
                <a:latin typeface="Times New Roman"/>
                <a:ea typeface="DejaVu Sans"/>
              </a:rPr>
              <a:t>Long Term Service Citation. </a:t>
            </a:r>
            <a:endParaRPr lang="en-IN" sz="2000" b="0" strike="noStrike" spc="-1" dirty="0">
              <a:solidFill>
                <a:srgbClr val="000000"/>
              </a:solidFill>
              <a:latin typeface="Arial"/>
            </a:endParaRPr>
          </a:p>
        </p:txBody>
      </p:sp>
      <p:pic>
        <p:nvPicPr>
          <p:cNvPr id="104" name="Picture 2"/>
          <p:cNvPicPr/>
          <p:nvPr/>
        </p:nvPicPr>
        <p:blipFill>
          <a:blip r:embed="rId5"/>
          <a:stretch/>
        </p:blipFill>
        <p:spPr>
          <a:xfrm>
            <a:off x="10481400" y="6171480"/>
            <a:ext cx="1571040" cy="1370880"/>
          </a:xfrm>
          <a:prstGeom prst="rect">
            <a:avLst/>
          </a:prstGeom>
          <a:ln w="0">
            <a:noFill/>
          </a:ln>
        </p:spPr>
      </p:pic>
      <p:pic>
        <p:nvPicPr>
          <p:cNvPr id="105" name="Picture 4"/>
          <p:cNvPicPr/>
          <p:nvPr/>
        </p:nvPicPr>
        <p:blipFill>
          <a:blip r:embed="rId6"/>
          <a:stretch/>
        </p:blipFill>
        <p:spPr>
          <a:xfrm>
            <a:off x="1668960" y="6107760"/>
            <a:ext cx="1393560" cy="1441080"/>
          </a:xfrm>
          <a:prstGeom prst="rect">
            <a:avLst/>
          </a:prstGeom>
          <a:ln w="0">
            <a:noFill/>
          </a:ln>
        </p:spPr>
      </p:pic>
      <p:sp>
        <p:nvSpPr>
          <p:cNvPr id="2" name="TextBox 33">
            <a:extLst>
              <a:ext uri="{FF2B5EF4-FFF2-40B4-BE49-F238E27FC236}">
                <a16:creationId xmlns:a16="http://schemas.microsoft.com/office/drawing/2014/main" id="{5978D6C5-8EBC-7D78-F129-77DA3515553A}"/>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sp>
        <p:nvSpPr>
          <p:cNvPr id="3" name="Google Shape;90;p1">
            <a:extLst>
              <a:ext uri="{FF2B5EF4-FFF2-40B4-BE49-F238E27FC236}">
                <a16:creationId xmlns:a16="http://schemas.microsoft.com/office/drawing/2014/main" id="{A8FD8944-7990-996E-E1B1-FAD016E70561}"/>
              </a:ext>
            </a:extLst>
          </p:cNvPr>
          <p:cNvSpPr/>
          <p:nvPr/>
        </p:nvSpPr>
        <p:spPr>
          <a:xfrm>
            <a:off x="4967670" y="6749098"/>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4" name="Google Shape;347;p28">
            <a:extLst>
              <a:ext uri="{FF2B5EF4-FFF2-40B4-BE49-F238E27FC236}">
                <a16:creationId xmlns:a16="http://schemas.microsoft.com/office/drawing/2014/main" id="{62CFCABE-1EEE-26C5-611B-ECC574CADB07}"/>
              </a:ext>
            </a:extLst>
          </p:cNvPr>
          <p:cNvSpPr/>
          <p:nvPr/>
        </p:nvSpPr>
        <p:spPr>
          <a:xfrm>
            <a:off x="4914480" y="6279714"/>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7" name="Picture 16"/>
          <p:cNvPicPr/>
          <p:nvPr/>
        </p:nvPicPr>
        <p:blipFill>
          <a:blip r:embed="rId2"/>
          <a:stretch/>
        </p:blipFill>
        <p:spPr>
          <a:xfrm>
            <a:off x="819000" y="714240"/>
            <a:ext cx="12428640" cy="7104240"/>
          </a:xfrm>
          <a:prstGeom prst="rect">
            <a:avLst/>
          </a:prstGeom>
          <a:ln w="0">
            <a:noFill/>
          </a:ln>
        </p:spPr>
      </p:pic>
      <p:pic>
        <p:nvPicPr>
          <p:cNvPr id="108" name="Picture 19"/>
          <p:cNvPicPr/>
          <p:nvPr/>
        </p:nvPicPr>
        <p:blipFill>
          <a:blip r:embed="rId3"/>
          <a:srcRect l="10028" t="12536" r="10465" b="20264"/>
          <a:stretch/>
        </p:blipFill>
        <p:spPr>
          <a:xfrm>
            <a:off x="0" y="3240"/>
            <a:ext cx="14038560" cy="8455320"/>
          </a:xfrm>
          <a:prstGeom prst="rect">
            <a:avLst/>
          </a:prstGeom>
          <a:ln w="0">
            <a:noFill/>
          </a:ln>
        </p:spPr>
      </p:pic>
      <p:sp>
        <p:nvSpPr>
          <p:cNvPr id="109" name="TextBox 7"/>
          <p:cNvSpPr/>
          <p:nvPr/>
        </p:nvSpPr>
        <p:spPr>
          <a:xfrm>
            <a:off x="1668960" y="2526120"/>
            <a:ext cx="10736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AUSTRALIAN SPECIAL OPERATIONS TASKFORCE</a:t>
            </a:r>
            <a:endParaRPr lang="en-IN" sz="3600" b="0" strike="noStrike" spc="-1">
              <a:solidFill>
                <a:srgbClr val="000000"/>
              </a:solidFill>
              <a:latin typeface="Arial"/>
            </a:endParaRPr>
          </a:p>
        </p:txBody>
      </p:sp>
      <p:sp>
        <p:nvSpPr>
          <p:cNvPr id="110" name="TextBox 8"/>
          <p:cNvSpPr/>
          <p:nvPr/>
        </p:nvSpPr>
        <p:spPr>
          <a:xfrm>
            <a:off x="4094640" y="2918160"/>
            <a:ext cx="607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This is to certify that command has awarded the</a:t>
            </a:r>
            <a:r>
              <a:rPr lang="en-AU" sz="3600" b="0" strike="noStrike" spc="-1">
                <a:solidFill>
                  <a:srgbClr val="000000"/>
                </a:solidFill>
                <a:latin typeface="Times New Roman"/>
                <a:ea typeface="DejaVu Sans"/>
              </a:rPr>
              <a:t> </a:t>
            </a:r>
            <a:endParaRPr lang="en-IN" sz="3600" b="0" strike="noStrike" spc="-1">
              <a:solidFill>
                <a:srgbClr val="000000"/>
              </a:solidFill>
              <a:latin typeface="Arial"/>
            </a:endParaRPr>
          </a:p>
        </p:txBody>
      </p:sp>
      <p:sp>
        <p:nvSpPr>
          <p:cNvPr id="111" name="TextBox 9"/>
          <p:cNvSpPr/>
          <p:nvPr/>
        </p:nvSpPr>
        <p:spPr>
          <a:xfrm>
            <a:off x="5573160" y="4307400"/>
            <a:ext cx="29275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endParaRPr lang="en-IN" sz="1800" b="0" strike="noStrike" spc="-1">
              <a:solidFill>
                <a:srgbClr val="000000"/>
              </a:solidFill>
              <a:latin typeface="Arial"/>
            </a:endParaRPr>
          </a:p>
        </p:txBody>
      </p:sp>
      <p:sp>
        <p:nvSpPr>
          <p:cNvPr id="112" name="TextBox 10"/>
          <p:cNvSpPr/>
          <p:nvPr/>
        </p:nvSpPr>
        <p:spPr>
          <a:xfrm>
            <a:off x="4533480" y="3421440"/>
            <a:ext cx="49712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Atlas Award</a:t>
            </a:r>
            <a:endParaRPr lang="en-IN" sz="3600" b="0" strike="noStrike" spc="-1">
              <a:solidFill>
                <a:srgbClr val="000000"/>
              </a:solidFill>
              <a:latin typeface="Arial"/>
            </a:endParaRPr>
          </a:p>
        </p:txBody>
      </p:sp>
      <p:sp>
        <p:nvSpPr>
          <p:cNvPr id="113" name="TextBox 11"/>
          <p:cNvSpPr/>
          <p:nvPr/>
        </p:nvSpPr>
        <p:spPr>
          <a:xfrm>
            <a:off x="6723360" y="3931920"/>
            <a:ext cx="5914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TO</a:t>
            </a:r>
            <a:endParaRPr lang="en-IN" sz="2400" b="0" strike="noStrike" spc="-1">
              <a:solidFill>
                <a:srgbClr val="000000"/>
              </a:solidFill>
              <a:latin typeface="Arial"/>
            </a:endParaRPr>
          </a:p>
        </p:txBody>
      </p:sp>
      <p:cxnSp>
        <p:nvCxnSpPr>
          <p:cNvPr id="116" name="Straight Connector 31"/>
          <p:cNvCxnSpPr/>
          <p:nvPr/>
        </p:nvCxnSpPr>
        <p:spPr>
          <a:xfrm flipH="1">
            <a:off x="5849280" y="6801480"/>
            <a:ext cx="2452680" cy="1440"/>
          </a:xfrm>
          <a:prstGeom prst="straightConnector1">
            <a:avLst/>
          </a:prstGeom>
          <a:ln w="12700">
            <a:solidFill>
              <a:srgbClr val="000000"/>
            </a:solidFill>
            <a:round/>
          </a:ln>
        </p:spPr>
      </p:cxnSp>
      <p:sp>
        <p:nvSpPr>
          <p:cNvPr id="117" name="TextBox 32"/>
          <p:cNvSpPr/>
          <p:nvPr/>
        </p:nvSpPr>
        <p:spPr>
          <a:xfrm>
            <a:off x="2021760" y="5709960"/>
            <a:ext cx="1003068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800" b="0" strike="noStrike" spc="-1">
                <a:solidFill>
                  <a:srgbClr val="000000"/>
                </a:solidFill>
                <a:latin typeface="Times New Roman"/>
                <a:ea typeface="DejaVu Sans"/>
              </a:rPr>
              <a:t>On today’s date, </a:t>
            </a:r>
            <a:r>
              <a:rPr lang="en-AU" sz="1800" b="0" i="1" strike="noStrike" spc="-1">
                <a:solidFill>
                  <a:srgbClr val="000000"/>
                </a:solidFill>
                <a:latin typeface="Times New Roman"/>
                <a:ea typeface="DejaVu Sans"/>
              </a:rPr>
              <a:t>{dateNumber}</a:t>
            </a:r>
            <a:r>
              <a:rPr lang="en-AU" sz="1800" b="0" i="1" strike="noStrike" spc="-1" baseline="30000">
                <a:solidFill>
                  <a:srgbClr val="000000"/>
                </a:solidFill>
                <a:latin typeface="Times New Roman"/>
                <a:ea typeface="DejaVu Sans"/>
              </a:rPr>
              <a:t>{suffix}</a:t>
            </a:r>
            <a:r>
              <a:rPr lang="en-AU" sz="1800" b="0" i="1" strike="noStrike" spc="-1">
                <a:solidFill>
                  <a:srgbClr val="000000"/>
                </a:solidFill>
                <a:latin typeface="Times New Roman"/>
                <a:ea typeface="DejaVu Sans"/>
              </a:rPr>
              <a:t> {date}</a:t>
            </a:r>
            <a:r>
              <a:rPr lang="en-AU" sz="1800" b="0" strike="noStrike" spc="-1">
                <a:solidFill>
                  <a:srgbClr val="000000"/>
                </a:solidFill>
                <a:latin typeface="Times New Roman"/>
                <a:ea typeface="DejaVu Sans"/>
              </a:rPr>
              <a:t>, {name} is therefore awarded the Atlas Award. </a:t>
            </a:r>
            <a:endParaRPr lang="en-IN" sz="1800" b="0" strike="noStrike" spc="-1">
              <a:solidFill>
                <a:srgbClr val="000000"/>
              </a:solidFill>
              <a:latin typeface="Arial"/>
            </a:endParaRPr>
          </a:p>
        </p:txBody>
      </p:sp>
      <p:pic>
        <p:nvPicPr>
          <p:cNvPr id="118" name="Picture 2"/>
          <p:cNvPicPr/>
          <p:nvPr/>
        </p:nvPicPr>
        <p:blipFill>
          <a:blip r:embed="rId4"/>
          <a:stretch/>
        </p:blipFill>
        <p:spPr>
          <a:xfrm>
            <a:off x="10481400" y="6171480"/>
            <a:ext cx="1571040" cy="1370880"/>
          </a:xfrm>
          <a:prstGeom prst="rect">
            <a:avLst/>
          </a:prstGeom>
          <a:ln w="0">
            <a:noFill/>
          </a:ln>
        </p:spPr>
      </p:pic>
      <p:pic>
        <p:nvPicPr>
          <p:cNvPr id="119" name="Picture 4"/>
          <p:cNvPicPr/>
          <p:nvPr/>
        </p:nvPicPr>
        <p:blipFill>
          <a:blip r:embed="rId5"/>
          <a:stretch/>
        </p:blipFill>
        <p:spPr>
          <a:xfrm>
            <a:off x="1668960" y="6107760"/>
            <a:ext cx="1393560" cy="1441080"/>
          </a:xfrm>
          <a:prstGeom prst="rect">
            <a:avLst/>
          </a:prstGeom>
          <a:ln w="0">
            <a:noFill/>
          </a:ln>
        </p:spPr>
      </p:pic>
      <p:sp>
        <p:nvSpPr>
          <p:cNvPr id="120" name="TextBox 20"/>
          <p:cNvSpPr/>
          <p:nvPr/>
        </p:nvSpPr>
        <p:spPr>
          <a:xfrm>
            <a:off x="1611000" y="4896000"/>
            <a:ext cx="10816200" cy="92187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800" b="0" strike="noStrike" spc="-1" dirty="0">
                <a:solidFill>
                  <a:srgbClr val="000000"/>
                </a:solidFill>
                <a:latin typeface="Times New Roman"/>
                <a:ea typeface="DejaVu Sans"/>
              </a:rPr>
              <a:t>{name} has shown a high level of dedication and enthusiasm to </a:t>
            </a:r>
            <a:r>
              <a:rPr lang="en-AU" sz="1800" b="0" strike="noStrike" spc="-1" dirty="0" err="1">
                <a:solidFill>
                  <a:srgbClr val="000000"/>
                </a:solidFill>
                <a:latin typeface="Times New Roman"/>
                <a:ea typeface="DejaVu Sans"/>
              </a:rPr>
              <a:t>Zeusing</a:t>
            </a:r>
            <a:r>
              <a:rPr lang="en-AU" sz="1800" b="0" strike="noStrike" spc="-1" dirty="0">
                <a:solidFill>
                  <a:srgbClr val="000000"/>
                </a:solidFill>
                <a:latin typeface="Times New Roman"/>
                <a:ea typeface="DejaVu Sans"/>
              </a:rPr>
              <a:t> for missions and events. This has directly contributed to the enjoyable experience of those attending missions, even when it’s sometimes at the expense of the Zeus’s own enjoyment. </a:t>
            </a:r>
            <a:endParaRPr lang="en-IN" sz="1800" b="0" strike="noStrike" spc="-1" dirty="0">
              <a:solidFill>
                <a:srgbClr val="000000"/>
              </a:solidFill>
              <a:latin typeface="Arial"/>
            </a:endParaRPr>
          </a:p>
        </p:txBody>
      </p:sp>
      <p:pic>
        <p:nvPicPr>
          <p:cNvPr id="121" name="Picture 23"/>
          <p:cNvPicPr/>
          <p:nvPr/>
        </p:nvPicPr>
        <p:blipFill>
          <a:blip r:embed="rId6"/>
          <a:stretch/>
        </p:blipFill>
        <p:spPr>
          <a:xfrm>
            <a:off x="6594840" y="843120"/>
            <a:ext cx="848520" cy="1798560"/>
          </a:xfrm>
          <a:prstGeom prst="rect">
            <a:avLst/>
          </a:prstGeom>
          <a:ln w="0">
            <a:noFill/>
          </a:ln>
        </p:spPr>
      </p:pic>
      <p:sp>
        <p:nvSpPr>
          <p:cNvPr id="2" name="TextBox 33">
            <a:extLst>
              <a:ext uri="{FF2B5EF4-FFF2-40B4-BE49-F238E27FC236}">
                <a16:creationId xmlns:a16="http://schemas.microsoft.com/office/drawing/2014/main" id="{F42587B7-5DBA-6EE1-58ED-0CA29B043F76}"/>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sp>
        <p:nvSpPr>
          <p:cNvPr id="3" name="Google Shape;90;p1">
            <a:extLst>
              <a:ext uri="{FF2B5EF4-FFF2-40B4-BE49-F238E27FC236}">
                <a16:creationId xmlns:a16="http://schemas.microsoft.com/office/drawing/2014/main" id="{26C86E72-F8D0-828E-637C-9BA8C2235314}"/>
              </a:ext>
            </a:extLst>
          </p:cNvPr>
          <p:cNvSpPr/>
          <p:nvPr/>
        </p:nvSpPr>
        <p:spPr>
          <a:xfrm>
            <a:off x="4967670" y="6749098"/>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4" name="Google Shape;347;p28">
            <a:extLst>
              <a:ext uri="{FF2B5EF4-FFF2-40B4-BE49-F238E27FC236}">
                <a16:creationId xmlns:a16="http://schemas.microsoft.com/office/drawing/2014/main" id="{4DACFADD-04BA-F155-FEFA-8641F328E29E}"/>
              </a:ext>
            </a:extLst>
          </p:cNvPr>
          <p:cNvSpPr/>
          <p:nvPr/>
        </p:nvSpPr>
        <p:spPr>
          <a:xfrm>
            <a:off x="4914480" y="6279714"/>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3" name="Picture 16"/>
          <p:cNvPicPr/>
          <p:nvPr/>
        </p:nvPicPr>
        <p:blipFill>
          <a:blip r:embed="rId2"/>
          <a:stretch/>
        </p:blipFill>
        <p:spPr>
          <a:xfrm>
            <a:off x="819000" y="714240"/>
            <a:ext cx="12428640" cy="7104240"/>
          </a:xfrm>
          <a:prstGeom prst="rect">
            <a:avLst/>
          </a:prstGeom>
          <a:ln w="0">
            <a:noFill/>
          </a:ln>
        </p:spPr>
      </p:pic>
      <p:pic>
        <p:nvPicPr>
          <p:cNvPr id="124" name="Picture 19"/>
          <p:cNvPicPr/>
          <p:nvPr/>
        </p:nvPicPr>
        <p:blipFill>
          <a:blip r:embed="rId3"/>
          <a:srcRect l="10028" t="12536" r="10465" b="20264"/>
          <a:stretch/>
        </p:blipFill>
        <p:spPr>
          <a:xfrm>
            <a:off x="0" y="3240"/>
            <a:ext cx="14038560" cy="8455320"/>
          </a:xfrm>
          <a:prstGeom prst="rect">
            <a:avLst/>
          </a:prstGeom>
          <a:ln w="0">
            <a:noFill/>
          </a:ln>
        </p:spPr>
      </p:pic>
      <p:sp>
        <p:nvSpPr>
          <p:cNvPr id="125" name="TextBox 7"/>
          <p:cNvSpPr/>
          <p:nvPr/>
        </p:nvSpPr>
        <p:spPr>
          <a:xfrm>
            <a:off x="1668960" y="2526120"/>
            <a:ext cx="10736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AUSTRALIAN SPECIAL OPERATIONS TASKFORCE</a:t>
            </a:r>
            <a:endParaRPr lang="en-IN" sz="3600" b="0" strike="noStrike" spc="-1">
              <a:solidFill>
                <a:srgbClr val="000000"/>
              </a:solidFill>
              <a:latin typeface="Arial"/>
            </a:endParaRPr>
          </a:p>
        </p:txBody>
      </p:sp>
      <p:sp>
        <p:nvSpPr>
          <p:cNvPr id="126" name="TextBox 8"/>
          <p:cNvSpPr/>
          <p:nvPr/>
        </p:nvSpPr>
        <p:spPr>
          <a:xfrm>
            <a:off x="4094640" y="2918160"/>
            <a:ext cx="607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This is to certify that command has awarded the</a:t>
            </a:r>
            <a:r>
              <a:rPr lang="en-AU" sz="3600" b="0" strike="noStrike" spc="-1">
                <a:solidFill>
                  <a:srgbClr val="000000"/>
                </a:solidFill>
                <a:latin typeface="Times New Roman"/>
                <a:ea typeface="DejaVu Sans"/>
              </a:rPr>
              <a:t> </a:t>
            </a:r>
            <a:endParaRPr lang="en-IN" sz="3600" b="0" strike="noStrike" spc="-1">
              <a:solidFill>
                <a:srgbClr val="000000"/>
              </a:solidFill>
              <a:latin typeface="Arial"/>
            </a:endParaRPr>
          </a:p>
        </p:txBody>
      </p:sp>
      <p:sp>
        <p:nvSpPr>
          <p:cNvPr id="127" name="TextBox 9"/>
          <p:cNvSpPr/>
          <p:nvPr/>
        </p:nvSpPr>
        <p:spPr>
          <a:xfrm>
            <a:off x="5573160" y="4307400"/>
            <a:ext cx="29275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endParaRPr lang="en-IN" sz="1800" b="0" strike="noStrike" spc="-1">
              <a:solidFill>
                <a:srgbClr val="000000"/>
              </a:solidFill>
              <a:latin typeface="Arial"/>
            </a:endParaRPr>
          </a:p>
        </p:txBody>
      </p:sp>
      <p:sp>
        <p:nvSpPr>
          <p:cNvPr id="128" name="TextBox 10"/>
          <p:cNvSpPr/>
          <p:nvPr/>
        </p:nvSpPr>
        <p:spPr>
          <a:xfrm>
            <a:off x="4533480" y="3421440"/>
            <a:ext cx="49712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Architect Award</a:t>
            </a:r>
            <a:endParaRPr lang="en-IN" sz="3600" b="0" strike="noStrike" spc="-1">
              <a:solidFill>
                <a:srgbClr val="000000"/>
              </a:solidFill>
              <a:latin typeface="Arial"/>
            </a:endParaRPr>
          </a:p>
        </p:txBody>
      </p:sp>
      <p:sp>
        <p:nvSpPr>
          <p:cNvPr id="129" name="TextBox 11"/>
          <p:cNvSpPr/>
          <p:nvPr/>
        </p:nvSpPr>
        <p:spPr>
          <a:xfrm>
            <a:off x="6723360" y="3931920"/>
            <a:ext cx="5914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TO</a:t>
            </a:r>
            <a:endParaRPr lang="en-IN" sz="2400" b="0" strike="noStrike" spc="-1">
              <a:solidFill>
                <a:srgbClr val="000000"/>
              </a:solidFill>
              <a:latin typeface="Arial"/>
            </a:endParaRPr>
          </a:p>
        </p:txBody>
      </p:sp>
      <p:sp>
        <p:nvSpPr>
          <p:cNvPr id="130" name="TextBox 12"/>
          <p:cNvSpPr/>
          <p:nvPr/>
        </p:nvSpPr>
        <p:spPr>
          <a:xfrm>
            <a:off x="1805040" y="4825800"/>
            <a:ext cx="10456920" cy="92187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800" b="0" strike="noStrike" spc="-1" dirty="0">
                <a:solidFill>
                  <a:srgbClr val="000000"/>
                </a:solidFill>
                <a:latin typeface="Times New Roman"/>
                <a:ea typeface="DejaVu Sans"/>
              </a:rPr>
              <a:t>{name} has shown a high level of dedication towards mission making, </a:t>
            </a:r>
            <a:r>
              <a:rPr lang="en-AU" sz="1800" b="0" strike="noStrike" spc="-1" dirty="0" err="1">
                <a:solidFill>
                  <a:srgbClr val="000000"/>
                </a:solidFill>
                <a:latin typeface="Times New Roman"/>
                <a:ea typeface="DejaVu Sans"/>
              </a:rPr>
              <a:t>Zeusing</a:t>
            </a:r>
            <a:r>
              <a:rPr lang="en-AU" sz="1800" b="0" strike="noStrike" spc="-1" dirty="0">
                <a:solidFill>
                  <a:srgbClr val="000000"/>
                </a:solidFill>
                <a:latin typeface="Times New Roman"/>
                <a:ea typeface="DejaVu Sans"/>
              </a:rPr>
              <a:t> of missions and assisting other members with mission creation and general editing knowledge. Mission making is the life blood of the unit and enables us to conduct operations regularly and to such a high standard. </a:t>
            </a:r>
            <a:endParaRPr lang="en-IN" sz="1800" b="0" strike="noStrike" spc="-1" dirty="0">
              <a:solidFill>
                <a:srgbClr val="000000"/>
              </a:solidFill>
              <a:latin typeface="Arial"/>
            </a:endParaRPr>
          </a:p>
        </p:txBody>
      </p:sp>
      <p:cxnSp>
        <p:nvCxnSpPr>
          <p:cNvPr id="133" name="Straight Connector 31"/>
          <p:cNvCxnSpPr/>
          <p:nvPr/>
        </p:nvCxnSpPr>
        <p:spPr>
          <a:xfrm flipH="1">
            <a:off x="5849280" y="6801480"/>
            <a:ext cx="2452680" cy="1440"/>
          </a:xfrm>
          <a:prstGeom prst="straightConnector1">
            <a:avLst/>
          </a:prstGeom>
          <a:ln w="12700">
            <a:solidFill>
              <a:srgbClr val="000000"/>
            </a:solidFill>
            <a:round/>
          </a:ln>
        </p:spPr>
      </p:cxnSp>
      <p:sp>
        <p:nvSpPr>
          <p:cNvPr id="134" name="TextBox 32"/>
          <p:cNvSpPr/>
          <p:nvPr/>
        </p:nvSpPr>
        <p:spPr>
          <a:xfrm>
            <a:off x="2003760" y="5676480"/>
            <a:ext cx="1003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800" b="0" strike="noStrike" spc="-1">
                <a:solidFill>
                  <a:srgbClr val="000000"/>
                </a:solidFill>
                <a:latin typeface="Times New Roman"/>
                <a:ea typeface="DejaVu Sans"/>
              </a:rPr>
              <a:t>On today’s date, </a:t>
            </a:r>
            <a:r>
              <a:rPr lang="en-AU" sz="1800" b="0" i="1" strike="noStrike" spc="-1">
                <a:solidFill>
                  <a:srgbClr val="000000"/>
                </a:solidFill>
                <a:latin typeface="Times New Roman"/>
                <a:ea typeface="DejaVu Sans"/>
              </a:rPr>
              <a:t>{dateNumber}</a:t>
            </a:r>
            <a:r>
              <a:rPr lang="en-AU" sz="1800" b="0" i="1" strike="noStrike" spc="-1" baseline="30000">
                <a:solidFill>
                  <a:srgbClr val="000000"/>
                </a:solidFill>
                <a:latin typeface="Times New Roman"/>
                <a:ea typeface="DejaVu Sans"/>
              </a:rPr>
              <a:t>{suffix}</a:t>
            </a:r>
            <a:r>
              <a:rPr lang="en-AU" sz="1800" b="0" i="1" strike="noStrike" spc="-1">
                <a:solidFill>
                  <a:srgbClr val="000000"/>
                </a:solidFill>
                <a:latin typeface="Times New Roman"/>
                <a:ea typeface="DejaVu Sans"/>
              </a:rPr>
              <a:t> {date}</a:t>
            </a:r>
            <a:r>
              <a:rPr lang="en-AU" sz="1800" b="0" strike="noStrike" spc="-1">
                <a:solidFill>
                  <a:srgbClr val="000000"/>
                </a:solidFill>
                <a:latin typeface="Times New Roman"/>
                <a:ea typeface="DejaVu Sans"/>
              </a:rPr>
              <a:t>, {name} is therefore awarded the </a:t>
            </a:r>
            <a:br>
              <a:rPr sz="1800"/>
            </a:br>
            <a:r>
              <a:rPr lang="en-AU" sz="1800" b="0" strike="noStrike" spc="-1">
                <a:solidFill>
                  <a:srgbClr val="000000"/>
                </a:solidFill>
                <a:latin typeface="Times New Roman"/>
                <a:ea typeface="DejaVu Sans"/>
              </a:rPr>
              <a:t>Architect Award. </a:t>
            </a:r>
            <a:endParaRPr lang="en-IN" sz="1800" b="0" strike="noStrike" spc="-1">
              <a:solidFill>
                <a:srgbClr val="000000"/>
              </a:solidFill>
              <a:latin typeface="Arial"/>
            </a:endParaRPr>
          </a:p>
        </p:txBody>
      </p:sp>
      <p:pic>
        <p:nvPicPr>
          <p:cNvPr id="135" name="Picture 2"/>
          <p:cNvPicPr/>
          <p:nvPr/>
        </p:nvPicPr>
        <p:blipFill>
          <a:blip r:embed="rId4"/>
          <a:stretch/>
        </p:blipFill>
        <p:spPr>
          <a:xfrm>
            <a:off x="10481400" y="6171480"/>
            <a:ext cx="1571040" cy="1370880"/>
          </a:xfrm>
          <a:prstGeom prst="rect">
            <a:avLst/>
          </a:prstGeom>
          <a:ln w="0">
            <a:noFill/>
          </a:ln>
        </p:spPr>
      </p:pic>
      <p:pic>
        <p:nvPicPr>
          <p:cNvPr id="136" name="Picture 4"/>
          <p:cNvPicPr/>
          <p:nvPr/>
        </p:nvPicPr>
        <p:blipFill>
          <a:blip r:embed="rId5"/>
          <a:stretch/>
        </p:blipFill>
        <p:spPr>
          <a:xfrm>
            <a:off x="1668960" y="6107760"/>
            <a:ext cx="1393560" cy="1441080"/>
          </a:xfrm>
          <a:prstGeom prst="rect">
            <a:avLst/>
          </a:prstGeom>
          <a:ln w="0">
            <a:noFill/>
          </a:ln>
        </p:spPr>
      </p:pic>
      <p:pic>
        <p:nvPicPr>
          <p:cNvPr id="137" name="Picture 21"/>
          <p:cNvPicPr/>
          <p:nvPr/>
        </p:nvPicPr>
        <p:blipFill>
          <a:blip r:embed="rId6"/>
          <a:stretch/>
        </p:blipFill>
        <p:spPr>
          <a:xfrm>
            <a:off x="6584400" y="778680"/>
            <a:ext cx="966600" cy="2048400"/>
          </a:xfrm>
          <a:prstGeom prst="rect">
            <a:avLst/>
          </a:prstGeom>
          <a:ln w="0">
            <a:noFill/>
          </a:ln>
        </p:spPr>
      </p:pic>
      <p:sp>
        <p:nvSpPr>
          <p:cNvPr id="2" name="TextBox 33">
            <a:extLst>
              <a:ext uri="{FF2B5EF4-FFF2-40B4-BE49-F238E27FC236}">
                <a16:creationId xmlns:a16="http://schemas.microsoft.com/office/drawing/2014/main" id="{EB097801-1095-C428-8703-775DCFEAF66E}"/>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sp>
        <p:nvSpPr>
          <p:cNvPr id="3" name="Google Shape;90;p1">
            <a:extLst>
              <a:ext uri="{FF2B5EF4-FFF2-40B4-BE49-F238E27FC236}">
                <a16:creationId xmlns:a16="http://schemas.microsoft.com/office/drawing/2014/main" id="{CA7A0A24-22A3-EE05-0E63-98819C77B989}"/>
              </a:ext>
            </a:extLst>
          </p:cNvPr>
          <p:cNvSpPr/>
          <p:nvPr/>
        </p:nvSpPr>
        <p:spPr>
          <a:xfrm>
            <a:off x="4967670" y="6749098"/>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4" name="Google Shape;347;p28">
            <a:extLst>
              <a:ext uri="{FF2B5EF4-FFF2-40B4-BE49-F238E27FC236}">
                <a16:creationId xmlns:a16="http://schemas.microsoft.com/office/drawing/2014/main" id="{91F9D0DA-5555-EE1F-0BF5-8112D83A3EDA}"/>
              </a:ext>
            </a:extLst>
          </p:cNvPr>
          <p:cNvSpPr/>
          <p:nvPr/>
        </p:nvSpPr>
        <p:spPr>
          <a:xfrm>
            <a:off x="4914480" y="6279714"/>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9" name="Picture 38"/>
          <p:cNvPicPr/>
          <p:nvPr/>
        </p:nvPicPr>
        <p:blipFill>
          <a:blip r:embed="rId2"/>
          <a:stretch/>
        </p:blipFill>
        <p:spPr>
          <a:xfrm>
            <a:off x="819000" y="714240"/>
            <a:ext cx="12428640" cy="7104240"/>
          </a:xfrm>
          <a:prstGeom prst="rect">
            <a:avLst/>
          </a:prstGeom>
          <a:ln w="0">
            <a:noFill/>
          </a:ln>
        </p:spPr>
      </p:pic>
      <p:pic>
        <p:nvPicPr>
          <p:cNvPr id="140" name="Picture 20"/>
          <p:cNvPicPr/>
          <p:nvPr/>
        </p:nvPicPr>
        <p:blipFill>
          <a:blip r:embed="rId3"/>
          <a:srcRect l="10028" t="12536" r="10465" b="20264"/>
          <a:stretch/>
        </p:blipFill>
        <p:spPr>
          <a:xfrm>
            <a:off x="0" y="0"/>
            <a:ext cx="14038560" cy="8455320"/>
          </a:xfrm>
          <a:prstGeom prst="rect">
            <a:avLst/>
          </a:prstGeom>
          <a:ln w="0">
            <a:noFill/>
          </a:ln>
        </p:spPr>
      </p:pic>
      <p:sp>
        <p:nvSpPr>
          <p:cNvPr id="141" name="TextBox 7"/>
          <p:cNvSpPr/>
          <p:nvPr/>
        </p:nvSpPr>
        <p:spPr>
          <a:xfrm>
            <a:off x="1668960" y="2526120"/>
            <a:ext cx="10736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AUSTRALIAN SPECIAL OPERATIONS TASKFORCE</a:t>
            </a:r>
            <a:endParaRPr lang="en-IN" sz="3600" b="0" strike="noStrike" spc="-1">
              <a:solidFill>
                <a:srgbClr val="000000"/>
              </a:solidFill>
              <a:latin typeface="Arial"/>
            </a:endParaRPr>
          </a:p>
        </p:txBody>
      </p:sp>
      <p:sp>
        <p:nvSpPr>
          <p:cNvPr id="142" name="TextBox 8"/>
          <p:cNvSpPr/>
          <p:nvPr/>
        </p:nvSpPr>
        <p:spPr>
          <a:xfrm>
            <a:off x="4094640" y="2918160"/>
            <a:ext cx="607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This is to certify that command has awarded the</a:t>
            </a:r>
            <a:r>
              <a:rPr lang="en-AU" sz="3600" b="0" strike="noStrike" spc="-1">
                <a:solidFill>
                  <a:srgbClr val="000000"/>
                </a:solidFill>
                <a:latin typeface="Times New Roman"/>
                <a:ea typeface="DejaVu Sans"/>
              </a:rPr>
              <a:t> </a:t>
            </a:r>
            <a:endParaRPr lang="en-IN" sz="3600" b="0" strike="noStrike" spc="-1">
              <a:solidFill>
                <a:srgbClr val="000000"/>
              </a:solidFill>
              <a:latin typeface="Arial"/>
            </a:endParaRPr>
          </a:p>
        </p:txBody>
      </p:sp>
      <p:sp>
        <p:nvSpPr>
          <p:cNvPr id="143" name="TextBox 9"/>
          <p:cNvSpPr/>
          <p:nvPr/>
        </p:nvSpPr>
        <p:spPr>
          <a:xfrm>
            <a:off x="5573160" y="4307400"/>
            <a:ext cx="29275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endParaRPr lang="en-IN" sz="1800" b="0" strike="noStrike" spc="-1">
              <a:solidFill>
                <a:srgbClr val="000000"/>
              </a:solidFill>
              <a:latin typeface="Arial"/>
            </a:endParaRPr>
          </a:p>
        </p:txBody>
      </p:sp>
      <p:sp>
        <p:nvSpPr>
          <p:cNvPr id="144" name="TextBox 10"/>
          <p:cNvSpPr/>
          <p:nvPr/>
        </p:nvSpPr>
        <p:spPr>
          <a:xfrm>
            <a:off x="4411800" y="3396240"/>
            <a:ext cx="53254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Beyond Award</a:t>
            </a:r>
            <a:endParaRPr lang="en-IN" sz="3600" b="0" strike="noStrike" spc="-1">
              <a:solidFill>
                <a:srgbClr val="000000"/>
              </a:solidFill>
              <a:latin typeface="Arial"/>
            </a:endParaRPr>
          </a:p>
        </p:txBody>
      </p:sp>
      <p:sp>
        <p:nvSpPr>
          <p:cNvPr id="145" name="TextBox 11"/>
          <p:cNvSpPr/>
          <p:nvPr/>
        </p:nvSpPr>
        <p:spPr>
          <a:xfrm>
            <a:off x="6723360" y="3931920"/>
            <a:ext cx="5914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TO</a:t>
            </a:r>
            <a:endParaRPr lang="en-IN" sz="2400" b="0" strike="noStrike" spc="-1">
              <a:solidFill>
                <a:srgbClr val="000000"/>
              </a:solidFill>
              <a:latin typeface="Arial"/>
            </a:endParaRPr>
          </a:p>
        </p:txBody>
      </p:sp>
      <p:sp>
        <p:nvSpPr>
          <p:cNvPr id="146" name="TextBox 12"/>
          <p:cNvSpPr/>
          <p:nvPr/>
        </p:nvSpPr>
        <p:spPr>
          <a:xfrm>
            <a:off x="1504350" y="4869900"/>
            <a:ext cx="11057040" cy="1004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000" b="0" strike="noStrike" spc="-1" dirty="0">
                <a:solidFill>
                  <a:srgbClr val="000000"/>
                </a:solidFill>
                <a:latin typeface="Times New Roman"/>
                <a:ea typeface="DejaVu Sans"/>
              </a:rPr>
              <a:t>{name} has continuously displayed ASOT’s values, standards and ethics above the expected levels with the utmost enthusiasm and dedication. they have performed professionally, maturely and displayed personality traits to the highest level which has directly contributed to the improvement of the unit. </a:t>
            </a:r>
            <a:endParaRPr lang="en-IN" sz="2000" b="0" strike="noStrike" spc="-1" dirty="0">
              <a:solidFill>
                <a:srgbClr val="000000"/>
              </a:solidFill>
              <a:latin typeface="Arial"/>
            </a:endParaRPr>
          </a:p>
        </p:txBody>
      </p:sp>
      <p:cxnSp>
        <p:nvCxnSpPr>
          <p:cNvPr id="149" name="Straight Connector 31"/>
          <p:cNvCxnSpPr/>
          <p:nvPr/>
        </p:nvCxnSpPr>
        <p:spPr>
          <a:xfrm flipH="1">
            <a:off x="5849280" y="6801480"/>
            <a:ext cx="2452680" cy="1440"/>
          </a:xfrm>
          <a:prstGeom prst="straightConnector1">
            <a:avLst/>
          </a:prstGeom>
          <a:ln w="12700">
            <a:solidFill>
              <a:srgbClr val="000000"/>
            </a:solidFill>
            <a:round/>
          </a:ln>
        </p:spPr>
      </p:cxnSp>
      <p:sp>
        <p:nvSpPr>
          <p:cNvPr id="150" name="TextBox 32"/>
          <p:cNvSpPr/>
          <p:nvPr/>
        </p:nvSpPr>
        <p:spPr>
          <a:xfrm>
            <a:off x="2017530" y="5789548"/>
            <a:ext cx="10030680" cy="39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000" b="0" strike="noStrike" spc="-1" dirty="0">
                <a:solidFill>
                  <a:srgbClr val="000000"/>
                </a:solidFill>
                <a:latin typeface="Times New Roman"/>
                <a:ea typeface="DejaVu Sans"/>
              </a:rPr>
              <a:t>On today’s date, </a:t>
            </a:r>
            <a:r>
              <a:rPr lang="en-AU" sz="2000" b="0" i="1" strike="noStrike" spc="-1" dirty="0">
                <a:solidFill>
                  <a:srgbClr val="000000"/>
                </a:solidFill>
                <a:latin typeface="Times New Roman"/>
                <a:ea typeface="DejaVu Sans"/>
              </a:rPr>
              <a:t>{</a:t>
            </a:r>
            <a:r>
              <a:rPr lang="en-AU" sz="2000" b="0" i="1" strike="noStrike" spc="-1" dirty="0" err="1">
                <a:solidFill>
                  <a:srgbClr val="000000"/>
                </a:solidFill>
                <a:latin typeface="Times New Roman"/>
                <a:ea typeface="DejaVu Sans"/>
              </a:rPr>
              <a:t>dateNumber</a:t>
            </a:r>
            <a:r>
              <a:rPr lang="en-AU" sz="2000" b="0" i="1" strike="noStrike" spc="-1" dirty="0">
                <a:solidFill>
                  <a:srgbClr val="000000"/>
                </a:solidFill>
                <a:latin typeface="Times New Roman"/>
                <a:ea typeface="DejaVu Sans"/>
              </a:rPr>
              <a:t>}</a:t>
            </a:r>
            <a:r>
              <a:rPr lang="en-AU" sz="2000" b="0" i="1" strike="noStrike" spc="-1" baseline="30000" dirty="0">
                <a:solidFill>
                  <a:srgbClr val="000000"/>
                </a:solidFill>
                <a:latin typeface="Times New Roman"/>
                <a:ea typeface="DejaVu Sans"/>
              </a:rPr>
              <a:t>{suffix}</a:t>
            </a:r>
            <a:r>
              <a:rPr lang="en-AU" sz="2000" b="0" i="1" strike="noStrike" spc="-1" dirty="0">
                <a:solidFill>
                  <a:srgbClr val="000000"/>
                </a:solidFill>
                <a:latin typeface="Times New Roman"/>
                <a:ea typeface="DejaVu Sans"/>
              </a:rPr>
              <a:t> {date}</a:t>
            </a:r>
            <a:r>
              <a:rPr lang="en-AU" sz="2000" b="0" strike="noStrike" spc="-1" dirty="0">
                <a:solidFill>
                  <a:srgbClr val="000000"/>
                </a:solidFill>
                <a:latin typeface="Times New Roman"/>
                <a:ea typeface="DejaVu Sans"/>
              </a:rPr>
              <a:t>, {name} is therefore awarded the Beyond Award.</a:t>
            </a:r>
            <a:endParaRPr lang="en-IN" sz="2000" b="0" strike="noStrike" spc="-1" dirty="0">
              <a:solidFill>
                <a:srgbClr val="000000"/>
              </a:solidFill>
              <a:latin typeface="Arial"/>
            </a:endParaRPr>
          </a:p>
        </p:txBody>
      </p:sp>
      <p:pic>
        <p:nvPicPr>
          <p:cNvPr id="151" name="Picture 2"/>
          <p:cNvPicPr/>
          <p:nvPr/>
        </p:nvPicPr>
        <p:blipFill>
          <a:blip r:embed="rId4"/>
          <a:stretch/>
        </p:blipFill>
        <p:spPr>
          <a:xfrm>
            <a:off x="8951400" y="6212160"/>
            <a:ext cx="1571040" cy="1370880"/>
          </a:xfrm>
          <a:prstGeom prst="rect">
            <a:avLst/>
          </a:prstGeom>
          <a:ln w="0">
            <a:noFill/>
          </a:ln>
        </p:spPr>
      </p:pic>
      <p:pic>
        <p:nvPicPr>
          <p:cNvPr id="152" name="Picture 4"/>
          <p:cNvPicPr/>
          <p:nvPr/>
        </p:nvPicPr>
        <p:blipFill>
          <a:blip r:embed="rId5"/>
          <a:stretch/>
        </p:blipFill>
        <p:spPr>
          <a:xfrm>
            <a:off x="3803760" y="6226920"/>
            <a:ext cx="1393560" cy="1441080"/>
          </a:xfrm>
          <a:prstGeom prst="rect">
            <a:avLst/>
          </a:prstGeom>
          <a:ln w="0">
            <a:noFill/>
          </a:ln>
        </p:spPr>
      </p:pic>
      <p:pic>
        <p:nvPicPr>
          <p:cNvPr id="153" name="Picture 17"/>
          <p:cNvPicPr/>
          <p:nvPr/>
        </p:nvPicPr>
        <p:blipFill>
          <a:blip r:embed="rId6"/>
          <a:stretch/>
        </p:blipFill>
        <p:spPr>
          <a:xfrm>
            <a:off x="878400" y="738360"/>
            <a:ext cx="2390400" cy="2432520"/>
          </a:xfrm>
          <a:prstGeom prst="rect">
            <a:avLst/>
          </a:prstGeom>
          <a:ln w="0">
            <a:noFill/>
          </a:ln>
        </p:spPr>
      </p:pic>
      <p:pic>
        <p:nvPicPr>
          <p:cNvPr id="154" name="Picture 25"/>
          <p:cNvPicPr/>
          <p:nvPr/>
        </p:nvPicPr>
        <p:blipFill>
          <a:blip r:embed="rId6"/>
          <a:stretch/>
        </p:blipFill>
        <p:spPr>
          <a:xfrm rot="5400000">
            <a:off x="10821600" y="741600"/>
            <a:ext cx="2406600" cy="2449080"/>
          </a:xfrm>
          <a:prstGeom prst="rect">
            <a:avLst/>
          </a:prstGeom>
          <a:ln w="0">
            <a:noFill/>
          </a:ln>
        </p:spPr>
      </p:pic>
      <p:pic>
        <p:nvPicPr>
          <p:cNvPr id="155" name="Picture 29"/>
          <p:cNvPicPr/>
          <p:nvPr/>
        </p:nvPicPr>
        <p:blipFill>
          <a:blip r:embed="rId6"/>
          <a:stretch/>
        </p:blipFill>
        <p:spPr>
          <a:xfrm rot="16200000">
            <a:off x="857160" y="5352480"/>
            <a:ext cx="2390400" cy="2432520"/>
          </a:xfrm>
          <a:prstGeom prst="rect">
            <a:avLst/>
          </a:prstGeom>
          <a:ln w="0">
            <a:noFill/>
          </a:ln>
        </p:spPr>
      </p:pic>
      <p:pic>
        <p:nvPicPr>
          <p:cNvPr id="156" name="Picture 30"/>
          <p:cNvPicPr/>
          <p:nvPr/>
        </p:nvPicPr>
        <p:blipFill>
          <a:blip r:embed="rId6"/>
          <a:stretch/>
        </p:blipFill>
        <p:spPr>
          <a:xfrm rot="10800000">
            <a:off x="10797120" y="5344560"/>
            <a:ext cx="2406600" cy="2449080"/>
          </a:xfrm>
          <a:prstGeom prst="rect">
            <a:avLst/>
          </a:prstGeom>
          <a:ln w="0">
            <a:noFill/>
          </a:ln>
        </p:spPr>
      </p:pic>
      <p:pic>
        <p:nvPicPr>
          <p:cNvPr id="157" name="Picture 33"/>
          <p:cNvPicPr/>
          <p:nvPr/>
        </p:nvPicPr>
        <p:blipFill>
          <a:blip r:embed="rId7"/>
          <a:stretch/>
        </p:blipFill>
        <p:spPr>
          <a:xfrm>
            <a:off x="6539400" y="788040"/>
            <a:ext cx="987840" cy="2093040"/>
          </a:xfrm>
          <a:prstGeom prst="rect">
            <a:avLst/>
          </a:prstGeom>
          <a:ln w="0">
            <a:noFill/>
          </a:ln>
        </p:spPr>
      </p:pic>
      <p:sp>
        <p:nvSpPr>
          <p:cNvPr id="2" name="TextBox 33">
            <a:extLst>
              <a:ext uri="{FF2B5EF4-FFF2-40B4-BE49-F238E27FC236}">
                <a16:creationId xmlns:a16="http://schemas.microsoft.com/office/drawing/2014/main" id="{FAF04C5E-FF75-82AB-A992-30966641059C}"/>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sp>
        <p:nvSpPr>
          <p:cNvPr id="3" name="Google Shape;90;p1">
            <a:extLst>
              <a:ext uri="{FF2B5EF4-FFF2-40B4-BE49-F238E27FC236}">
                <a16:creationId xmlns:a16="http://schemas.microsoft.com/office/drawing/2014/main" id="{C07DD55F-5F36-E355-B26E-8CAFEAE99AB8}"/>
              </a:ext>
            </a:extLst>
          </p:cNvPr>
          <p:cNvSpPr/>
          <p:nvPr/>
        </p:nvSpPr>
        <p:spPr>
          <a:xfrm>
            <a:off x="4967670" y="6749098"/>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4" name="Google Shape;347;p28">
            <a:extLst>
              <a:ext uri="{FF2B5EF4-FFF2-40B4-BE49-F238E27FC236}">
                <a16:creationId xmlns:a16="http://schemas.microsoft.com/office/drawing/2014/main" id="{C359605F-0EB0-88FD-0319-2C34BAA0BE82}"/>
              </a:ext>
            </a:extLst>
          </p:cNvPr>
          <p:cNvSpPr/>
          <p:nvPr/>
        </p:nvSpPr>
        <p:spPr>
          <a:xfrm>
            <a:off x="4914480" y="6279714"/>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9" name="Picture 16"/>
          <p:cNvPicPr/>
          <p:nvPr/>
        </p:nvPicPr>
        <p:blipFill>
          <a:blip r:embed="rId2"/>
          <a:stretch/>
        </p:blipFill>
        <p:spPr>
          <a:xfrm>
            <a:off x="819000" y="714240"/>
            <a:ext cx="12428640" cy="7104240"/>
          </a:xfrm>
          <a:prstGeom prst="rect">
            <a:avLst/>
          </a:prstGeom>
          <a:ln w="0">
            <a:noFill/>
          </a:ln>
        </p:spPr>
      </p:pic>
      <p:pic>
        <p:nvPicPr>
          <p:cNvPr id="160" name="Picture 19"/>
          <p:cNvPicPr/>
          <p:nvPr/>
        </p:nvPicPr>
        <p:blipFill>
          <a:blip r:embed="rId3"/>
          <a:srcRect l="10028" t="12536" r="10465" b="20264"/>
          <a:stretch/>
        </p:blipFill>
        <p:spPr>
          <a:xfrm>
            <a:off x="0" y="3240"/>
            <a:ext cx="14038560" cy="8455320"/>
          </a:xfrm>
          <a:prstGeom prst="rect">
            <a:avLst/>
          </a:prstGeom>
          <a:ln w="0">
            <a:noFill/>
          </a:ln>
        </p:spPr>
      </p:pic>
      <p:sp>
        <p:nvSpPr>
          <p:cNvPr id="161" name="TextBox 7"/>
          <p:cNvSpPr/>
          <p:nvPr/>
        </p:nvSpPr>
        <p:spPr>
          <a:xfrm>
            <a:off x="1668960" y="2526120"/>
            <a:ext cx="10736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AUSTRALIAN SPECIAL OPERATIONS TASKFORCE</a:t>
            </a:r>
            <a:endParaRPr lang="en-IN" sz="3600" b="0" strike="noStrike" spc="-1">
              <a:solidFill>
                <a:srgbClr val="000000"/>
              </a:solidFill>
              <a:latin typeface="Arial"/>
            </a:endParaRPr>
          </a:p>
        </p:txBody>
      </p:sp>
      <p:sp>
        <p:nvSpPr>
          <p:cNvPr id="162" name="TextBox 8"/>
          <p:cNvSpPr/>
          <p:nvPr/>
        </p:nvSpPr>
        <p:spPr>
          <a:xfrm>
            <a:off x="4094640" y="2918160"/>
            <a:ext cx="607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This is to certify that command has awarded the</a:t>
            </a:r>
            <a:r>
              <a:rPr lang="en-AU" sz="3600" b="0" strike="noStrike" spc="-1">
                <a:solidFill>
                  <a:srgbClr val="000000"/>
                </a:solidFill>
                <a:latin typeface="Times New Roman"/>
                <a:ea typeface="DejaVu Sans"/>
              </a:rPr>
              <a:t> </a:t>
            </a:r>
            <a:endParaRPr lang="en-IN" sz="3600" b="0" strike="noStrike" spc="-1">
              <a:solidFill>
                <a:srgbClr val="000000"/>
              </a:solidFill>
              <a:latin typeface="Arial"/>
            </a:endParaRPr>
          </a:p>
        </p:txBody>
      </p:sp>
      <p:sp>
        <p:nvSpPr>
          <p:cNvPr id="163" name="TextBox 9"/>
          <p:cNvSpPr/>
          <p:nvPr/>
        </p:nvSpPr>
        <p:spPr>
          <a:xfrm>
            <a:off x="5573160" y="4307400"/>
            <a:ext cx="29275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endParaRPr lang="en-IN" sz="1800" b="0" strike="noStrike" spc="-1">
              <a:solidFill>
                <a:srgbClr val="000000"/>
              </a:solidFill>
              <a:latin typeface="Arial"/>
            </a:endParaRPr>
          </a:p>
        </p:txBody>
      </p:sp>
      <p:sp>
        <p:nvSpPr>
          <p:cNvPr id="164" name="TextBox 10"/>
          <p:cNvSpPr/>
          <p:nvPr/>
        </p:nvSpPr>
        <p:spPr>
          <a:xfrm>
            <a:off x="4533480" y="3421440"/>
            <a:ext cx="49712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Broken Lance Award</a:t>
            </a:r>
            <a:endParaRPr lang="en-IN" sz="3600" b="0" strike="noStrike" spc="-1">
              <a:solidFill>
                <a:srgbClr val="000000"/>
              </a:solidFill>
              <a:latin typeface="Arial"/>
            </a:endParaRPr>
          </a:p>
        </p:txBody>
      </p:sp>
      <p:sp>
        <p:nvSpPr>
          <p:cNvPr id="165" name="TextBox 11"/>
          <p:cNvSpPr/>
          <p:nvPr/>
        </p:nvSpPr>
        <p:spPr>
          <a:xfrm>
            <a:off x="6723360" y="3931920"/>
            <a:ext cx="5914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TO</a:t>
            </a:r>
            <a:endParaRPr lang="en-IN" sz="2400" b="0" strike="noStrike" spc="-1">
              <a:solidFill>
                <a:srgbClr val="000000"/>
              </a:solidFill>
              <a:latin typeface="Arial"/>
            </a:endParaRPr>
          </a:p>
        </p:txBody>
      </p:sp>
      <p:cxnSp>
        <p:nvCxnSpPr>
          <p:cNvPr id="168" name="Straight Connector 31"/>
          <p:cNvCxnSpPr/>
          <p:nvPr/>
        </p:nvCxnSpPr>
        <p:spPr>
          <a:xfrm flipH="1">
            <a:off x="5849280" y="6801480"/>
            <a:ext cx="2452680" cy="1440"/>
          </a:xfrm>
          <a:prstGeom prst="straightConnector1">
            <a:avLst/>
          </a:prstGeom>
          <a:ln w="12700">
            <a:solidFill>
              <a:srgbClr val="000000"/>
            </a:solidFill>
            <a:round/>
          </a:ln>
        </p:spPr>
      </p:cxnSp>
      <p:sp>
        <p:nvSpPr>
          <p:cNvPr id="169" name="TextBox 32"/>
          <p:cNvSpPr/>
          <p:nvPr/>
        </p:nvSpPr>
        <p:spPr>
          <a:xfrm>
            <a:off x="2021760" y="5599440"/>
            <a:ext cx="10030680" cy="70643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000" b="0" strike="noStrike" spc="-1" dirty="0">
                <a:solidFill>
                  <a:srgbClr val="000000"/>
                </a:solidFill>
                <a:latin typeface="Times New Roman"/>
                <a:ea typeface="DejaVu Sans"/>
              </a:rPr>
              <a:t>On today’s date, </a:t>
            </a:r>
            <a:r>
              <a:rPr lang="en-AU" sz="2000" b="0" i="1" strike="noStrike" spc="-1" dirty="0">
                <a:solidFill>
                  <a:srgbClr val="000000"/>
                </a:solidFill>
                <a:latin typeface="Times New Roman"/>
                <a:ea typeface="DejaVu Sans"/>
              </a:rPr>
              <a:t>{</a:t>
            </a:r>
            <a:r>
              <a:rPr lang="en-AU" sz="2000" b="0" i="1" strike="noStrike" spc="-1" dirty="0" err="1">
                <a:solidFill>
                  <a:srgbClr val="000000"/>
                </a:solidFill>
                <a:latin typeface="Times New Roman"/>
                <a:ea typeface="DejaVu Sans"/>
              </a:rPr>
              <a:t>dateNumber</a:t>
            </a:r>
            <a:r>
              <a:rPr lang="en-AU" sz="2000" b="0" i="1" strike="noStrike" spc="-1" dirty="0">
                <a:solidFill>
                  <a:srgbClr val="000000"/>
                </a:solidFill>
                <a:latin typeface="Times New Roman"/>
                <a:ea typeface="DejaVu Sans"/>
              </a:rPr>
              <a:t>}</a:t>
            </a:r>
            <a:r>
              <a:rPr lang="en-AU" sz="2000" b="0" i="1" strike="noStrike" spc="-1" baseline="30000" dirty="0">
                <a:solidFill>
                  <a:srgbClr val="000000"/>
                </a:solidFill>
                <a:latin typeface="Times New Roman"/>
                <a:ea typeface="DejaVu Sans"/>
              </a:rPr>
              <a:t>{suffix}</a:t>
            </a:r>
            <a:r>
              <a:rPr lang="en-AU" sz="2000" b="0" i="1" strike="noStrike" spc="-1" dirty="0">
                <a:solidFill>
                  <a:srgbClr val="000000"/>
                </a:solidFill>
                <a:latin typeface="Times New Roman"/>
                <a:ea typeface="DejaVu Sans"/>
              </a:rPr>
              <a:t> {date}</a:t>
            </a:r>
            <a:r>
              <a:rPr lang="en-AU" sz="2000" b="0" strike="noStrike" spc="-1" dirty="0">
                <a:solidFill>
                  <a:srgbClr val="000000"/>
                </a:solidFill>
                <a:latin typeface="Times New Roman"/>
                <a:ea typeface="DejaVu Sans"/>
              </a:rPr>
              <a:t>, {name} is therefore awarded the </a:t>
            </a:r>
            <a:br>
              <a:rPr sz="2000" dirty="0"/>
            </a:br>
            <a:r>
              <a:rPr lang="en-AU" sz="2000" b="0" strike="noStrike" spc="-1" dirty="0">
                <a:solidFill>
                  <a:srgbClr val="000000"/>
                </a:solidFill>
                <a:latin typeface="Times New Roman"/>
                <a:ea typeface="DejaVu Sans"/>
              </a:rPr>
              <a:t>Broken Lance Award. </a:t>
            </a:r>
            <a:endParaRPr lang="en-IN" sz="2000" b="0" strike="noStrike" spc="-1" dirty="0">
              <a:solidFill>
                <a:srgbClr val="000000"/>
              </a:solidFill>
              <a:latin typeface="Arial"/>
            </a:endParaRPr>
          </a:p>
        </p:txBody>
      </p:sp>
      <p:pic>
        <p:nvPicPr>
          <p:cNvPr id="170" name="Picture 2"/>
          <p:cNvPicPr/>
          <p:nvPr/>
        </p:nvPicPr>
        <p:blipFill>
          <a:blip r:embed="rId4"/>
          <a:stretch/>
        </p:blipFill>
        <p:spPr>
          <a:xfrm>
            <a:off x="10481400" y="6171480"/>
            <a:ext cx="1571040" cy="1370880"/>
          </a:xfrm>
          <a:prstGeom prst="rect">
            <a:avLst/>
          </a:prstGeom>
          <a:ln w="0">
            <a:noFill/>
          </a:ln>
        </p:spPr>
      </p:pic>
      <p:pic>
        <p:nvPicPr>
          <p:cNvPr id="171" name="Picture 4"/>
          <p:cNvPicPr/>
          <p:nvPr/>
        </p:nvPicPr>
        <p:blipFill>
          <a:blip r:embed="rId5"/>
          <a:stretch/>
        </p:blipFill>
        <p:spPr>
          <a:xfrm>
            <a:off x="1668960" y="6107760"/>
            <a:ext cx="1393560" cy="1441080"/>
          </a:xfrm>
          <a:prstGeom prst="rect">
            <a:avLst/>
          </a:prstGeom>
          <a:ln w="0">
            <a:noFill/>
          </a:ln>
        </p:spPr>
      </p:pic>
      <p:sp>
        <p:nvSpPr>
          <p:cNvPr id="172" name="TextBox 20"/>
          <p:cNvSpPr/>
          <p:nvPr/>
        </p:nvSpPr>
        <p:spPr>
          <a:xfrm>
            <a:off x="1611000" y="4982760"/>
            <a:ext cx="10816200" cy="699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000" b="0" strike="noStrike" spc="-1" dirty="0">
                <a:solidFill>
                  <a:srgbClr val="000000"/>
                </a:solidFill>
                <a:latin typeface="Times New Roman"/>
                <a:ea typeface="DejaVu Sans"/>
              </a:rPr>
              <a:t>{name} has shown a high level of dedication to administration, trainings and group development to an outstanding level which has directly contributed to the growth and advancement of the unit. </a:t>
            </a:r>
            <a:endParaRPr lang="en-IN" sz="2000" b="0" strike="noStrike" spc="-1" dirty="0">
              <a:solidFill>
                <a:srgbClr val="000000"/>
              </a:solidFill>
              <a:latin typeface="Arial"/>
            </a:endParaRPr>
          </a:p>
        </p:txBody>
      </p:sp>
      <p:pic>
        <p:nvPicPr>
          <p:cNvPr id="173" name="Picture 23"/>
          <p:cNvPicPr/>
          <p:nvPr/>
        </p:nvPicPr>
        <p:blipFill>
          <a:blip r:embed="rId6"/>
          <a:stretch/>
        </p:blipFill>
        <p:spPr>
          <a:xfrm>
            <a:off x="6562080" y="828720"/>
            <a:ext cx="914040" cy="1936800"/>
          </a:xfrm>
          <a:prstGeom prst="rect">
            <a:avLst/>
          </a:prstGeom>
          <a:ln w="0">
            <a:noFill/>
          </a:ln>
        </p:spPr>
      </p:pic>
      <p:sp>
        <p:nvSpPr>
          <p:cNvPr id="2" name="TextBox 33">
            <a:extLst>
              <a:ext uri="{FF2B5EF4-FFF2-40B4-BE49-F238E27FC236}">
                <a16:creationId xmlns:a16="http://schemas.microsoft.com/office/drawing/2014/main" id="{06831E60-0B26-1849-A1F4-BB3DDAC7DA0C}"/>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sp>
        <p:nvSpPr>
          <p:cNvPr id="3" name="Google Shape;90;p1">
            <a:extLst>
              <a:ext uri="{FF2B5EF4-FFF2-40B4-BE49-F238E27FC236}">
                <a16:creationId xmlns:a16="http://schemas.microsoft.com/office/drawing/2014/main" id="{034EE6DA-6483-1D1C-3509-1A884AEAD7B3}"/>
              </a:ext>
            </a:extLst>
          </p:cNvPr>
          <p:cNvSpPr/>
          <p:nvPr/>
        </p:nvSpPr>
        <p:spPr>
          <a:xfrm>
            <a:off x="4967670" y="6749098"/>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4" name="Google Shape;347;p28">
            <a:extLst>
              <a:ext uri="{FF2B5EF4-FFF2-40B4-BE49-F238E27FC236}">
                <a16:creationId xmlns:a16="http://schemas.microsoft.com/office/drawing/2014/main" id="{FB41871B-B8B7-D0B0-1D4B-51E2D28DB620}"/>
              </a:ext>
            </a:extLst>
          </p:cNvPr>
          <p:cNvSpPr/>
          <p:nvPr/>
        </p:nvSpPr>
        <p:spPr>
          <a:xfrm>
            <a:off x="4914480" y="6279714"/>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5" name="Picture 38"/>
          <p:cNvPicPr/>
          <p:nvPr/>
        </p:nvPicPr>
        <p:blipFill>
          <a:blip r:embed="rId2"/>
          <a:stretch/>
        </p:blipFill>
        <p:spPr>
          <a:xfrm>
            <a:off x="819000" y="714240"/>
            <a:ext cx="12428640" cy="7104240"/>
          </a:xfrm>
          <a:prstGeom prst="rect">
            <a:avLst/>
          </a:prstGeom>
          <a:ln w="0">
            <a:noFill/>
          </a:ln>
        </p:spPr>
      </p:pic>
      <p:pic>
        <p:nvPicPr>
          <p:cNvPr id="176" name="Picture 20"/>
          <p:cNvPicPr/>
          <p:nvPr/>
        </p:nvPicPr>
        <p:blipFill>
          <a:blip r:embed="rId3"/>
          <a:srcRect l="10028" t="12536" r="10465" b="20264"/>
          <a:stretch/>
        </p:blipFill>
        <p:spPr>
          <a:xfrm>
            <a:off x="0" y="0"/>
            <a:ext cx="14038560" cy="8455320"/>
          </a:xfrm>
          <a:prstGeom prst="rect">
            <a:avLst/>
          </a:prstGeom>
          <a:ln w="0">
            <a:noFill/>
          </a:ln>
        </p:spPr>
      </p:pic>
      <p:sp>
        <p:nvSpPr>
          <p:cNvPr id="177" name="TextBox 7"/>
          <p:cNvSpPr/>
          <p:nvPr/>
        </p:nvSpPr>
        <p:spPr>
          <a:xfrm>
            <a:off x="1668960" y="2526120"/>
            <a:ext cx="10736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AUSTRALIAN SPECIAL OPERATIONS TASKFORCE</a:t>
            </a:r>
            <a:endParaRPr lang="en-IN" sz="3600" b="0" strike="noStrike" spc="-1">
              <a:solidFill>
                <a:srgbClr val="000000"/>
              </a:solidFill>
              <a:latin typeface="Arial"/>
            </a:endParaRPr>
          </a:p>
        </p:txBody>
      </p:sp>
      <p:sp>
        <p:nvSpPr>
          <p:cNvPr id="178" name="TextBox 8"/>
          <p:cNvSpPr/>
          <p:nvPr/>
        </p:nvSpPr>
        <p:spPr>
          <a:xfrm>
            <a:off x="4094640" y="2918160"/>
            <a:ext cx="607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This is to certify that command has awarded the</a:t>
            </a:r>
            <a:r>
              <a:rPr lang="en-AU" sz="3600" b="0" strike="noStrike" spc="-1">
                <a:solidFill>
                  <a:srgbClr val="000000"/>
                </a:solidFill>
                <a:latin typeface="Times New Roman"/>
                <a:ea typeface="DejaVu Sans"/>
              </a:rPr>
              <a:t> </a:t>
            </a:r>
            <a:endParaRPr lang="en-IN" sz="3600" b="0" strike="noStrike" spc="-1">
              <a:solidFill>
                <a:srgbClr val="000000"/>
              </a:solidFill>
              <a:latin typeface="Arial"/>
            </a:endParaRPr>
          </a:p>
        </p:txBody>
      </p:sp>
      <p:sp>
        <p:nvSpPr>
          <p:cNvPr id="179" name="TextBox 9"/>
          <p:cNvSpPr/>
          <p:nvPr/>
        </p:nvSpPr>
        <p:spPr>
          <a:xfrm>
            <a:off x="5573160" y="4307400"/>
            <a:ext cx="29275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endParaRPr lang="en-IN" sz="1800" b="0" strike="noStrike" spc="-1">
              <a:solidFill>
                <a:srgbClr val="000000"/>
              </a:solidFill>
              <a:latin typeface="Arial"/>
            </a:endParaRPr>
          </a:p>
        </p:txBody>
      </p:sp>
      <p:sp>
        <p:nvSpPr>
          <p:cNvPr id="180" name="TextBox 10"/>
          <p:cNvSpPr/>
          <p:nvPr/>
        </p:nvSpPr>
        <p:spPr>
          <a:xfrm>
            <a:off x="4411800" y="3396240"/>
            <a:ext cx="53254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Cross Of Valour</a:t>
            </a:r>
            <a:endParaRPr lang="en-IN" sz="3600" b="0" strike="noStrike" spc="-1">
              <a:solidFill>
                <a:srgbClr val="000000"/>
              </a:solidFill>
              <a:latin typeface="Arial"/>
            </a:endParaRPr>
          </a:p>
        </p:txBody>
      </p:sp>
      <p:sp>
        <p:nvSpPr>
          <p:cNvPr id="181" name="TextBox 11"/>
          <p:cNvSpPr/>
          <p:nvPr/>
        </p:nvSpPr>
        <p:spPr>
          <a:xfrm>
            <a:off x="6723360" y="3931920"/>
            <a:ext cx="5914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TO</a:t>
            </a:r>
            <a:endParaRPr lang="en-IN" sz="2400" b="0" strike="noStrike" spc="-1">
              <a:solidFill>
                <a:srgbClr val="000000"/>
              </a:solidFill>
              <a:latin typeface="Arial"/>
            </a:endParaRPr>
          </a:p>
        </p:txBody>
      </p:sp>
      <p:sp>
        <p:nvSpPr>
          <p:cNvPr id="182" name="TextBox 12"/>
          <p:cNvSpPr/>
          <p:nvPr/>
        </p:nvSpPr>
        <p:spPr>
          <a:xfrm>
            <a:off x="1504800" y="4870623"/>
            <a:ext cx="11057040" cy="1004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000" b="0" strike="noStrike" spc="-1" dirty="0">
                <a:solidFill>
                  <a:srgbClr val="000000"/>
                </a:solidFill>
                <a:latin typeface="Times New Roman"/>
                <a:ea typeface="DejaVu Sans"/>
              </a:rPr>
              <a:t>The Cross Of Valour is awarded to members who have previously received the Star Of Courage and the Gallantry Award. {name} has continuously displayed significant acts of professionalism and dedication within operations at a standard above what is expected of his worn rank. </a:t>
            </a:r>
            <a:endParaRPr lang="en-IN" sz="2000" b="0" strike="noStrike" spc="-1" dirty="0">
              <a:solidFill>
                <a:srgbClr val="000000"/>
              </a:solidFill>
              <a:latin typeface="Arial"/>
            </a:endParaRPr>
          </a:p>
        </p:txBody>
      </p:sp>
      <p:cxnSp>
        <p:nvCxnSpPr>
          <p:cNvPr id="185" name="Straight Connector 31"/>
          <p:cNvCxnSpPr/>
          <p:nvPr/>
        </p:nvCxnSpPr>
        <p:spPr>
          <a:xfrm flipH="1">
            <a:off x="5849280" y="6801480"/>
            <a:ext cx="2452680" cy="1440"/>
          </a:xfrm>
          <a:prstGeom prst="straightConnector1">
            <a:avLst/>
          </a:prstGeom>
          <a:ln w="12700">
            <a:solidFill>
              <a:srgbClr val="000000"/>
            </a:solidFill>
            <a:round/>
          </a:ln>
        </p:spPr>
      </p:cxnSp>
      <p:sp>
        <p:nvSpPr>
          <p:cNvPr id="186" name="TextBox 32"/>
          <p:cNvSpPr/>
          <p:nvPr/>
        </p:nvSpPr>
        <p:spPr>
          <a:xfrm>
            <a:off x="2003760" y="5809988"/>
            <a:ext cx="10030680" cy="39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000" b="0" strike="noStrike" spc="-1" dirty="0">
                <a:solidFill>
                  <a:srgbClr val="000000"/>
                </a:solidFill>
                <a:latin typeface="Times New Roman"/>
                <a:ea typeface="DejaVu Sans"/>
              </a:rPr>
              <a:t>On today’s date, </a:t>
            </a:r>
            <a:r>
              <a:rPr lang="en-AU" sz="2000" b="0" i="1" strike="noStrike" spc="-1" dirty="0">
                <a:solidFill>
                  <a:srgbClr val="000000"/>
                </a:solidFill>
                <a:latin typeface="Times New Roman"/>
                <a:ea typeface="DejaVu Sans"/>
              </a:rPr>
              <a:t>{</a:t>
            </a:r>
            <a:r>
              <a:rPr lang="en-AU" sz="2000" b="0" i="1" strike="noStrike" spc="-1" dirty="0" err="1">
                <a:solidFill>
                  <a:srgbClr val="000000"/>
                </a:solidFill>
                <a:latin typeface="Times New Roman"/>
                <a:ea typeface="DejaVu Sans"/>
              </a:rPr>
              <a:t>dateNumber</a:t>
            </a:r>
            <a:r>
              <a:rPr lang="en-AU" sz="2000" b="0" i="1" strike="noStrike" spc="-1" dirty="0">
                <a:solidFill>
                  <a:srgbClr val="000000"/>
                </a:solidFill>
                <a:latin typeface="Times New Roman"/>
                <a:ea typeface="DejaVu Sans"/>
              </a:rPr>
              <a:t>}</a:t>
            </a:r>
            <a:r>
              <a:rPr lang="en-AU" sz="2000" b="0" i="1" strike="noStrike" spc="-1" baseline="30000" dirty="0">
                <a:solidFill>
                  <a:srgbClr val="000000"/>
                </a:solidFill>
                <a:latin typeface="Times New Roman"/>
                <a:ea typeface="DejaVu Sans"/>
              </a:rPr>
              <a:t>{suffix}</a:t>
            </a:r>
            <a:r>
              <a:rPr lang="en-AU" sz="2000" b="0" i="1" strike="noStrike" spc="-1" dirty="0">
                <a:solidFill>
                  <a:srgbClr val="000000"/>
                </a:solidFill>
                <a:latin typeface="Times New Roman"/>
                <a:ea typeface="DejaVu Sans"/>
              </a:rPr>
              <a:t> {date}</a:t>
            </a:r>
            <a:r>
              <a:rPr lang="en-AU" sz="2000" b="0" strike="noStrike" spc="-1" dirty="0">
                <a:solidFill>
                  <a:srgbClr val="000000"/>
                </a:solidFill>
                <a:latin typeface="Times New Roman"/>
                <a:ea typeface="DejaVu Sans"/>
              </a:rPr>
              <a:t>, {name} is therefore awarded the Cross Of Valour.</a:t>
            </a:r>
            <a:endParaRPr lang="en-IN" sz="2000" b="0" strike="noStrike" spc="-1" dirty="0">
              <a:solidFill>
                <a:srgbClr val="000000"/>
              </a:solidFill>
              <a:latin typeface="Arial"/>
            </a:endParaRPr>
          </a:p>
        </p:txBody>
      </p:sp>
      <p:pic>
        <p:nvPicPr>
          <p:cNvPr id="187" name="Picture 2"/>
          <p:cNvPicPr/>
          <p:nvPr/>
        </p:nvPicPr>
        <p:blipFill>
          <a:blip r:embed="rId4"/>
          <a:stretch/>
        </p:blipFill>
        <p:spPr>
          <a:xfrm>
            <a:off x="8951400" y="6212160"/>
            <a:ext cx="1571040" cy="1370880"/>
          </a:xfrm>
          <a:prstGeom prst="rect">
            <a:avLst/>
          </a:prstGeom>
          <a:ln w="0">
            <a:noFill/>
          </a:ln>
        </p:spPr>
      </p:pic>
      <p:pic>
        <p:nvPicPr>
          <p:cNvPr id="188" name="Picture 4"/>
          <p:cNvPicPr/>
          <p:nvPr/>
        </p:nvPicPr>
        <p:blipFill>
          <a:blip r:embed="rId5"/>
          <a:stretch/>
        </p:blipFill>
        <p:spPr>
          <a:xfrm>
            <a:off x="3803760" y="6226920"/>
            <a:ext cx="1393560" cy="1441080"/>
          </a:xfrm>
          <a:prstGeom prst="rect">
            <a:avLst/>
          </a:prstGeom>
          <a:ln w="0">
            <a:noFill/>
          </a:ln>
        </p:spPr>
      </p:pic>
      <p:pic>
        <p:nvPicPr>
          <p:cNvPr id="189" name="Picture 17"/>
          <p:cNvPicPr/>
          <p:nvPr/>
        </p:nvPicPr>
        <p:blipFill>
          <a:blip r:embed="rId6"/>
          <a:stretch/>
        </p:blipFill>
        <p:spPr>
          <a:xfrm>
            <a:off x="878400" y="738360"/>
            <a:ext cx="2390400" cy="2432520"/>
          </a:xfrm>
          <a:prstGeom prst="rect">
            <a:avLst/>
          </a:prstGeom>
          <a:ln w="0">
            <a:noFill/>
          </a:ln>
        </p:spPr>
      </p:pic>
      <p:pic>
        <p:nvPicPr>
          <p:cNvPr id="190" name="Picture 25"/>
          <p:cNvPicPr/>
          <p:nvPr/>
        </p:nvPicPr>
        <p:blipFill>
          <a:blip r:embed="rId6"/>
          <a:stretch/>
        </p:blipFill>
        <p:spPr>
          <a:xfrm rot="5400000">
            <a:off x="10821600" y="741600"/>
            <a:ext cx="2406600" cy="2449080"/>
          </a:xfrm>
          <a:prstGeom prst="rect">
            <a:avLst/>
          </a:prstGeom>
          <a:ln w="0">
            <a:noFill/>
          </a:ln>
        </p:spPr>
      </p:pic>
      <p:pic>
        <p:nvPicPr>
          <p:cNvPr id="191" name="Picture 29"/>
          <p:cNvPicPr/>
          <p:nvPr/>
        </p:nvPicPr>
        <p:blipFill>
          <a:blip r:embed="rId6"/>
          <a:stretch/>
        </p:blipFill>
        <p:spPr>
          <a:xfrm rot="16200000">
            <a:off x="857160" y="5352480"/>
            <a:ext cx="2390400" cy="2432520"/>
          </a:xfrm>
          <a:prstGeom prst="rect">
            <a:avLst/>
          </a:prstGeom>
          <a:ln w="0">
            <a:noFill/>
          </a:ln>
        </p:spPr>
      </p:pic>
      <p:pic>
        <p:nvPicPr>
          <p:cNvPr id="192" name="Picture 30"/>
          <p:cNvPicPr/>
          <p:nvPr/>
        </p:nvPicPr>
        <p:blipFill>
          <a:blip r:embed="rId6"/>
          <a:stretch/>
        </p:blipFill>
        <p:spPr>
          <a:xfrm rot="10800000">
            <a:off x="10797120" y="5344560"/>
            <a:ext cx="2406600" cy="2449080"/>
          </a:xfrm>
          <a:prstGeom prst="rect">
            <a:avLst/>
          </a:prstGeom>
          <a:ln w="0">
            <a:noFill/>
          </a:ln>
        </p:spPr>
      </p:pic>
      <p:pic>
        <p:nvPicPr>
          <p:cNvPr id="193" name="Picture 26"/>
          <p:cNvPicPr/>
          <p:nvPr/>
        </p:nvPicPr>
        <p:blipFill>
          <a:blip r:embed="rId7"/>
          <a:stretch/>
        </p:blipFill>
        <p:spPr>
          <a:xfrm>
            <a:off x="6606360" y="796680"/>
            <a:ext cx="854280" cy="1810080"/>
          </a:xfrm>
          <a:prstGeom prst="rect">
            <a:avLst/>
          </a:prstGeom>
          <a:ln w="0">
            <a:noFill/>
          </a:ln>
        </p:spPr>
      </p:pic>
      <p:sp>
        <p:nvSpPr>
          <p:cNvPr id="2" name="TextBox 33">
            <a:extLst>
              <a:ext uri="{FF2B5EF4-FFF2-40B4-BE49-F238E27FC236}">
                <a16:creationId xmlns:a16="http://schemas.microsoft.com/office/drawing/2014/main" id="{21AD0730-CA7A-4B9F-09FC-91A7182B84E9}"/>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sp>
        <p:nvSpPr>
          <p:cNvPr id="3" name="Google Shape;90;p1">
            <a:extLst>
              <a:ext uri="{FF2B5EF4-FFF2-40B4-BE49-F238E27FC236}">
                <a16:creationId xmlns:a16="http://schemas.microsoft.com/office/drawing/2014/main" id="{B9CDE96C-4680-440F-A16C-8DE5F9238912}"/>
              </a:ext>
            </a:extLst>
          </p:cNvPr>
          <p:cNvSpPr/>
          <p:nvPr/>
        </p:nvSpPr>
        <p:spPr>
          <a:xfrm>
            <a:off x="4967670" y="6749098"/>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4" name="Google Shape;347;p28">
            <a:extLst>
              <a:ext uri="{FF2B5EF4-FFF2-40B4-BE49-F238E27FC236}">
                <a16:creationId xmlns:a16="http://schemas.microsoft.com/office/drawing/2014/main" id="{93A066FE-9EAD-6DBD-DBEA-63C8DCCEECBA}"/>
              </a:ext>
            </a:extLst>
          </p:cNvPr>
          <p:cNvSpPr/>
          <p:nvPr/>
        </p:nvSpPr>
        <p:spPr>
          <a:xfrm>
            <a:off x="4914480" y="6279714"/>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95" name="Picture 17"/>
          <p:cNvPicPr/>
          <p:nvPr/>
        </p:nvPicPr>
        <p:blipFill>
          <a:blip r:embed="rId2"/>
          <a:stretch/>
        </p:blipFill>
        <p:spPr>
          <a:xfrm>
            <a:off x="819000" y="714240"/>
            <a:ext cx="12428640" cy="7104240"/>
          </a:xfrm>
          <a:prstGeom prst="rect">
            <a:avLst/>
          </a:prstGeom>
          <a:ln w="0">
            <a:noFill/>
          </a:ln>
        </p:spPr>
      </p:pic>
      <p:pic>
        <p:nvPicPr>
          <p:cNvPr id="196" name="Picture 19"/>
          <p:cNvPicPr/>
          <p:nvPr/>
        </p:nvPicPr>
        <p:blipFill>
          <a:blip r:embed="rId3"/>
          <a:srcRect l="10028" t="12536" r="10465" b="20264"/>
          <a:stretch/>
        </p:blipFill>
        <p:spPr>
          <a:xfrm>
            <a:off x="0" y="3240"/>
            <a:ext cx="14038560" cy="8455320"/>
          </a:xfrm>
          <a:prstGeom prst="rect">
            <a:avLst/>
          </a:prstGeom>
          <a:ln w="0">
            <a:noFill/>
          </a:ln>
        </p:spPr>
      </p:pic>
      <p:sp>
        <p:nvSpPr>
          <p:cNvPr id="197" name="TextBox 7"/>
          <p:cNvSpPr/>
          <p:nvPr/>
        </p:nvSpPr>
        <p:spPr>
          <a:xfrm>
            <a:off x="1668960" y="2526120"/>
            <a:ext cx="10736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AUSTRALIAN SPECIAL OPERATIONS TASKFORCE</a:t>
            </a:r>
            <a:endParaRPr lang="en-IN" sz="3600" b="0" strike="noStrike" spc="-1">
              <a:solidFill>
                <a:srgbClr val="000000"/>
              </a:solidFill>
              <a:latin typeface="Arial"/>
            </a:endParaRPr>
          </a:p>
        </p:txBody>
      </p:sp>
      <p:sp>
        <p:nvSpPr>
          <p:cNvPr id="198" name="TextBox 8"/>
          <p:cNvSpPr/>
          <p:nvPr/>
        </p:nvSpPr>
        <p:spPr>
          <a:xfrm>
            <a:off x="4094640" y="2918160"/>
            <a:ext cx="607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This is to certify that command has awarded the</a:t>
            </a:r>
            <a:r>
              <a:rPr lang="en-AU" sz="3600" b="0" strike="noStrike" spc="-1">
                <a:solidFill>
                  <a:srgbClr val="000000"/>
                </a:solidFill>
                <a:latin typeface="Times New Roman"/>
                <a:ea typeface="DejaVu Sans"/>
              </a:rPr>
              <a:t> </a:t>
            </a:r>
            <a:endParaRPr lang="en-IN" sz="3600" b="0" strike="noStrike" spc="-1">
              <a:solidFill>
                <a:srgbClr val="000000"/>
              </a:solidFill>
              <a:latin typeface="Arial"/>
            </a:endParaRPr>
          </a:p>
        </p:txBody>
      </p:sp>
      <p:sp>
        <p:nvSpPr>
          <p:cNvPr id="199" name="TextBox 9"/>
          <p:cNvSpPr/>
          <p:nvPr/>
        </p:nvSpPr>
        <p:spPr>
          <a:xfrm>
            <a:off x="5573160" y="4307400"/>
            <a:ext cx="29275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endParaRPr lang="en-IN" sz="1800" b="0" strike="noStrike" spc="-1">
              <a:solidFill>
                <a:srgbClr val="000000"/>
              </a:solidFill>
              <a:latin typeface="Arial"/>
            </a:endParaRPr>
          </a:p>
        </p:txBody>
      </p:sp>
      <p:sp>
        <p:nvSpPr>
          <p:cNvPr id="200" name="TextBox 10"/>
          <p:cNvSpPr/>
          <p:nvPr/>
        </p:nvSpPr>
        <p:spPr>
          <a:xfrm>
            <a:off x="4533480" y="3421440"/>
            <a:ext cx="49712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Diplomat Award</a:t>
            </a:r>
            <a:endParaRPr lang="en-IN" sz="3600" b="0" strike="noStrike" spc="-1">
              <a:solidFill>
                <a:srgbClr val="000000"/>
              </a:solidFill>
              <a:latin typeface="Arial"/>
            </a:endParaRPr>
          </a:p>
        </p:txBody>
      </p:sp>
      <p:sp>
        <p:nvSpPr>
          <p:cNvPr id="201" name="TextBox 11"/>
          <p:cNvSpPr/>
          <p:nvPr/>
        </p:nvSpPr>
        <p:spPr>
          <a:xfrm>
            <a:off x="6723360" y="3931920"/>
            <a:ext cx="5914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TO</a:t>
            </a:r>
            <a:endParaRPr lang="en-IN" sz="2400" b="0" strike="noStrike" spc="-1">
              <a:solidFill>
                <a:srgbClr val="000000"/>
              </a:solidFill>
              <a:latin typeface="Arial"/>
            </a:endParaRPr>
          </a:p>
        </p:txBody>
      </p:sp>
      <p:sp>
        <p:nvSpPr>
          <p:cNvPr id="202" name="TextBox 12"/>
          <p:cNvSpPr/>
          <p:nvPr/>
        </p:nvSpPr>
        <p:spPr>
          <a:xfrm>
            <a:off x="1611000" y="4982760"/>
            <a:ext cx="10816200" cy="699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000" b="0" strike="noStrike" spc="-1" dirty="0">
                <a:solidFill>
                  <a:srgbClr val="000000"/>
                </a:solidFill>
                <a:latin typeface="Times New Roman"/>
                <a:ea typeface="DejaVu Sans"/>
              </a:rPr>
              <a:t>{name} has shown a high level of dedication to recruitment of new members and promoting of the unit to the public which has directly contributed to the growth and advancement of the unit. </a:t>
            </a:r>
            <a:endParaRPr lang="en-IN" sz="2000" b="0" strike="noStrike" spc="-1" dirty="0">
              <a:solidFill>
                <a:srgbClr val="000000"/>
              </a:solidFill>
              <a:latin typeface="Arial"/>
            </a:endParaRPr>
          </a:p>
        </p:txBody>
      </p:sp>
      <p:cxnSp>
        <p:nvCxnSpPr>
          <p:cNvPr id="205" name="Straight Connector 31"/>
          <p:cNvCxnSpPr/>
          <p:nvPr/>
        </p:nvCxnSpPr>
        <p:spPr>
          <a:xfrm flipH="1">
            <a:off x="5849280" y="6801480"/>
            <a:ext cx="2452680" cy="1440"/>
          </a:xfrm>
          <a:prstGeom prst="straightConnector1">
            <a:avLst/>
          </a:prstGeom>
          <a:ln w="12700">
            <a:solidFill>
              <a:srgbClr val="000000"/>
            </a:solidFill>
            <a:round/>
          </a:ln>
        </p:spPr>
      </p:cxnSp>
      <p:sp>
        <p:nvSpPr>
          <p:cNvPr id="206" name="TextBox 32"/>
          <p:cNvSpPr/>
          <p:nvPr/>
        </p:nvSpPr>
        <p:spPr>
          <a:xfrm>
            <a:off x="2021760" y="5599440"/>
            <a:ext cx="10030680" cy="39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000" b="0" strike="noStrike" spc="-1" dirty="0">
                <a:solidFill>
                  <a:srgbClr val="000000"/>
                </a:solidFill>
                <a:latin typeface="Times New Roman"/>
                <a:ea typeface="DejaVu Sans"/>
              </a:rPr>
              <a:t>On today’s date, </a:t>
            </a:r>
            <a:r>
              <a:rPr lang="en-AU" sz="2000" b="0" i="1" strike="noStrike" spc="-1" dirty="0">
                <a:solidFill>
                  <a:srgbClr val="000000"/>
                </a:solidFill>
                <a:latin typeface="Times New Roman"/>
                <a:ea typeface="DejaVu Sans"/>
              </a:rPr>
              <a:t>{</a:t>
            </a:r>
            <a:r>
              <a:rPr lang="en-AU" sz="2000" b="0" i="1" strike="noStrike" spc="-1" dirty="0" err="1">
                <a:solidFill>
                  <a:srgbClr val="000000"/>
                </a:solidFill>
                <a:latin typeface="Times New Roman"/>
                <a:ea typeface="DejaVu Sans"/>
              </a:rPr>
              <a:t>dateNumber</a:t>
            </a:r>
            <a:r>
              <a:rPr lang="en-AU" sz="2000" b="0" i="1" strike="noStrike" spc="-1" dirty="0">
                <a:solidFill>
                  <a:srgbClr val="000000"/>
                </a:solidFill>
                <a:latin typeface="Times New Roman"/>
                <a:ea typeface="DejaVu Sans"/>
              </a:rPr>
              <a:t>}</a:t>
            </a:r>
            <a:r>
              <a:rPr lang="en-AU" sz="2000" b="0" i="1" strike="noStrike" spc="-1" baseline="30000" dirty="0">
                <a:solidFill>
                  <a:srgbClr val="000000"/>
                </a:solidFill>
                <a:latin typeface="Times New Roman"/>
                <a:ea typeface="DejaVu Sans"/>
              </a:rPr>
              <a:t>{suffix}</a:t>
            </a:r>
            <a:r>
              <a:rPr lang="en-AU" sz="2000" b="0" i="1" strike="noStrike" spc="-1" dirty="0">
                <a:solidFill>
                  <a:srgbClr val="000000"/>
                </a:solidFill>
                <a:latin typeface="Times New Roman"/>
                <a:ea typeface="DejaVu Sans"/>
              </a:rPr>
              <a:t> {date}</a:t>
            </a:r>
            <a:r>
              <a:rPr lang="en-AU" sz="2000" b="0" strike="noStrike" spc="-1" dirty="0">
                <a:solidFill>
                  <a:srgbClr val="000000"/>
                </a:solidFill>
                <a:latin typeface="Times New Roman"/>
                <a:ea typeface="DejaVu Sans"/>
              </a:rPr>
              <a:t>, {name} is therefore awarded the Diplomat Award. </a:t>
            </a:r>
            <a:endParaRPr lang="en-IN" sz="2000" b="0" strike="noStrike" spc="-1" dirty="0">
              <a:solidFill>
                <a:srgbClr val="000000"/>
              </a:solidFill>
              <a:latin typeface="Arial"/>
            </a:endParaRPr>
          </a:p>
        </p:txBody>
      </p:sp>
      <p:pic>
        <p:nvPicPr>
          <p:cNvPr id="207" name="Picture 2"/>
          <p:cNvPicPr/>
          <p:nvPr/>
        </p:nvPicPr>
        <p:blipFill>
          <a:blip r:embed="rId4"/>
          <a:stretch/>
        </p:blipFill>
        <p:spPr>
          <a:xfrm>
            <a:off x="10481400" y="6171480"/>
            <a:ext cx="1571040" cy="1370880"/>
          </a:xfrm>
          <a:prstGeom prst="rect">
            <a:avLst/>
          </a:prstGeom>
          <a:ln w="0">
            <a:noFill/>
          </a:ln>
        </p:spPr>
      </p:pic>
      <p:pic>
        <p:nvPicPr>
          <p:cNvPr id="208" name="Picture 4"/>
          <p:cNvPicPr/>
          <p:nvPr/>
        </p:nvPicPr>
        <p:blipFill>
          <a:blip r:embed="rId5"/>
          <a:stretch/>
        </p:blipFill>
        <p:spPr>
          <a:xfrm>
            <a:off x="1668960" y="6107760"/>
            <a:ext cx="1393560" cy="1441080"/>
          </a:xfrm>
          <a:prstGeom prst="rect">
            <a:avLst/>
          </a:prstGeom>
          <a:ln w="0">
            <a:noFill/>
          </a:ln>
        </p:spPr>
      </p:pic>
      <p:pic>
        <p:nvPicPr>
          <p:cNvPr id="209" name="Picture 20"/>
          <p:cNvPicPr/>
          <p:nvPr/>
        </p:nvPicPr>
        <p:blipFill>
          <a:blip r:embed="rId6"/>
          <a:stretch/>
        </p:blipFill>
        <p:spPr>
          <a:xfrm>
            <a:off x="6561720" y="799560"/>
            <a:ext cx="915120" cy="1939320"/>
          </a:xfrm>
          <a:prstGeom prst="rect">
            <a:avLst/>
          </a:prstGeom>
          <a:ln w="0">
            <a:noFill/>
          </a:ln>
        </p:spPr>
      </p:pic>
      <p:sp>
        <p:nvSpPr>
          <p:cNvPr id="2" name="TextBox 33">
            <a:extLst>
              <a:ext uri="{FF2B5EF4-FFF2-40B4-BE49-F238E27FC236}">
                <a16:creationId xmlns:a16="http://schemas.microsoft.com/office/drawing/2014/main" id="{CC2CACD2-FD6E-268F-B8AC-F67D129A8079}"/>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sp>
        <p:nvSpPr>
          <p:cNvPr id="3" name="Google Shape;90;p1">
            <a:extLst>
              <a:ext uri="{FF2B5EF4-FFF2-40B4-BE49-F238E27FC236}">
                <a16:creationId xmlns:a16="http://schemas.microsoft.com/office/drawing/2014/main" id="{D838170A-C141-DFC5-6A9B-C110116ACF8F}"/>
              </a:ext>
            </a:extLst>
          </p:cNvPr>
          <p:cNvSpPr/>
          <p:nvPr/>
        </p:nvSpPr>
        <p:spPr>
          <a:xfrm>
            <a:off x="4967670" y="6749098"/>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4" name="Google Shape;347;p28">
            <a:extLst>
              <a:ext uri="{FF2B5EF4-FFF2-40B4-BE49-F238E27FC236}">
                <a16:creationId xmlns:a16="http://schemas.microsoft.com/office/drawing/2014/main" id="{4B019FEF-0999-08B3-8C08-0D5D896B7DD0}"/>
              </a:ext>
            </a:extLst>
          </p:cNvPr>
          <p:cNvSpPr/>
          <p:nvPr/>
        </p:nvSpPr>
        <p:spPr>
          <a:xfrm>
            <a:off x="4914480" y="6279714"/>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1" name="Picture 38"/>
          <p:cNvPicPr/>
          <p:nvPr/>
        </p:nvPicPr>
        <p:blipFill>
          <a:blip r:embed="rId2"/>
          <a:stretch/>
        </p:blipFill>
        <p:spPr>
          <a:xfrm>
            <a:off x="819000" y="714240"/>
            <a:ext cx="12428640" cy="7104240"/>
          </a:xfrm>
          <a:prstGeom prst="rect">
            <a:avLst/>
          </a:prstGeom>
          <a:ln w="0">
            <a:noFill/>
          </a:ln>
        </p:spPr>
      </p:pic>
      <p:pic>
        <p:nvPicPr>
          <p:cNvPr id="212" name="Picture 20"/>
          <p:cNvPicPr/>
          <p:nvPr/>
        </p:nvPicPr>
        <p:blipFill>
          <a:blip r:embed="rId3"/>
          <a:srcRect l="10028" t="12536" r="10465" b="20264"/>
          <a:stretch/>
        </p:blipFill>
        <p:spPr>
          <a:xfrm>
            <a:off x="0" y="0"/>
            <a:ext cx="14038560" cy="8455320"/>
          </a:xfrm>
          <a:prstGeom prst="rect">
            <a:avLst/>
          </a:prstGeom>
          <a:ln w="0">
            <a:noFill/>
          </a:ln>
        </p:spPr>
      </p:pic>
      <p:sp>
        <p:nvSpPr>
          <p:cNvPr id="213" name="TextBox 7"/>
          <p:cNvSpPr/>
          <p:nvPr/>
        </p:nvSpPr>
        <p:spPr>
          <a:xfrm>
            <a:off x="1668960" y="2526120"/>
            <a:ext cx="10736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AUSTRALIAN SPECIAL OPERATIONS TASKFORCE</a:t>
            </a:r>
            <a:endParaRPr lang="en-IN" sz="3600" b="0" strike="noStrike" spc="-1">
              <a:solidFill>
                <a:srgbClr val="000000"/>
              </a:solidFill>
              <a:latin typeface="Arial"/>
            </a:endParaRPr>
          </a:p>
        </p:txBody>
      </p:sp>
      <p:sp>
        <p:nvSpPr>
          <p:cNvPr id="214" name="TextBox 8"/>
          <p:cNvSpPr/>
          <p:nvPr/>
        </p:nvSpPr>
        <p:spPr>
          <a:xfrm>
            <a:off x="4094640" y="2918160"/>
            <a:ext cx="607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This is to certify that command has awarded the</a:t>
            </a:r>
            <a:r>
              <a:rPr lang="en-AU" sz="3600" b="0" strike="noStrike" spc="-1">
                <a:solidFill>
                  <a:srgbClr val="000000"/>
                </a:solidFill>
                <a:latin typeface="Times New Roman"/>
                <a:ea typeface="DejaVu Sans"/>
              </a:rPr>
              <a:t> </a:t>
            </a:r>
            <a:endParaRPr lang="en-IN" sz="3600" b="0" strike="noStrike" spc="-1">
              <a:solidFill>
                <a:srgbClr val="000000"/>
              </a:solidFill>
              <a:latin typeface="Arial"/>
            </a:endParaRPr>
          </a:p>
        </p:txBody>
      </p:sp>
      <p:sp>
        <p:nvSpPr>
          <p:cNvPr id="215" name="TextBox 9"/>
          <p:cNvSpPr/>
          <p:nvPr/>
        </p:nvSpPr>
        <p:spPr>
          <a:xfrm>
            <a:off x="5573160" y="4307400"/>
            <a:ext cx="29275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endParaRPr lang="en-IN" sz="1800" b="0" strike="noStrike" spc="-1">
              <a:solidFill>
                <a:srgbClr val="000000"/>
              </a:solidFill>
              <a:latin typeface="Arial"/>
            </a:endParaRPr>
          </a:p>
        </p:txBody>
      </p:sp>
      <p:sp>
        <p:nvSpPr>
          <p:cNvPr id="216" name="TextBox 10"/>
          <p:cNvSpPr/>
          <p:nvPr/>
        </p:nvSpPr>
        <p:spPr>
          <a:xfrm>
            <a:off x="4411800" y="3396240"/>
            <a:ext cx="53254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Founding Member Award</a:t>
            </a:r>
            <a:endParaRPr lang="en-IN" sz="3600" b="0" strike="noStrike" spc="-1">
              <a:solidFill>
                <a:srgbClr val="000000"/>
              </a:solidFill>
              <a:latin typeface="Arial"/>
            </a:endParaRPr>
          </a:p>
        </p:txBody>
      </p:sp>
      <p:sp>
        <p:nvSpPr>
          <p:cNvPr id="217" name="TextBox 11"/>
          <p:cNvSpPr/>
          <p:nvPr/>
        </p:nvSpPr>
        <p:spPr>
          <a:xfrm>
            <a:off x="6723360" y="3931920"/>
            <a:ext cx="5914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TO</a:t>
            </a:r>
            <a:endParaRPr lang="en-IN" sz="2400" b="0" strike="noStrike" spc="-1">
              <a:solidFill>
                <a:srgbClr val="000000"/>
              </a:solidFill>
              <a:latin typeface="Arial"/>
            </a:endParaRPr>
          </a:p>
        </p:txBody>
      </p:sp>
      <p:sp>
        <p:nvSpPr>
          <p:cNvPr id="218" name="TextBox 12"/>
          <p:cNvSpPr/>
          <p:nvPr/>
        </p:nvSpPr>
        <p:spPr>
          <a:xfrm>
            <a:off x="1388520" y="4953600"/>
            <a:ext cx="11289600" cy="82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600" b="0" strike="noStrike" spc="-1" dirty="0">
                <a:solidFill>
                  <a:srgbClr val="000000"/>
                </a:solidFill>
                <a:latin typeface="Times New Roman"/>
                <a:ea typeface="DejaVu Sans"/>
              </a:rPr>
              <a:t>The Founding Member Award is awarded to members who were part of the initial admin team during the creation and launch of ASOT. Being part of the team, {name} significantly contributed to the creation, launch and maintenance of the unit upon it’s inception. This directly contributed to the success of the launch and set the foundations of what ASOT is today.  </a:t>
            </a:r>
            <a:endParaRPr lang="en-IN" sz="1600" b="0" strike="noStrike" spc="-1" dirty="0">
              <a:solidFill>
                <a:srgbClr val="000000"/>
              </a:solidFill>
              <a:latin typeface="Arial"/>
            </a:endParaRPr>
          </a:p>
        </p:txBody>
      </p:sp>
      <p:cxnSp>
        <p:nvCxnSpPr>
          <p:cNvPr id="221" name="Straight Connector 31"/>
          <p:cNvCxnSpPr/>
          <p:nvPr/>
        </p:nvCxnSpPr>
        <p:spPr>
          <a:xfrm flipH="1">
            <a:off x="5849280" y="6801480"/>
            <a:ext cx="2452680" cy="1440"/>
          </a:xfrm>
          <a:prstGeom prst="straightConnector1">
            <a:avLst/>
          </a:prstGeom>
          <a:ln w="12700">
            <a:solidFill>
              <a:srgbClr val="000000"/>
            </a:solidFill>
            <a:round/>
          </a:ln>
        </p:spPr>
      </p:cxnSp>
      <p:sp>
        <p:nvSpPr>
          <p:cNvPr id="222" name="TextBox 32"/>
          <p:cNvSpPr/>
          <p:nvPr/>
        </p:nvSpPr>
        <p:spPr>
          <a:xfrm>
            <a:off x="1985760" y="5789520"/>
            <a:ext cx="1003068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800" b="0" strike="noStrike" spc="-1">
                <a:solidFill>
                  <a:srgbClr val="000000"/>
                </a:solidFill>
                <a:latin typeface="Times New Roman"/>
                <a:ea typeface="DejaVu Sans"/>
              </a:rPr>
              <a:t>On today’s date, </a:t>
            </a:r>
            <a:r>
              <a:rPr lang="en-AU" sz="1800" b="0" i="1" strike="noStrike" spc="-1">
                <a:solidFill>
                  <a:srgbClr val="000000"/>
                </a:solidFill>
                <a:latin typeface="Times New Roman"/>
                <a:ea typeface="DejaVu Sans"/>
              </a:rPr>
              <a:t>11</a:t>
            </a:r>
            <a:r>
              <a:rPr lang="en-AU" sz="1800" b="0" i="1" strike="noStrike" spc="-1" baseline="30000">
                <a:solidFill>
                  <a:srgbClr val="000000"/>
                </a:solidFill>
                <a:latin typeface="Times New Roman"/>
                <a:ea typeface="DejaVu Sans"/>
              </a:rPr>
              <a:t>th</a:t>
            </a:r>
            <a:r>
              <a:rPr lang="en-AU" sz="1800" b="0" i="1" strike="noStrike" spc="-1">
                <a:solidFill>
                  <a:srgbClr val="000000"/>
                </a:solidFill>
                <a:latin typeface="Times New Roman"/>
                <a:ea typeface="DejaVu Sans"/>
              </a:rPr>
              <a:t> January 2023</a:t>
            </a:r>
            <a:r>
              <a:rPr lang="en-AU" sz="1800" b="0" strike="noStrike" spc="-1">
                <a:solidFill>
                  <a:srgbClr val="000000"/>
                </a:solidFill>
                <a:latin typeface="Times New Roman"/>
                <a:ea typeface="DejaVu Sans"/>
              </a:rPr>
              <a:t>, {name} is therefore awarded the Founding Member Award.</a:t>
            </a:r>
            <a:endParaRPr lang="en-IN" sz="1800" b="0" strike="noStrike" spc="-1">
              <a:solidFill>
                <a:srgbClr val="000000"/>
              </a:solidFill>
              <a:latin typeface="Arial"/>
            </a:endParaRPr>
          </a:p>
        </p:txBody>
      </p:sp>
      <p:pic>
        <p:nvPicPr>
          <p:cNvPr id="223" name="Picture 2"/>
          <p:cNvPicPr/>
          <p:nvPr/>
        </p:nvPicPr>
        <p:blipFill>
          <a:blip r:embed="rId4"/>
          <a:stretch/>
        </p:blipFill>
        <p:spPr>
          <a:xfrm>
            <a:off x="8951400" y="6212160"/>
            <a:ext cx="1571040" cy="1370880"/>
          </a:xfrm>
          <a:prstGeom prst="rect">
            <a:avLst/>
          </a:prstGeom>
          <a:ln w="0">
            <a:noFill/>
          </a:ln>
        </p:spPr>
      </p:pic>
      <p:pic>
        <p:nvPicPr>
          <p:cNvPr id="224" name="Picture 4"/>
          <p:cNvPicPr/>
          <p:nvPr/>
        </p:nvPicPr>
        <p:blipFill>
          <a:blip r:embed="rId5"/>
          <a:stretch/>
        </p:blipFill>
        <p:spPr>
          <a:xfrm>
            <a:off x="3803760" y="6226920"/>
            <a:ext cx="1393560" cy="1441080"/>
          </a:xfrm>
          <a:prstGeom prst="rect">
            <a:avLst/>
          </a:prstGeom>
          <a:ln w="0">
            <a:noFill/>
          </a:ln>
        </p:spPr>
      </p:pic>
      <p:pic>
        <p:nvPicPr>
          <p:cNvPr id="225" name="Picture 17"/>
          <p:cNvPicPr/>
          <p:nvPr/>
        </p:nvPicPr>
        <p:blipFill>
          <a:blip r:embed="rId6"/>
          <a:stretch/>
        </p:blipFill>
        <p:spPr>
          <a:xfrm>
            <a:off x="878400" y="738360"/>
            <a:ext cx="2390400" cy="2432520"/>
          </a:xfrm>
          <a:prstGeom prst="rect">
            <a:avLst/>
          </a:prstGeom>
          <a:ln w="0">
            <a:noFill/>
          </a:ln>
        </p:spPr>
      </p:pic>
      <p:pic>
        <p:nvPicPr>
          <p:cNvPr id="226" name="Picture 25"/>
          <p:cNvPicPr/>
          <p:nvPr/>
        </p:nvPicPr>
        <p:blipFill>
          <a:blip r:embed="rId6"/>
          <a:stretch/>
        </p:blipFill>
        <p:spPr>
          <a:xfrm rot="5400000">
            <a:off x="10821600" y="741600"/>
            <a:ext cx="2406600" cy="2449080"/>
          </a:xfrm>
          <a:prstGeom prst="rect">
            <a:avLst/>
          </a:prstGeom>
          <a:ln w="0">
            <a:noFill/>
          </a:ln>
        </p:spPr>
      </p:pic>
      <p:pic>
        <p:nvPicPr>
          <p:cNvPr id="227" name="Picture 29"/>
          <p:cNvPicPr/>
          <p:nvPr/>
        </p:nvPicPr>
        <p:blipFill>
          <a:blip r:embed="rId6"/>
          <a:stretch/>
        </p:blipFill>
        <p:spPr>
          <a:xfrm rot="16200000">
            <a:off x="857160" y="5352480"/>
            <a:ext cx="2390400" cy="2432520"/>
          </a:xfrm>
          <a:prstGeom prst="rect">
            <a:avLst/>
          </a:prstGeom>
          <a:ln w="0">
            <a:noFill/>
          </a:ln>
        </p:spPr>
      </p:pic>
      <p:pic>
        <p:nvPicPr>
          <p:cNvPr id="228" name="Picture 30"/>
          <p:cNvPicPr/>
          <p:nvPr/>
        </p:nvPicPr>
        <p:blipFill>
          <a:blip r:embed="rId6"/>
          <a:stretch/>
        </p:blipFill>
        <p:spPr>
          <a:xfrm rot="10800000">
            <a:off x="10797120" y="5344560"/>
            <a:ext cx="2406600" cy="2449080"/>
          </a:xfrm>
          <a:prstGeom prst="rect">
            <a:avLst/>
          </a:prstGeom>
          <a:ln w="0">
            <a:noFill/>
          </a:ln>
        </p:spPr>
      </p:pic>
      <p:pic>
        <p:nvPicPr>
          <p:cNvPr id="229" name="Picture 23"/>
          <p:cNvPicPr/>
          <p:nvPr/>
        </p:nvPicPr>
        <p:blipFill>
          <a:blip r:embed="rId7"/>
          <a:stretch/>
        </p:blipFill>
        <p:spPr>
          <a:xfrm>
            <a:off x="6563880" y="759600"/>
            <a:ext cx="938880" cy="1989720"/>
          </a:xfrm>
          <a:prstGeom prst="rect">
            <a:avLst/>
          </a:prstGeom>
          <a:ln w="0">
            <a:noFill/>
          </a:ln>
        </p:spPr>
      </p:pic>
      <p:sp>
        <p:nvSpPr>
          <p:cNvPr id="2" name="TextBox 33">
            <a:extLst>
              <a:ext uri="{FF2B5EF4-FFF2-40B4-BE49-F238E27FC236}">
                <a16:creationId xmlns:a16="http://schemas.microsoft.com/office/drawing/2014/main" id="{9DA75298-A866-E6B2-9957-58A9DFAD49AA}"/>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sp>
        <p:nvSpPr>
          <p:cNvPr id="3" name="Google Shape;90;p1">
            <a:extLst>
              <a:ext uri="{FF2B5EF4-FFF2-40B4-BE49-F238E27FC236}">
                <a16:creationId xmlns:a16="http://schemas.microsoft.com/office/drawing/2014/main" id="{6FAD1C88-B6B3-DDA4-C62A-48F384EE954D}"/>
              </a:ext>
            </a:extLst>
          </p:cNvPr>
          <p:cNvSpPr/>
          <p:nvPr/>
        </p:nvSpPr>
        <p:spPr>
          <a:xfrm>
            <a:off x="4967670" y="6749098"/>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4" name="Google Shape;347;p28">
            <a:extLst>
              <a:ext uri="{FF2B5EF4-FFF2-40B4-BE49-F238E27FC236}">
                <a16:creationId xmlns:a16="http://schemas.microsoft.com/office/drawing/2014/main" id="{4959E69D-0EB7-653F-67DB-23E78D2A6AC4}"/>
              </a:ext>
            </a:extLst>
          </p:cNvPr>
          <p:cNvSpPr/>
          <p:nvPr/>
        </p:nvSpPr>
        <p:spPr>
          <a:xfrm>
            <a:off x="4914480" y="6279714"/>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1" name="Picture 38"/>
          <p:cNvPicPr/>
          <p:nvPr/>
        </p:nvPicPr>
        <p:blipFill>
          <a:blip r:embed="rId2"/>
          <a:stretch/>
        </p:blipFill>
        <p:spPr>
          <a:xfrm>
            <a:off x="819000" y="714240"/>
            <a:ext cx="12428640" cy="7104240"/>
          </a:xfrm>
          <a:prstGeom prst="rect">
            <a:avLst/>
          </a:prstGeom>
          <a:ln w="0">
            <a:noFill/>
          </a:ln>
        </p:spPr>
      </p:pic>
      <p:pic>
        <p:nvPicPr>
          <p:cNvPr id="232" name="Picture 20"/>
          <p:cNvPicPr/>
          <p:nvPr/>
        </p:nvPicPr>
        <p:blipFill>
          <a:blip r:embed="rId3"/>
          <a:srcRect l="10028" t="12536" r="10465" b="20264"/>
          <a:stretch/>
        </p:blipFill>
        <p:spPr>
          <a:xfrm>
            <a:off x="0" y="0"/>
            <a:ext cx="14038560" cy="8455320"/>
          </a:xfrm>
          <a:prstGeom prst="rect">
            <a:avLst/>
          </a:prstGeom>
          <a:ln w="0">
            <a:noFill/>
          </a:ln>
        </p:spPr>
      </p:pic>
      <p:sp>
        <p:nvSpPr>
          <p:cNvPr id="233" name="TextBox 7"/>
          <p:cNvSpPr/>
          <p:nvPr/>
        </p:nvSpPr>
        <p:spPr>
          <a:xfrm>
            <a:off x="1668960" y="2526120"/>
            <a:ext cx="10736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AUSTRALIAN SPECIAL OPERATIONS TASKFORCE</a:t>
            </a:r>
            <a:endParaRPr lang="en-IN" sz="3600" b="0" strike="noStrike" spc="-1">
              <a:solidFill>
                <a:srgbClr val="000000"/>
              </a:solidFill>
              <a:latin typeface="Arial"/>
            </a:endParaRPr>
          </a:p>
        </p:txBody>
      </p:sp>
      <p:sp>
        <p:nvSpPr>
          <p:cNvPr id="234" name="TextBox 8"/>
          <p:cNvSpPr/>
          <p:nvPr/>
        </p:nvSpPr>
        <p:spPr>
          <a:xfrm>
            <a:off x="4094640" y="2918160"/>
            <a:ext cx="607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This is to certify that command has awarded the</a:t>
            </a:r>
            <a:r>
              <a:rPr lang="en-AU" sz="3600" b="0" strike="noStrike" spc="-1">
                <a:solidFill>
                  <a:srgbClr val="000000"/>
                </a:solidFill>
                <a:latin typeface="Times New Roman"/>
                <a:ea typeface="DejaVu Sans"/>
              </a:rPr>
              <a:t> </a:t>
            </a:r>
            <a:endParaRPr lang="en-IN" sz="3600" b="0" strike="noStrike" spc="-1">
              <a:solidFill>
                <a:srgbClr val="000000"/>
              </a:solidFill>
              <a:latin typeface="Arial"/>
            </a:endParaRPr>
          </a:p>
        </p:txBody>
      </p:sp>
      <p:sp>
        <p:nvSpPr>
          <p:cNvPr id="235" name="TextBox 9"/>
          <p:cNvSpPr/>
          <p:nvPr/>
        </p:nvSpPr>
        <p:spPr>
          <a:xfrm>
            <a:off x="5573160" y="4307400"/>
            <a:ext cx="29275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endParaRPr lang="en-IN" sz="1800" b="0" strike="noStrike" spc="-1">
              <a:solidFill>
                <a:srgbClr val="000000"/>
              </a:solidFill>
              <a:latin typeface="Arial"/>
            </a:endParaRPr>
          </a:p>
        </p:txBody>
      </p:sp>
      <p:sp>
        <p:nvSpPr>
          <p:cNvPr id="236" name="TextBox 10"/>
          <p:cNvSpPr/>
          <p:nvPr/>
        </p:nvSpPr>
        <p:spPr>
          <a:xfrm>
            <a:off x="4411800" y="3396240"/>
            <a:ext cx="53254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Gallantry Award</a:t>
            </a:r>
            <a:endParaRPr lang="en-IN" sz="3600" b="0" strike="noStrike" spc="-1">
              <a:solidFill>
                <a:srgbClr val="000000"/>
              </a:solidFill>
              <a:latin typeface="Arial"/>
            </a:endParaRPr>
          </a:p>
        </p:txBody>
      </p:sp>
      <p:sp>
        <p:nvSpPr>
          <p:cNvPr id="237" name="TextBox 11"/>
          <p:cNvSpPr/>
          <p:nvPr/>
        </p:nvSpPr>
        <p:spPr>
          <a:xfrm>
            <a:off x="6723360" y="3931920"/>
            <a:ext cx="5914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TO</a:t>
            </a:r>
            <a:endParaRPr lang="en-IN" sz="2400" b="0" strike="noStrike" spc="-1">
              <a:solidFill>
                <a:srgbClr val="000000"/>
              </a:solidFill>
              <a:latin typeface="Arial"/>
            </a:endParaRPr>
          </a:p>
        </p:txBody>
      </p:sp>
      <p:sp>
        <p:nvSpPr>
          <p:cNvPr id="238" name="TextBox 12"/>
          <p:cNvSpPr/>
          <p:nvPr/>
        </p:nvSpPr>
        <p:spPr>
          <a:xfrm>
            <a:off x="1503720" y="4960080"/>
            <a:ext cx="11057040" cy="82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600" b="0" strike="noStrike" spc="-1" dirty="0">
                <a:solidFill>
                  <a:srgbClr val="000000"/>
                </a:solidFill>
                <a:latin typeface="Times New Roman"/>
                <a:ea typeface="DejaVu Sans"/>
              </a:rPr>
              <a:t>The Gallantry Award is awarded to members who have displayed during a single significant event, acts of professionalism and dedication within an operation at a standard above what is expected of his worn rank. {name} conducted themselves with a high level of skill, knowledge and attitude which significantly altered the outcome of a situation in a positive manner during an operation. </a:t>
            </a:r>
            <a:endParaRPr lang="en-IN" sz="1600" b="0" strike="noStrike" spc="-1" dirty="0">
              <a:solidFill>
                <a:srgbClr val="000000"/>
              </a:solidFill>
              <a:latin typeface="Arial"/>
            </a:endParaRPr>
          </a:p>
        </p:txBody>
      </p:sp>
      <p:cxnSp>
        <p:nvCxnSpPr>
          <p:cNvPr id="241" name="Straight Connector 31"/>
          <p:cNvCxnSpPr/>
          <p:nvPr/>
        </p:nvCxnSpPr>
        <p:spPr>
          <a:xfrm flipH="1">
            <a:off x="5849280" y="6801480"/>
            <a:ext cx="2452680" cy="1440"/>
          </a:xfrm>
          <a:prstGeom prst="straightConnector1">
            <a:avLst/>
          </a:prstGeom>
          <a:ln w="12700">
            <a:solidFill>
              <a:srgbClr val="000000"/>
            </a:solidFill>
            <a:round/>
          </a:ln>
        </p:spPr>
      </p:cxnSp>
      <p:sp>
        <p:nvSpPr>
          <p:cNvPr id="242" name="TextBox 32"/>
          <p:cNvSpPr/>
          <p:nvPr/>
        </p:nvSpPr>
        <p:spPr>
          <a:xfrm>
            <a:off x="1985760" y="5789520"/>
            <a:ext cx="1003068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800" b="0" strike="noStrike" spc="-1" dirty="0">
                <a:solidFill>
                  <a:srgbClr val="000000"/>
                </a:solidFill>
                <a:latin typeface="Times New Roman"/>
                <a:ea typeface="DejaVu Sans"/>
              </a:rPr>
              <a:t>On today’s date, </a:t>
            </a:r>
            <a:r>
              <a:rPr lang="en-AU" sz="1800" b="0" i="1" strike="noStrike" spc="-1" dirty="0">
                <a:solidFill>
                  <a:srgbClr val="000000"/>
                </a:solidFill>
                <a:latin typeface="Times New Roman"/>
                <a:ea typeface="DejaVu Sans"/>
              </a:rPr>
              <a:t>{</a:t>
            </a:r>
            <a:r>
              <a:rPr lang="en-AU" sz="1800" b="0" i="1" strike="noStrike" spc="-1" dirty="0" err="1">
                <a:solidFill>
                  <a:srgbClr val="000000"/>
                </a:solidFill>
                <a:latin typeface="Times New Roman"/>
                <a:ea typeface="DejaVu Sans"/>
              </a:rPr>
              <a:t>dateNumber</a:t>
            </a:r>
            <a:r>
              <a:rPr lang="en-AU" sz="1800" b="0" i="1" strike="noStrike" spc="-1" dirty="0">
                <a:solidFill>
                  <a:srgbClr val="000000"/>
                </a:solidFill>
                <a:latin typeface="Times New Roman"/>
                <a:ea typeface="DejaVu Sans"/>
              </a:rPr>
              <a:t>}</a:t>
            </a:r>
            <a:r>
              <a:rPr lang="en-AU" sz="1800" b="0" i="1" strike="noStrike" spc="-1" baseline="30000" dirty="0">
                <a:solidFill>
                  <a:srgbClr val="000000"/>
                </a:solidFill>
                <a:latin typeface="Times New Roman"/>
                <a:ea typeface="DejaVu Sans"/>
              </a:rPr>
              <a:t>{suffix}</a:t>
            </a:r>
            <a:r>
              <a:rPr lang="en-AU" sz="1800" b="0" i="1" strike="noStrike" spc="-1" dirty="0">
                <a:solidFill>
                  <a:srgbClr val="000000"/>
                </a:solidFill>
                <a:latin typeface="Times New Roman"/>
                <a:ea typeface="DejaVu Sans"/>
              </a:rPr>
              <a:t> {date}</a:t>
            </a:r>
            <a:r>
              <a:rPr lang="en-AU" sz="1800" b="0" strike="noStrike" spc="-1" dirty="0">
                <a:solidFill>
                  <a:srgbClr val="000000"/>
                </a:solidFill>
                <a:latin typeface="Times New Roman"/>
                <a:ea typeface="DejaVu Sans"/>
              </a:rPr>
              <a:t>, {name} is therefore awarded the Gallantry Award.</a:t>
            </a:r>
            <a:endParaRPr lang="en-IN" sz="1800" b="0" strike="noStrike" spc="-1" dirty="0">
              <a:solidFill>
                <a:srgbClr val="000000"/>
              </a:solidFill>
              <a:latin typeface="Arial"/>
            </a:endParaRPr>
          </a:p>
        </p:txBody>
      </p:sp>
      <p:pic>
        <p:nvPicPr>
          <p:cNvPr id="243" name="Picture 2"/>
          <p:cNvPicPr/>
          <p:nvPr/>
        </p:nvPicPr>
        <p:blipFill>
          <a:blip r:embed="rId4"/>
          <a:stretch/>
        </p:blipFill>
        <p:spPr>
          <a:xfrm>
            <a:off x="8951400" y="6212160"/>
            <a:ext cx="1571040" cy="1370880"/>
          </a:xfrm>
          <a:prstGeom prst="rect">
            <a:avLst/>
          </a:prstGeom>
          <a:ln w="0">
            <a:noFill/>
          </a:ln>
        </p:spPr>
      </p:pic>
      <p:pic>
        <p:nvPicPr>
          <p:cNvPr id="244" name="Picture 4"/>
          <p:cNvPicPr/>
          <p:nvPr/>
        </p:nvPicPr>
        <p:blipFill>
          <a:blip r:embed="rId5"/>
          <a:stretch/>
        </p:blipFill>
        <p:spPr>
          <a:xfrm>
            <a:off x="3803760" y="6226920"/>
            <a:ext cx="1393560" cy="1441080"/>
          </a:xfrm>
          <a:prstGeom prst="rect">
            <a:avLst/>
          </a:prstGeom>
          <a:ln w="0">
            <a:noFill/>
          </a:ln>
        </p:spPr>
      </p:pic>
      <p:pic>
        <p:nvPicPr>
          <p:cNvPr id="245" name="Picture 17"/>
          <p:cNvPicPr/>
          <p:nvPr/>
        </p:nvPicPr>
        <p:blipFill>
          <a:blip r:embed="rId6"/>
          <a:stretch/>
        </p:blipFill>
        <p:spPr>
          <a:xfrm>
            <a:off x="878400" y="738360"/>
            <a:ext cx="2390400" cy="2432520"/>
          </a:xfrm>
          <a:prstGeom prst="rect">
            <a:avLst/>
          </a:prstGeom>
          <a:ln w="0">
            <a:noFill/>
          </a:ln>
        </p:spPr>
      </p:pic>
      <p:pic>
        <p:nvPicPr>
          <p:cNvPr id="246" name="Picture 25"/>
          <p:cNvPicPr/>
          <p:nvPr/>
        </p:nvPicPr>
        <p:blipFill>
          <a:blip r:embed="rId6"/>
          <a:stretch/>
        </p:blipFill>
        <p:spPr>
          <a:xfrm rot="5400000">
            <a:off x="10821600" y="741600"/>
            <a:ext cx="2406600" cy="2449080"/>
          </a:xfrm>
          <a:prstGeom prst="rect">
            <a:avLst/>
          </a:prstGeom>
          <a:ln w="0">
            <a:noFill/>
          </a:ln>
        </p:spPr>
      </p:pic>
      <p:pic>
        <p:nvPicPr>
          <p:cNvPr id="247" name="Picture 29"/>
          <p:cNvPicPr/>
          <p:nvPr/>
        </p:nvPicPr>
        <p:blipFill>
          <a:blip r:embed="rId6"/>
          <a:stretch/>
        </p:blipFill>
        <p:spPr>
          <a:xfrm rot="16200000">
            <a:off x="857160" y="5352480"/>
            <a:ext cx="2390400" cy="2432520"/>
          </a:xfrm>
          <a:prstGeom prst="rect">
            <a:avLst/>
          </a:prstGeom>
          <a:ln w="0">
            <a:noFill/>
          </a:ln>
        </p:spPr>
      </p:pic>
      <p:pic>
        <p:nvPicPr>
          <p:cNvPr id="248" name="Picture 30"/>
          <p:cNvPicPr/>
          <p:nvPr/>
        </p:nvPicPr>
        <p:blipFill>
          <a:blip r:embed="rId6"/>
          <a:stretch/>
        </p:blipFill>
        <p:spPr>
          <a:xfrm rot="10800000">
            <a:off x="10797120" y="5344560"/>
            <a:ext cx="2406600" cy="2449080"/>
          </a:xfrm>
          <a:prstGeom prst="rect">
            <a:avLst/>
          </a:prstGeom>
          <a:ln w="0">
            <a:noFill/>
          </a:ln>
        </p:spPr>
      </p:pic>
      <p:pic>
        <p:nvPicPr>
          <p:cNvPr id="249" name="Picture 23"/>
          <p:cNvPicPr/>
          <p:nvPr/>
        </p:nvPicPr>
        <p:blipFill>
          <a:blip r:embed="rId7"/>
          <a:stretch/>
        </p:blipFill>
        <p:spPr>
          <a:xfrm>
            <a:off x="6606360" y="776160"/>
            <a:ext cx="884880" cy="1875240"/>
          </a:xfrm>
          <a:prstGeom prst="rect">
            <a:avLst/>
          </a:prstGeom>
          <a:ln w="0">
            <a:noFill/>
          </a:ln>
        </p:spPr>
      </p:pic>
      <p:sp>
        <p:nvSpPr>
          <p:cNvPr id="2" name="TextBox 33">
            <a:extLst>
              <a:ext uri="{FF2B5EF4-FFF2-40B4-BE49-F238E27FC236}">
                <a16:creationId xmlns:a16="http://schemas.microsoft.com/office/drawing/2014/main" id="{A8A7B534-0FED-3160-B800-623DE3C8B8E3}"/>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sp>
        <p:nvSpPr>
          <p:cNvPr id="3" name="Google Shape;90;p1">
            <a:extLst>
              <a:ext uri="{FF2B5EF4-FFF2-40B4-BE49-F238E27FC236}">
                <a16:creationId xmlns:a16="http://schemas.microsoft.com/office/drawing/2014/main" id="{A4C1C0E2-2E2D-6245-9DC1-511E24C31B25}"/>
              </a:ext>
            </a:extLst>
          </p:cNvPr>
          <p:cNvSpPr/>
          <p:nvPr/>
        </p:nvSpPr>
        <p:spPr>
          <a:xfrm>
            <a:off x="4967670" y="6749098"/>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4" name="Google Shape;347;p28">
            <a:extLst>
              <a:ext uri="{FF2B5EF4-FFF2-40B4-BE49-F238E27FC236}">
                <a16:creationId xmlns:a16="http://schemas.microsoft.com/office/drawing/2014/main" id="{B60E3332-5D41-9E8B-A918-C95C26DE1CAE}"/>
              </a:ext>
            </a:extLst>
          </p:cNvPr>
          <p:cNvSpPr/>
          <p:nvPr/>
        </p:nvSpPr>
        <p:spPr>
          <a:xfrm>
            <a:off x="4914480" y="6279714"/>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51" name="Picture 16"/>
          <p:cNvPicPr/>
          <p:nvPr/>
        </p:nvPicPr>
        <p:blipFill>
          <a:blip r:embed="rId2"/>
          <a:stretch/>
        </p:blipFill>
        <p:spPr>
          <a:xfrm>
            <a:off x="819000" y="714240"/>
            <a:ext cx="12428640" cy="7104240"/>
          </a:xfrm>
          <a:prstGeom prst="rect">
            <a:avLst/>
          </a:prstGeom>
          <a:ln w="0">
            <a:noFill/>
          </a:ln>
        </p:spPr>
      </p:pic>
      <p:pic>
        <p:nvPicPr>
          <p:cNvPr id="252" name="Picture 19"/>
          <p:cNvPicPr/>
          <p:nvPr/>
        </p:nvPicPr>
        <p:blipFill>
          <a:blip r:embed="rId3"/>
          <a:srcRect l="10028" t="12536" r="10465" b="20264"/>
          <a:stretch/>
        </p:blipFill>
        <p:spPr>
          <a:xfrm>
            <a:off x="0" y="3240"/>
            <a:ext cx="14038560" cy="8455320"/>
          </a:xfrm>
          <a:prstGeom prst="rect">
            <a:avLst/>
          </a:prstGeom>
          <a:ln w="0">
            <a:noFill/>
          </a:ln>
        </p:spPr>
      </p:pic>
      <p:sp>
        <p:nvSpPr>
          <p:cNvPr id="253" name="TextBox 7"/>
          <p:cNvSpPr/>
          <p:nvPr/>
        </p:nvSpPr>
        <p:spPr>
          <a:xfrm>
            <a:off x="1668960" y="2526120"/>
            <a:ext cx="10736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AUSTRALIAN SPECIAL OPERATIONS TASKFORCE</a:t>
            </a:r>
            <a:endParaRPr lang="en-IN" sz="3600" b="0" strike="noStrike" spc="-1">
              <a:solidFill>
                <a:srgbClr val="000000"/>
              </a:solidFill>
              <a:latin typeface="Arial"/>
            </a:endParaRPr>
          </a:p>
        </p:txBody>
      </p:sp>
      <p:sp>
        <p:nvSpPr>
          <p:cNvPr id="254" name="TextBox 8"/>
          <p:cNvSpPr/>
          <p:nvPr/>
        </p:nvSpPr>
        <p:spPr>
          <a:xfrm>
            <a:off x="4094640" y="2918160"/>
            <a:ext cx="607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This is to certify that command has awarded the</a:t>
            </a:r>
            <a:r>
              <a:rPr lang="en-AU" sz="3600" b="0" strike="noStrike" spc="-1">
                <a:solidFill>
                  <a:srgbClr val="000000"/>
                </a:solidFill>
                <a:latin typeface="Times New Roman"/>
                <a:ea typeface="DejaVu Sans"/>
              </a:rPr>
              <a:t> </a:t>
            </a:r>
            <a:endParaRPr lang="en-IN" sz="3600" b="0" strike="noStrike" spc="-1">
              <a:solidFill>
                <a:srgbClr val="000000"/>
              </a:solidFill>
              <a:latin typeface="Arial"/>
            </a:endParaRPr>
          </a:p>
        </p:txBody>
      </p:sp>
      <p:sp>
        <p:nvSpPr>
          <p:cNvPr id="255" name="TextBox 9"/>
          <p:cNvSpPr/>
          <p:nvPr/>
        </p:nvSpPr>
        <p:spPr>
          <a:xfrm>
            <a:off x="5573160" y="4307400"/>
            <a:ext cx="29275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endParaRPr lang="en-IN" sz="1800" b="0" strike="noStrike" spc="-1">
              <a:solidFill>
                <a:srgbClr val="000000"/>
              </a:solidFill>
              <a:latin typeface="Arial"/>
            </a:endParaRPr>
          </a:p>
        </p:txBody>
      </p:sp>
      <p:sp>
        <p:nvSpPr>
          <p:cNvPr id="256" name="TextBox 10"/>
          <p:cNvSpPr/>
          <p:nvPr/>
        </p:nvSpPr>
        <p:spPr>
          <a:xfrm>
            <a:off x="4320360" y="3378600"/>
            <a:ext cx="53974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Group Development Award</a:t>
            </a:r>
            <a:endParaRPr lang="en-IN" sz="3600" b="0" strike="noStrike" spc="-1">
              <a:solidFill>
                <a:srgbClr val="000000"/>
              </a:solidFill>
              <a:latin typeface="Arial"/>
            </a:endParaRPr>
          </a:p>
        </p:txBody>
      </p:sp>
      <p:sp>
        <p:nvSpPr>
          <p:cNvPr id="257" name="TextBox 11"/>
          <p:cNvSpPr/>
          <p:nvPr/>
        </p:nvSpPr>
        <p:spPr>
          <a:xfrm>
            <a:off x="6723360" y="3931920"/>
            <a:ext cx="5914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TO</a:t>
            </a:r>
            <a:endParaRPr lang="en-IN" sz="2400" b="0" strike="noStrike" spc="-1">
              <a:solidFill>
                <a:srgbClr val="000000"/>
              </a:solidFill>
              <a:latin typeface="Arial"/>
            </a:endParaRPr>
          </a:p>
        </p:txBody>
      </p:sp>
      <p:sp>
        <p:nvSpPr>
          <p:cNvPr id="258" name="TextBox 12"/>
          <p:cNvSpPr/>
          <p:nvPr/>
        </p:nvSpPr>
        <p:spPr>
          <a:xfrm>
            <a:off x="1561680" y="4937040"/>
            <a:ext cx="1091484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800" b="0" strike="noStrike" spc="-1" dirty="0">
                <a:solidFill>
                  <a:srgbClr val="000000"/>
                </a:solidFill>
                <a:latin typeface="Times New Roman"/>
                <a:ea typeface="DejaVu Sans"/>
              </a:rPr>
              <a:t>{name} has shown a high level of dedication and performance related to group development, document and/or training creation and development, encouraging and assisting new members and assisting in training and recruitment which has directly contributed to the improvement of the unit.  </a:t>
            </a:r>
            <a:endParaRPr lang="en-IN" sz="1800" b="0" strike="noStrike" spc="-1" dirty="0">
              <a:solidFill>
                <a:srgbClr val="000000"/>
              </a:solidFill>
              <a:latin typeface="Arial"/>
            </a:endParaRPr>
          </a:p>
        </p:txBody>
      </p:sp>
      <p:cxnSp>
        <p:nvCxnSpPr>
          <p:cNvPr id="261" name="Straight Connector 31"/>
          <p:cNvCxnSpPr/>
          <p:nvPr/>
        </p:nvCxnSpPr>
        <p:spPr>
          <a:xfrm flipH="1">
            <a:off x="5849280" y="6958440"/>
            <a:ext cx="2452680" cy="1440"/>
          </a:xfrm>
          <a:prstGeom prst="straightConnector1">
            <a:avLst/>
          </a:prstGeom>
          <a:ln w="12700">
            <a:solidFill>
              <a:srgbClr val="000000"/>
            </a:solidFill>
            <a:round/>
          </a:ln>
        </p:spPr>
      </p:cxnSp>
      <p:sp>
        <p:nvSpPr>
          <p:cNvPr id="262" name="TextBox 32"/>
          <p:cNvSpPr/>
          <p:nvPr/>
        </p:nvSpPr>
        <p:spPr>
          <a:xfrm>
            <a:off x="2003760" y="5791320"/>
            <a:ext cx="10030680" cy="699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000" b="0" strike="noStrike" spc="-1" dirty="0">
                <a:solidFill>
                  <a:srgbClr val="000000"/>
                </a:solidFill>
                <a:latin typeface="Times New Roman"/>
                <a:ea typeface="DejaVu Sans"/>
              </a:rPr>
              <a:t>On today’s date, </a:t>
            </a:r>
            <a:r>
              <a:rPr lang="en-AU" sz="2000" b="0" i="1" strike="noStrike" spc="-1" dirty="0">
                <a:solidFill>
                  <a:srgbClr val="000000"/>
                </a:solidFill>
                <a:latin typeface="Times New Roman"/>
                <a:ea typeface="DejaVu Sans"/>
              </a:rPr>
              <a:t>{</a:t>
            </a:r>
            <a:r>
              <a:rPr lang="en-AU" sz="2000" b="0" i="1" strike="noStrike" spc="-1" dirty="0" err="1">
                <a:solidFill>
                  <a:srgbClr val="000000"/>
                </a:solidFill>
                <a:latin typeface="Times New Roman"/>
                <a:ea typeface="DejaVu Sans"/>
              </a:rPr>
              <a:t>dateNumber</a:t>
            </a:r>
            <a:r>
              <a:rPr lang="en-AU" sz="2000" b="0" i="1" strike="noStrike" spc="-1" dirty="0">
                <a:solidFill>
                  <a:srgbClr val="000000"/>
                </a:solidFill>
                <a:latin typeface="Times New Roman"/>
                <a:ea typeface="DejaVu Sans"/>
              </a:rPr>
              <a:t>}</a:t>
            </a:r>
            <a:r>
              <a:rPr lang="en-AU" sz="2000" b="0" i="1" strike="noStrike" spc="-1" baseline="30000" dirty="0">
                <a:solidFill>
                  <a:srgbClr val="000000"/>
                </a:solidFill>
                <a:latin typeface="Times New Roman"/>
                <a:ea typeface="DejaVu Sans"/>
              </a:rPr>
              <a:t>{suffix}</a:t>
            </a:r>
            <a:r>
              <a:rPr lang="en-AU" sz="2000" b="0" i="1" strike="noStrike" spc="-1" dirty="0">
                <a:solidFill>
                  <a:srgbClr val="000000"/>
                </a:solidFill>
                <a:latin typeface="Times New Roman"/>
                <a:ea typeface="DejaVu Sans"/>
              </a:rPr>
              <a:t> {date}</a:t>
            </a:r>
            <a:r>
              <a:rPr lang="en-AU" sz="2000" b="0" strike="noStrike" spc="-1" dirty="0">
                <a:solidFill>
                  <a:srgbClr val="000000"/>
                </a:solidFill>
                <a:latin typeface="Times New Roman"/>
                <a:ea typeface="DejaVu Sans"/>
              </a:rPr>
              <a:t>, {name} is therefore awarded the </a:t>
            </a:r>
            <a:br>
              <a:rPr sz="2000" dirty="0"/>
            </a:br>
            <a:r>
              <a:rPr lang="en-AU" sz="2000" b="0" strike="noStrike" spc="-1" dirty="0">
                <a:solidFill>
                  <a:srgbClr val="000000"/>
                </a:solidFill>
                <a:latin typeface="Times New Roman"/>
                <a:ea typeface="DejaVu Sans"/>
              </a:rPr>
              <a:t>Group Development Award </a:t>
            </a:r>
            <a:endParaRPr lang="en-IN" sz="2000" b="0" strike="noStrike" spc="-1" dirty="0">
              <a:solidFill>
                <a:srgbClr val="000000"/>
              </a:solidFill>
              <a:latin typeface="Arial"/>
            </a:endParaRPr>
          </a:p>
        </p:txBody>
      </p:sp>
      <p:pic>
        <p:nvPicPr>
          <p:cNvPr id="263" name="Picture 2"/>
          <p:cNvPicPr/>
          <p:nvPr/>
        </p:nvPicPr>
        <p:blipFill>
          <a:blip r:embed="rId4"/>
          <a:stretch/>
        </p:blipFill>
        <p:spPr>
          <a:xfrm>
            <a:off x="10481400" y="6171480"/>
            <a:ext cx="1571040" cy="1370880"/>
          </a:xfrm>
          <a:prstGeom prst="rect">
            <a:avLst/>
          </a:prstGeom>
          <a:ln w="0">
            <a:noFill/>
          </a:ln>
        </p:spPr>
      </p:pic>
      <p:pic>
        <p:nvPicPr>
          <p:cNvPr id="264" name="Picture 4"/>
          <p:cNvPicPr/>
          <p:nvPr/>
        </p:nvPicPr>
        <p:blipFill>
          <a:blip r:embed="rId5"/>
          <a:stretch/>
        </p:blipFill>
        <p:spPr>
          <a:xfrm>
            <a:off x="1668960" y="6107760"/>
            <a:ext cx="1393560" cy="1441080"/>
          </a:xfrm>
          <a:prstGeom prst="rect">
            <a:avLst/>
          </a:prstGeom>
          <a:ln w="0">
            <a:noFill/>
          </a:ln>
        </p:spPr>
      </p:pic>
      <p:pic>
        <p:nvPicPr>
          <p:cNvPr id="265" name="Picture 21"/>
          <p:cNvPicPr/>
          <p:nvPr/>
        </p:nvPicPr>
        <p:blipFill>
          <a:blip r:embed="rId6"/>
          <a:stretch/>
        </p:blipFill>
        <p:spPr>
          <a:xfrm>
            <a:off x="6545520" y="776520"/>
            <a:ext cx="947520" cy="2008080"/>
          </a:xfrm>
          <a:prstGeom prst="rect">
            <a:avLst/>
          </a:prstGeom>
          <a:ln w="0">
            <a:noFill/>
          </a:ln>
        </p:spPr>
      </p:pic>
      <p:sp>
        <p:nvSpPr>
          <p:cNvPr id="2" name="TextBox 33">
            <a:extLst>
              <a:ext uri="{FF2B5EF4-FFF2-40B4-BE49-F238E27FC236}">
                <a16:creationId xmlns:a16="http://schemas.microsoft.com/office/drawing/2014/main" id="{4BF10617-3094-61E7-AA71-192562C71177}"/>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sp>
        <p:nvSpPr>
          <p:cNvPr id="3" name="Google Shape;90;p1">
            <a:extLst>
              <a:ext uri="{FF2B5EF4-FFF2-40B4-BE49-F238E27FC236}">
                <a16:creationId xmlns:a16="http://schemas.microsoft.com/office/drawing/2014/main" id="{20DE7DAC-7375-D7BA-3358-498B4A49806A}"/>
              </a:ext>
            </a:extLst>
          </p:cNvPr>
          <p:cNvSpPr/>
          <p:nvPr/>
        </p:nvSpPr>
        <p:spPr>
          <a:xfrm>
            <a:off x="4983030" y="6902445"/>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4" name="Google Shape;347;p28">
            <a:extLst>
              <a:ext uri="{FF2B5EF4-FFF2-40B4-BE49-F238E27FC236}">
                <a16:creationId xmlns:a16="http://schemas.microsoft.com/office/drawing/2014/main" id="{D4ED5C72-E3B7-F1E5-B482-A3E435E2DDC4}"/>
              </a:ext>
            </a:extLst>
          </p:cNvPr>
          <p:cNvSpPr/>
          <p:nvPr/>
        </p:nvSpPr>
        <p:spPr>
          <a:xfrm>
            <a:off x="4929840" y="6433061"/>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67" name="Picture 17"/>
          <p:cNvPicPr/>
          <p:nvPr/>
        </p:nvPicPr>
        <p:blipFill>
          <a:blip r:embed="rId2"/>
          <a:stretch/>
        </p:blipFill>
        <p:spPr>
          <a:xfrm>
            <a:off x="819000" y="714240"/>
            <a:ext cx="12428640" cy="7104240"/>
          </a:xfrm>
          <a:prstGeom prst="rect">
            <a:avLst/>
          </a:prstGeom>
          <a:ln w="0">
            <a:noFill/>
          </a:ln>
        </p:spPr>
      </p:pic>
      <p:pic>
        <p:nvPicPr>
          <p:cNvPr id="268" name="Picture 19"/>
          <p:cNvPicPr/>
          <p:nvPr/>
        </p:nvPicPr>
        <p:blipFill>
          <a:blip r:embed="rId3"/>
          <a:srcRect l="10028" t="12536" r="10465" b="20264"/>
          <a:stretch/>
        </p:blipFill>
        <p:spPr>
          <a:xfrm>
            <a:off x="0" y="3240"/>
            <a:ext cx="14038560" cy="8455320"/>
          </a:xfrm>
          <a:prstGeom prst="rect">
            <a:avLst/>
          </a:prstGeom>
          <a:ln w="0">
            <a:noFill/>
          </a:ln>
        </p:spPr>
      </p:pic>
      <p:sp>
        <p:nvSpPr>
          <p:cNvPr id="269" name="TextBox 7"/>
          <p:cNvSpPr/>
          <p:nvPr/>
        </p:nvSpPr>
        <p:spPr>
          <a:xfrm>
            <a:off x="1668960" y="2526120"/>
            <a:ext cx="10736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AUSTRALIAN SPECIAL OPERATIONS TASKFORCE</a:t>
            </a:r>
            <a:endParaRPr lang="en-IN" sz="3600" b="0" strike="noStrike" spc="-1">
              <a:solidFill>
                <a:srgbClr val="000000"/>
              </a:solidFill>
              <a:latin typeface="Arial"/>
            </a:endParaRPr>
          </a:p>
        </p:txBody>
      </p:sp>
      <p:sp>
        <p:nvSpPr>
          <p:cNvPr id="270" name="TextBox 8"/>
          <p:cNvSpPr/>
          <p:nvPr/>
        </p:nvSpPr>
        <p:spPr>
          <a:xfrm>
            <a:off x="4094640" y="2918160"/>
            <a:ext cx="607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This is to certify that command has awarded the</a:t>
            </a:r>
            <a:r>
              <a:rPr lang="en-AU" sz="3600" b="0" strike="noStrike" spc="-1">
                <a:solidFill>
                  <a:srgbClr val="000000"/>
                </a:solidFill>
                <a:latin typeface="Times New Roman"/>
                <a:ea typeface="DejaVu Sans"/>
              </a:rPr>
              <a:t> </a:t>
            </a:r>
            <a:endParaRPr lang="en-IN" sz="3600" b="0" strike="noStrike" spc="-1">
              <a:solidFill>
                <a:srgbClr val="000000"/>
              </a:solidFill>
              <a:latin typeface="Arial"/>
            </a:endParaRPr>
          </a:p>
        </p:txBody>
      </p:sp>
      <p:sp>
        <p:nvSpPr>
          <p:cNvPr id="271" name="TextBox 9"/>
          <p:cNvSpPr/>
          <p:nvPr/>
        </p:nvSpPr>
        <p:spPr>
          <a:xfrm>
            <a:off x="5573160" y="4307400"/>
            <a:ext cx="29275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endParaRPr lang="en-IN" sz="1800" b="0" strike="noStrike" spc="-1">
              <a:solidFill>
                <a:srgbClr val="000000"/>
              </a:solidFill>
              <a:latin typeface="Arial"/>
            </a:endParaRPr>
          </a:p>
        </p:txBody>
      </p:sp>
      <p:sp>
        <p:nvSpPr>
          <p:cNvPr id="272" name="TextBox 10"/>
          <p:cNvSpPr/>
          <p:nvPr/>
        </p:nvSpPr>
        <p:spPr>
          <a:xfrm>
            <a:off x="5398560" y="3408840"/>
            <a:ext cx="32770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Instructor Award</a:t>
            </a:r>
            <a:endParaRPr lang="en-IN" sz="3600" b="0" strike="noStrike" spc="-1">
              <a:solidFill>
                <a:srgbClr val="000000"/>
              </a:solidFill>
              <a:latin typeface="Arial"/>
            </a:endParaRPr>
          </a:p>
        </p:txBody>
      </p:sp>
      <p:sp>
        <p:nvSpPr>
          <p:cNvPr id="273" name="TextBox 11"/>
          <p:cNvSpPr/>
          <p:nvPr/>
        </p:nvSpPr>
        <p:spPr>
          <a:xfrm>
            <a:off x="6723360" y="3931920"/>
            <a:ext cx="5914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TO</a:t>
            </a:r>
            <a:endParaRPr lang="en-IN" sz="2400" b="0" strike="noStrike" spc="-1">
              <a:solidFill>
                <a:srgbClr val="000000"/>
              </a:solidFill>
              <a:latin typeface="Arial"/>
            </a:endParaRPr>
          </a:p>
        </p:txBody>
      </p:sp>
      <p:sp>
        <p:nvSpPr>
          <p:cNvPr id="274" name="TextBox 12"/>
          <p:cNvSpPr/>
          <p:nvPr/>
        </p:nvSpPr>
        <p:spPr>
          <a:xfrm>
            <a:off x="1611000" y="4982760"/>
            <a:ext cx="1081620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800" b="0" strike="noStrike" spc="-1" dirty="0">
                <a:solidFill>
                  <a:srgbClr val="000000"/>
                </a:solidFill>
                <a:latin typeface="Times New Roman"/>
                <a:ea typeface="DejaVu Sans"/>
              </a:rPr>
              <a:t>{name} has shown a high level of dedication to training of new recruits and ASOT members, furthering personal knowledge through his own training and study and has assisted with creation of trainings and documentation. </a:t>
            </a:r>
            <a:endParaRPr lang="en-IN" sz="1800" b="0" strike="noStrike" spc="-1" dirty="0">
              <a:solidFill>
                <a:srgbClr val="000000"/>
              </a:solidFill>
              <a:latin typeface="Arial"/>
            </a:endParaRPr>
          </a:p>
        </p:txBody>
      </p:sp>
      <p:cxnSp>
        <p:nvCxnSpPr>
          <p:cNvPr id="277" name="Straight Connector 31"/>
          <p:cNvCxnSpPr/>
          <p:nvPr/>
        </p:nvCxnSpPr>
        <p:spPr>
          <a:xfrm flipH="1">
            <a:off x="5849280" y="6801480"/>
            <a:ext cx="2452680" cy="1440"/>
          </a:xfrm>
          <a:prstGeom prst="straightConnector1">
            <a:avLst/>
          </a:prstGeom>
          <a:ln w="12700">
            <a:solidFill>
              <a:srgbClr val="000000"/>
            </a:solidFill>
            <a:round/>
          </a:ln>
        </p:spPr>
      </p:cxnSp>
      <p:sp>
        <p:nvSpPr>
          <p:cNvPr id="278" name="TextBox 32"/>
          <p:cNvSpPr/>
          <p:nvPr/>
        </p:nvSpPr>
        <p:spPr>
          <a:xfrm>
            <a:off x="2021760" y="5842800"/>
            <a:ext cx="10030680" cy="39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000" b="0" strike="noStrike" spc="-1" dirty="0">
                <a:solidFill>
                  <a:srgbClr val="000000"/>
                </a:solidFill>
                <a:latin typeface="Times New Roman"/>
                <a:ea typeface="DejaVu Sans"/>
              </a:rPr>
              <a:t>On today’s date, </a:t>
            </a:r>
            <a:r>
              <a:rPr lang="en-AU" sz="2000" b="0" i="1" strike="noStrike" spc="-1" dirty="0">
                <a:solidFill>
                  <a:srgbClr val="000000"/>
                </a:solidFill>
                <a:latin typeface="Times New Roman"/>
                <a:ea typeface="DejaVu Sans"/>
              </a:rPr>
              <a:t>{</a:t>
            </a:r>
            <a:r>
              <a:rPr lang="en-AU" sz="2000" b="0" i="1" strike="noStrike" spc="-1" dirty="0" err="1">
                <a:solidFill>
                  <a:srgbClr val="000000"/>
                </a:solidFill>
                <a:latin typeface="Times New Roman"/>
                <a:ea typeface="DejaVu Sans"/>
              </a:rPr>
              <a:t>dateNumber</a:t>
            </a:r>
            <a:r>
              <a:rPr lang="en-AU" sz="2000" b="0" i="1" strike="noStrike" spc="-1" dirty="0">
                <a:solidFill>
                  <a:srgbClr val="000000"/>
                </a:solidFill>
                <a:latin typeface="Times New Roman"/>
                <a:ea typeface="DejaVu Sans"/>
              </a:rPr>
              <a:t>}</a:t>
            </a:r>
            <a:r>
              <a:rPr lang="en-AU" sz="2000" b="0" i="1" strike="noStrike" spc="-1" baseline="30000" dirty="0">
                <a:solidFill>
                  <a:srgbClr val="000000"/>
                </a:solidFill>
                <a:latin typeface="Times New Roman"/>
                <a:ea typeface="DejaVu Sans"/>
              </a:rPr>
              <a:t>{suffix}</a:t>
            </a:r>
            <a:r>
              <a:rPr lang="en-AU" sz="2000" b="0" i="1" strike="noStrike" spc="-1" dirty="0">
                <a:solidFill>
                  <a:srgbClr val="000000"/>
                </a:solidFill>
                <a:latin typeface="Times New Roman"/>
                <a:ea typeface="DejaVu Sans"/>
              </a:rPr>
              <a:t> {date}</a:t>
            </a:r>
            <a:r>
              <a:rPr lang="en-AU" sz="2000" b="0" strike="noStrike" spc="-1" dirty="0">
                <a:solidFill>
                  <a:srgbClr val="000000"/>
                </a:solidFill>
                <a:latin typeface="Times New Roman"/>
                <a:ea typeface="DejaVu Sans"/>
              </a:rPr>
              <a:t>, {name} is therefore awarded the Instructor Award. </a:t>
            </a:r>
            <a:endParaRPr lang="en-IN" sz="2000" b="0" strike="noStrike" spc="-1" dirty="0">
              <a:solidFill>
                <a:srgbClr val="000000"/>
              </a:solidFill>
              <a:latin typeface="Arial"/>
            </a:endParaRPr>
          </a:p>
        </p:txBody>
      </p:sp>
      <p:pic>
        <p:nvPicPr>
          <p:cNvPr id="279" name="Picture 2"/>
          <p:cNvPicPr/>
          <p:nvPr/>
        </p:nvPicPr>
        <p:blipFill>
          <a:blip r:embed="rId4"/>
          <a:stretch/>
        </p:blipFill>
        <p:spPr>
          <a:xfrm>
            <a:off x="10481400" y="6171480"/>
            <a:ext cx="1571040" cy="1370880"/>
          </a:xfrm>
          <a:prstGeom prst="rect">
            <a:avLst/>
          </a:prstGeom>
          <a:ln w="0">
            <a:noFill/>
          </a:ln>
        </p:spPr>
      </p:pic>
      <p:pic>
        <p:nvPicPr>
          <p:cNvPr id="280" name="Picture 4"/>
          <p:cNvPicPr/>
          <p:nvPr/>
        </p:nvPicPr>
        <p:blipFill>
          <a:blip r:embed="rId5"/>
          <a:stretch/>
        </p:blipFill>
        <p:spPr>
          <a:xfrm>
            <a:off x="1668960" y="6107760"/>
            <a:ext cx="1393560" cy="1441080"/>
          </a:xfrm>
          <a:prstGeom prst="rect">
            <a:avLst/>
          </a:prstGeom>
          <a:ln w="0">
            <a:noFill/>
          </a:ln>
        </p:spPr>
      </p:pic>
      <p:pic>
        <p:nvPicPr>
          <p:cNvPr id="281" name="Picture 25"/>
          <p:cNvPicPr/>
          <p:nvPr/>
        </p:nvPicPr>
        <p:blipFill>
          <a:blip r:embed="rId6"/>
          <a:stretch/>
        </p:blipFill>
        <p:spPr>
          <a:xfrm>
            <a:off x="6615720" y="813960"/>
            <a:ext cx="917640" cy="1944360"/>
          </a:xfrm>
          <a:prstGeom prst="rect">
            <a:avLst/>
          </a:prstGeom>
          <a:ln w="0">
            <a:noFill/>
          </a:ln>
        </p:spPr>
      </p:pic>
      <p:sp>
        <p:nvSpPr>
          <p:cNvPr id="2" name="TextBox 33">
            <a:extLst>
              <a:ext uri="{FF2B5EF4-FFF2-40B4-BE49-F238E27FC236}">
                <a16:creationId xmlns:a16="http://schemas.microsoft.com/office/drawing/2014/main" id="{338B35FA-BD81-EA5F-7A04-45CE1EF945C6}"/>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sp>
        <p:nvSpPr>
          <p:cNvPr id="3" name="Google Shape;90;p1">
            <a:extLst>
              <a:ext uri="{FF2B5EF4-FFF2-40B4-BE49-F238E27FC236}">
                <a16:creationId xmlns:a16="http://schemas.microsoft.com/office/drawing/2014/main" id="{A6FE62B6-20DA-C4D0-6780-87C90F65BBB7}"/>
              </a:ext>
            </a:extLst>
          </p:cNvPr>
          <p:cNvSpPr/>
          <p:nvPr/>
        </p:nvSpPr>
        <p:spPr>
          <a:xfrm>
            <a:off x="4967670" y="6749098"/>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4" name="Google Shape;347;p28">
            <a:extLst>
              <a:ext uri="{FF2B5EF4-FFF2-40B4-BE49-F238E27FC236}">
                <a16:creationId xmlns:a16="http://schemas.microsoft.com/office/drawing/2014/main" id="{1DFEBB8D-1788-DB95-DFEC-7BD9107F146F}"/>
              </a:ext>
            </a:extLst>
          </p:cNvPr>
          <p:cNvSpPr/>
          <p:nvPr/>
        </p:nvSpPr>
        <p:spPr>
          <a:xfrm>
            <a:off x="4914480" y="6279714"/>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3" name="Picture 38"/>
          <p:cNvPicPr/>
          <p:nvPr/>
        </p:nvPicPr>
        <p:blipFill>
          <a:blip r:embed="rId2"/>
          <a:stretch/>
        </p:blipFill>
        <p:spPr>
          <a:xfrm>
            <a:off x="891360" y="720000"/>
            <a:ext cx="12428640" cy="7104240"/>
          </a:xfrm>
          <a:prstGeom prst="rect">
            <a:avLst/>
          </a:prstGeom>
          <a:ln w="0">
            <a:noFill/>
          </a:ln>
        </p:spPr>
      </p:pic>
      <p:pic>
        <p:nvPicPr>
          <p:cNvPr id="284" name="Picture 15"/>
          <p:cNvPicPr/>
          <p:nvPr/>
        </p:nvPicPr>
        <p:blipFill>
          <a:blip r:embed="rId3"/>
          <a:srcRect l="10028" t="12536" r="10465" b="20264"/>
          <a:stretch/>
        </p:blipFill>
        <p:spPr>
          <a:xfrm>
            <a:off x="0" y="3240"/>
            <a:ext cx="14038560" cy="8455320"/>
          </a:xfrm>
          <a:prstGeom prst="rect">
            <a:avLst/>
          </a:prstGeom>
          <a:ln w="0">
            <a:noFill/>
          </a:ln>
        </p:spPr>
      </p:pic>
      <p:cxnSp>
        <p:nvCxnSpPr>
          <p:cNvPr id="287" name="Straight Connector 31"/>
          <p:cNvCxnSpPr/>
          <p:nvPr/>
        </p:nvCxnSpPr>
        <p:spPr>
          <a:xfrm flipH="1">
            <a:off x="5849280" y="6801480"/>
            <a:ext cx="2452680" cy="1440"/>
          </a:xfrm>
          <a:prstGeom prst="straightConnector1">
            <a:avLst/>
          </a:prstGeom>
          <a:ln w="12700">
            <a:solidFill>
              <a:srgbClr val="000000"/>
            </a:solidFill>
            <a:round/>
          </a:ln>
        </p:spPr>
      </p:cxnSp>
      <p:pic>
        <p:nvPicPr>
          <p:cNvPr id="288" name="Picture 2"/>
          <p:cNvPicPr/>
          <p:nvPr/>
        </p:nvPicPr>
        <p:blipFill>
          <a:blip r:embed="rId4"/>
          <a:stretch/>
        </p:blipFill>
        <p:spPr>
          <a:xfrm>
            <a:off x="10481400" y="6171480"/>
            <a:ext cx="1571040" cy="1370880"/>
          </a:xfrm>
          <a:prstGeom prst="rect">
            <a:avLst/>
          </a:prstGeom>
          <a:ln w="0">
            <a:noFill/>
          </a:ln>
        </p:spPr>
      </p:pic>
      <p:pic>
        <p:nvPicPr>
          <p:cNvPr id="289" name="Picture 4"/>
          <p:cNvPicPr/>
          <p:nvPr/>
        </p:nvPicPr>
        <p:blipFill>
          <a:blip r:embed="rId5"/>
          <a:stretch/>
        </p:blipFill>
        <p:spPr>
          <a:xfrm>
            <a:off x="1668960" y="6107760"/>
            <a:ext cx="1393560" cy="1441080"/>
          </a:xfrm>
          <a:prstGeom prst="rect">
            <a:avLst/>
          </a:prstGeom>
          <a:ln w="0">
            <a:noFill/>
          </a:ln>
        </p:spPr>
      </p:pic>
      <p:sp>
        <p:nvSpPr>
          <p:cNvPr id="290" name="TextBox 7"/>
          <p:cNvSpPr/>
          <p:nvPr/>
        </p:nvSpPr>
        <p:spPr>
          <a:xfrm>
            <a:off x="1668960" y="2526120"/>
            <a:ext cx="10736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AUSTRALIAN SPECIAL OPERATIONS TASKFORCE</a:t>
            </a:r>
            <a:endParaRPr lang="en-IN" sz="3600" b="0" strike="noStrike" spc="-1">
              <a:solidFill>
                <a:srgbClr val="000000"/>
              </a:solidFill>
              <a:latin typeface="Arial"/>
            </a:endParaRPr>
          </a:p>
        </p:txBody>
      </p:sp>
      <p:sp>
        <p:nvSpPr>
          <p:cNvPr id="291" name="TextBox 8"/>
          <p:cNvSpPr/>
          <p:nvPr/>
        </p:nvSpPr>
        <p:spPr>
          <a:xfrm>
            <a:off x="4094640" y="2918160"/>
            <a:ext cx="607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This is to certify that command has awarded the</a:t>
            </a:r>
            <a:r>
              <a:rPr lang="en-AU" sz="3600" b="0" strike="noStrike" spc="-1">
                <a:solidFill>
                  <a:srgbClr val="000000"/>
                </a:solidFill>
                <a:latin typeface="Times New Roman"/>
                <a:ea typeface="DejaVu Sans"/>
              </a:rPr>
              <a:t> </a:t>
            </a:r>
            <a:endParaRPr lang="en-IN" sz="3600" b="0" strike="noStrike" spc="-1">
              <a:solidFill>
                <a:srgbClr val="000000"/>
              </a:solidFill>
              <a:latin typeface="Arial"/>
            </a:endParaRPr>
          </a:p>
        </p:txBody>
      </p:sp>
      <p:sp>
        <p:nvSpPr>
          <p:cNvPr id="292" name="TextBox 9"/>
          <p:cNvSpPr/>
          <p:nvPr/>
        </p:nvSpPr>
        <p:spPr>
          <a:xfrm>
            <a:off x="5220000" y="4209480"/>
            <a:ext cx="36061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endParaRPr lang="en-IN" sz="1800" b="0" strike="noStrike" spc="-1">
              <a:solidFill>
                <a:srgbClr val="000000"/>
              </a:solidFill>
              <a:latin typeface="Arial"/>
            </a:endParaRPr>
          </a:p>
        </p:txBody>
      </p:sp>
      <p:sp>
        <p:nvSpPr>
          <p:cNvPr id="293" name="TextBox 10"/>
          <p:cNvSpPr/>
          <p:nvPr/>
        </p:nvSpPr>
        <p:spPr>
          <a:xfrm>
            <a:off x="4533480" y="3421440"/>
            <a:ext cx="49712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Junior Leadership Award</a:t>
            </a:r>
            <a:endParaRPr lang="en-IN" sz="3600" b="0" strike="noStrike" spc="-1">
              <a:solidFill>
                <a:srgbClr val="000000"/>
              </a:solidFill>
              <a:latin typeface="Arial"/>
            </a:endParaRPr>
          </a:p>
        </p:txBody>
      </p:sp>
      <p:sp>
        <p:nvSpPr>
          <p:cNvPr id="294" name="TextBox 11"/>
          <p:cNvSpPr/>
          <p:nvPr/>
        </p:nvSpPr>
        <p:spPr>
          <a:xfrm>
            <a:off x="6723360" y="3931920"/>
            <a:ext cx="5914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TO</a:t>
            </a:r>
            <a:endParaRPr lang="en-IN" sz="2400" b="0" strike="noStrike" spc="-1">
              <a:solidFill>
                <a:srgbClr val="000000"/>
              </a:solidFill>
              <a:latin typeface="Arial"/>
            </a:endParaRPr>
          </a:p>
        </p:txBody>
      </p:sp>
      <p:sp>
        <p:nvSpPr>
          <p:cNvPr id="295" name="TextBox 12"/>
          <p:cNvSpPr/>
          <p:nvPr/>
        </p:nvSpPr>
        <p:spPr>
          <a:xfrm>
            <a:off x="1790640" y="4847760"/>
            <a:ext cx="10456920" cy="82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600" b="0" strike="noStrike" spc="-1" dirty="0">
                <a:solidFill>
                  <a:srgbClr val="000000"/>
                </a:solidFill>
                <a:latin typeface="Times New Roman"/>
                <a:ea typeface="DejaVu Sans"/>
              </a:rPr>
              <a:t>{name} has demonstrated ASOT’s leadership values, standards and skill level to a quality higher than his worn rank whilst currently holding a junior leadership position. they have shown initiative, quick decision making, professionalism and tactical knowledge to an excellent standard and has set an example for other members.</a:t>
            </a:r>
            <a:endParaRPr lang="en-IN" sz="1600" b="0" strike="noStrike" spc="-1" dirty="0">
              <a:solidFill>
                <a:srgbClr val="000000"/>
              </a:solidFill>
              <a:latin typeface="Arial"/>
            </a:endParaRPr>
          </a:p>
        </p:txBody>
      </p:sp>
      <p:sp>
        <p:nvSpPr>
          <p:cNvPr id="296" name="TextBox 32"/>
          <p:cNvSpPr/>
          <p:nvPr/>
        </p:nvSpPr>
        <p:spPr>
          <a:xfrm>
            <a:off x="2021760" y="5634000"/>
            <a:ext cx="1003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800" b="0" strike="noStrike" spc="-1" dirty="0">
                <a:solidFill>
                  <a:srgbClr val="000000"/>
                </a:solidFill>
                <a:latin typeface="Times New Roman"/>
                <a:ea typeface="DejaVu Sans"/>
              </a:rPr>
              <a:t>On today’s date, </a:t>
            </a:r>
            <a:r>
              <a:rPr lang="en-AU" sz="1800" b="0" i="1" strike="noStrike" spc="-1" dirty="0">
                <a:solidFill>
                  <a:srgbClr val="000000"/>
                </a:solidFill>
                <a:latin typeface="Times New Roman"/>
                <a:ea typeface="DejaVu Sans"/>
              </a:rPr>
              <a:t>{</a:t>
            </a:r>
            <a:r>
              <a:rPr lang="en-AU" sz="1800" b="0" i="1" strike="noStrike" spc="-1" dirty="0" err="1">
                <a:solidFill>
                  <a:srgbClr val="000000"/>
                </a:solidFill>
                <a:latin typeface="Times New Roman"/>
                <a:ea typeface="DejaVu Sans"/>
              </a:rPr>
              <a:t>dateNumber</a:t>
            </a:r>
            <a:r>
              <a:rPr lang="en-AU" sz="1800" b="0" i="1" strike="noStrike" spc="-1" dirty="0">
                <a:solidFill>
                  <a:srgbClr val="000000"/>
                </a:solidFill>
                <a:latin typeface="Times New Roman"/>
                <a:ea typeface="DejaVu Sans"/>
              </a:rPr>
              <a:t>}</a:t>
            </a:r>
            <a:r>
              <a:rPr lang="en-AU" sz="1800" b="0" i="1" strike="noStrike" spc="-1" baseline="30000" dirty="0">
                <a:solidFill>
                  <a:srgbClr val="000000"/>
                </a:solidFill>
                <a:latin typeface="Times New Roman"/>
                <a:ea typeface="DejaVu Sans"/>
              </a:rPr>
              <a:t>{suffix}</a:t>
            </a:r>
            <a:r>
              <a:rPr lang="en-AU" sz="1800" b="0" i="1" strike="noStrike" spc="-1" dirty="0">
                <a:solidFill>
                  <a:srgbClr val="000000"/>
                </a:solidFill>
                <a:latin typeface="Times New Roman"/>
                <a:ea typeface="DejaVu Sans"/>
              </a:rPr>
              <a:t> {date}</a:t>
            </a:r>
            <a:r>
              <a:rPr lang="en-AU" sz="1800" b="0" strike="noStrike" spc="-1" dirty="0">
                <a:solidFill>
                  <a:srgbClr val="000000"/>
                </a:solidFill>
                <a:latin typeface="Times New Roman"/>
                <a:ea typeface="DejaVu Sans"/>
              </a:rPr>
              <a:t>, {name} is therefore awarded the</a:t>
            </a:r>
            <a:br>
              <a:rPr sz="1800" dirty="0"/>
            </a:br>
            <a:r>
              <a:rPr lang="en-AU" sz="1800" b="0" strike="noStrike" spc="-1" dirty="0">
                <a:solidFill>
                  <a:srgbClr val="000000"/>
                </a:solidFill>
                <a:latin typeface="Times New Roman"/>
                <a:ea typeface="DejaVu Sans"/>
              </a:rPr>
              <a:t>Junior Leadership Award.</a:t>
            </a:r>
            <a:endParaRPr lang="en-IN" sz="1800" b="0" strike="noStrike" spc="-1" dirty="0">
              <a:solidFill>
                <a:srgbClr val="000000"/>
              </a:solidFill>
              <a:latin typeface="Arial"/>
            </a:endParaRPr>
          </a:p>
        </p:txBody>
      </p:sp>
      <p:pic>
        <p:nvPicPr>
          <p:cNvPr id="297" name="Picture 18"/>
          <p:cNvPicPr/>
          <p:nvPr/>
        </p:nvPicPr>
        <p:blipFill>
          <a:blip r:embed="rId6"/>
          <a:stretch/>
        </p:blipFill>
        <p:spPr>
          <a:xfrm>
            <a:off x="6567840" y="826920"/>
            <a:ext cx="902520" cy="1912680"/>
          </a:xfrm>
          <a:prstGeom prst="rect">
            <a:avLst/>
          </a:prstGeom>
          <a:ln w="0">
            <a:noFill/>
          </a:ln>
        </p:spPr>
      </p:pic>
      <p:sp>
        <p:nvSpPr>
          <p:cNvPr id="2" name="TextBox 33">
            <a:extLst>
              <a:ext uri="{FF2B5EF4-FFF2-40B4-BE49-F238E27FC236}">
                <a16:creationId xmlns:a16="http://schemas.microsoft.com/office/drawing/2014/main" id="{76FCCEAE-9FC4-9B5F-A9D8-2CC2F181A720}"/>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sp>
        <p:nvSpPr>
          <p:cNvPr id="3" name="Google Shape;90;p1">
            <a:extLst>
              <a:ext uri="{FF2B5EF4-FFF2-40B4-BE49-F238E27FC236}">
                <a16:creationId xmlns:a16="http://schemas.microsoft.com/office/drawing/2014/main" id="{2819FB2F-3B83-44AF-E515-CA96F3C59446}"/>
              </a:ext>
            </a:extLst>
          </p:cNvPr>
          <p:cNvSpPr/>
          <p:nvPr/>
        </p:nvSpPr>
        <p:spPr>
          <a:xfrm>
            <a:off x="4967670" y="6749098"/>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4" name="Google Shape;347;p28">
            <a:extLst>
              <a:ext uri="{FF2B5EF4-FFF2-40B4-BE49-F238E27FC236}">
                <a16:creationId xmlns:a16="http://schemas.microsoft.com/office/drawing/2014/main" id="{F3F51B02-DE2F-351D-C78B-1BEE90D63CDD}"/>
              </a:ext>
            </a:extLst>
          </p:cNvPr>
          <p:cNvSpPr/>
          <p:nvPr/>
        </p:nvSpPr>
        <p:spPr>
          <a:xfrm>
            <a:off x="4914480" y="6279714"/>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99" name="Picture 17"/>
          <p:cNvPicPr/>
          <p:nvPr/>
        </p:nvPicPr>
        <p:blipFill>
          <a:blip r:embed="rId2"/>
          <a:stretch/>
        </p:blipFill>
        <p:spPr>
          <a:xfrm>
            <a:off x="819000" y="714240"/>
            <a:ext cx="12428640" cy="7104240"/>
          </a:xfrm>
          <a:prstGeom prst="rect">
            <a:avLst/>
          </a:prstGeom>
          <a:ln w="0">
            <a:noFill/>
          </a:ln>
        </p:spPr>
      </p:pic>
      <p:pic>
        <p:nvPicPr>
          <p:cNvPr id="300" name="Picture 19"/>
          <p:cNvPicPr/>
          <p:nvPr/>
        </p:nvPicPr>
        <p:blipFill>
          <a:blip r:embed="rId3"/>
          <a:srcRect l="10028" t="12536" r="10465" b="20264"/>
          <a:stretch/>
        </p:blipFill>
        <p:spPr>
          <a:xfrm>
            <a:off x="0" y="3240"/>
            <a:ext cx="14038560" cy="8455320"/>
          </a:xfrm>
          <a:prstGeom prst="rect">
            <a:avLst/>
          </a:prstGeom>
          <a:ln w="0">
            <a:noFill/>
          </a:ln>
        </p:spPr>
      </p:pic>
      <p:sp>
        <p:nvSpPr>
          <p:cNvPr id="301" name="TextBox 7"/>
          <p:cNvSpPr/>
          <p:nvPr/>
        </p:nvSpPr>
        <p:spPr>
          <a:xfrm>
            <a:off x="1668960" y="2526120"/>
            <a:ext cx="10736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AUSTRALIAN SPECIAL OPERATIONS TASKFORCE</a:t>
            </a:r>
            <a:endParaRPr lang="en-IN" sz="3600" b="0" strike="noStrike" spc="-1">
              <a:solidFill>
                <a:srgbClr val="000000"/>
              </a:solidFill>
              <a:latin typeface="Arial"/>
            </a:endParaRPr>
          </a:p>
        </p:txBody>
      </p:sp>
      <p:sp>
        <p:nvSpPr>
          <p:cNvPr id="302" name="TextBox 8"/>
          <p:cNvSpPr/>
          <p:nvPr/>
        </p:nvSpPr>
        <p:spPr>
          <a:xfrm>
            <a:off x="4094640" y="2918160"/>
            <a:ext cx="607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This is to certify that command has awarded the</a:t>
            </a:r>
            <a:r>
              <a:rPr lang="en-AU" sz="3600" b="0" strike="noStrike" spc="-1">
                <a:solidFill>
                  <a:srgbClr val="000000"/>
                </a:solidFill>
                <a:latin typeface="Times New Roman"/>
                <a:ea typeface="DejaVu Sans"/>
              </a:rPr>
              <a:t> </a:t>
            </a:r>
            <a:endParaRPr lang="en-IN" sz="3600" b="0" strike="noStrike" spc="-1">
              <a:solidFill>
                <a:srgbClr val="000000"/>
              </a:solidFill>
              <a:latin typeface="Arial"/>
            </a:endParaRPr>
          </a:p>
        </p:txBody>
      </p:sp>
      <p:sp>
        <p:nvSpPr>
          <p:cNvPr id="303" name="TextBox 9"/>
          <p:cNvSpPr/>
          <p:nvPr/>
        </p:nvSpPr>
        <p:spPr>
          <a:xfrm>
            <a:off x="5573160" y="4307400"/>
            <a:ext cx="29275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endParaRPr lang="en-IN" sz="1800" b="0" strike="noStrike" spc="-1">
              <a:solidFill>
                <a:srgbClr val="000000"/>
              </a:solidFill>
              <a:latin typeface="Arial"/>
            </a:endParaRPr>
          </a:p>
        </p:txBody>
      </p:sp>
      <p:sp>
        <p:nvSpPr>
          <p:cNvPr id="304" name="TextBox 10"/>
          <p:cNvSpPr/>
          <p:nvPr/>
        </p:nvSpPr>
        <p:spPr>
          <a:xfrm>
            <a:off x="4533480" y="3421440"/>
            <a:ext cx="49712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Medical Medallion</a:t>
            </a:r>
            <a:endParaRPr lang="en-IN" sz="3600" b="0" strike="noStrike" spc="-1">
              <a:solidFill>
                <a:srgbClr val="000000"/>
              </a:solidFill>
              <a:latin typeface="Arial"/>
            </a:endParaRPr>
          </a:p>
        </p:txBody>
      </p:sp>
      <p:sp>
        <p:nvSpPr>
          <p:cNvPr id="305" name="TextBox 11"/>
          <p:cNvSpPr/>
          <p:nvPr/>
        </p:nvSpPr>
        <p:spPr>
          <a:xfrm>
            <a:off x="6723360" y="3931920"/>
            <a:ext cx="5914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TO</a:t>
            </a:r>
            <a:endParaRPr lang="en-IN" sz="2400" b="0" strike="noStrike" spc="-1">
              <a:solidFill>
                <a:srgbClr val="000000"/>
              </a:solidFill>
              <a:latin typeface="Arial"/>
            </a:endParaRPr>
          </a:p>
        </p:txBody>
      </p:sp>
      <p:sp>
        <p:nvSpPr>
          <p:cNvPr id="306" name="TextBox 12"/>
          <p:cNvSpPr/>
          <p:nvPr/>
        </p:nvSpPr>
        <p:spPr>
          <a:xfrm>
            <a:off x="1357560" y="4885920"/>
            <a:ext cx="11323080" cy="82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600" b="0" strike="noStrike" spc="-1">
                <a:solidFill>
                  <a:srgbClr val="000000"/>
                </a:solidFill>
                <a:latin typeface="Times New Roman"/>
                <a:ea typeface="DejaVu Sans"/>
              </a:rPr>
              <a:t>{name} has demonstrated a clear understanding and performs at a high level of competence with the ASOT medical system. they displays great enthusiasm in trainings and regularly engages in informal education of the medical system to new and current members. they are also well mannered during medical incidents in operations which directly contributes to other members’ enjoyment.</a:t>
            </a:r>
            <a:endParaRPr lang="en-IN" sz="1600" b="0" strike="noStrike" spc="-1">
              <a:solidFill>
                <a:srgbClr val="000000"/>
              </a:solidFill>
              <a:latin typeface="Arial"/>
            </a:endParaRPr>
          </a:p>
        </p:txBody>
      </p:sp>
      <p:cxnSp>
        <p:nvCxnSpPr>
          <p:cNvPr id="309" name="Straight Connector 31"/>
          <p:cNvCxnSpPr/>
          <p:nvPr/>
        </p:nvCxnSpPr>
        <p:spPr>
          <a:xfrm flipH="1">
            <a:off x="5849280" y="6801480"/>
            <a:ext cx="2452680" cy="1440"/>
          </a:xfrm>
          <a:prstGeom prst="straightConnector1">
            <a:avLst/>
          </a:prstGeom>
          <a:ln w="12700">
            <a:solidFill>
              <a:srgbClr val="000000"/>
            </a:solidFill>
            <a:round/>
          </a:ln>
        </p:spPr>
      </p:cxnSp>
      <p:sp>
        <p:nvSpPr>
          <p:cNvPr id="310" name="TextBox 32"/>
          <p:cNvSpPr/>
          <p:nvPr/>
        </p:nvSpPr>
        <p:spPr>
          <a:xfrm>
            <a:off x="2003760" y="5693040"/>
            <a:ext cx="1003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800" b="0" strike="noStrike" spc="-1">
                <a:solidFill>
                  <a:srgbClr val="000000"/>
                </a:solidFill>
                <a:latin typeface="Times New Roman"/>
                <a:ea typeface="DejaVu Sans"/>
              </a:rPr>
              <a:t>On today’s date, </a:t>
            </a:r>
            <a:r>
              <a:rPr lang="en-AU" sz="1800" b="0" i="1" strike="noStrike" spc="-1">
                <a:solidFill>
                  <a:srgbClr val="000000"/>
                </a:solidFill>
                <a:latin typeface="Times New Roman"/>
                <a:ea typeface="DejaVu Sans"/>
              </a:rPr>
              <a:t>{dateNumber}</a:t>
            </a:r>
            <a:r>
              <a:rPr lang="en-AU" sz="1800" b="0" i="1" strike="noStrike" spc="-1" baseline="30000">
                <a:solidFill>
                  <a:srgbClr val="000000"/>
                </a:solidFill>
                <a:latin typeface="Times New Roman"/>
                <a:ea typeface="DejaVu Sans"/>
              </a:rPr>
              <a:t>{suffix}</a:t>
            </a:r>
            <a:r>
              <a:rPr lang="en-AU" sz="1800" b="0" i="1" strike="noStrike" spc="-1">
                <a:solidFill>
                  <a:srgbClr val="000000"/>
                </a:solidFill>
                <a:latin typeface="Times New Roman"/>
                <a:ea typeface="DejaVu Sans"/>
              </a:rPr>
              <a:t> {date}</a:t>
            </a:r>
            <a:r>
              <a:rPr lang="en-AU" sz="1800" b="0" strike="noStrike" spc="-1">
                <a:solidFill>
                  <a:srgbClr val="000000"/>
                </a:solidFill>
                <a:latin typeface="Times New Roman"/>
                <a:ea typeface="DejaVu Sans"/>
              </a:rPr>
              <a:t>, {name} is therefore awarded the </a:t>
            </a:r>
            <a:br>
              <a:rPr sz="1800"/>
            </a:br>
            <a:r>
              <a:rPr lang="en-AU" sz="1800" b="0" strike="noStrike" spc="-1">
                <a:solidFill>
                  <a:srgbClr val="000000"/>
                </a:solidFill>
                <a:latin typeface="Times New Roman"/>
                <a:ea typeface="DejaVu Sans"/>
              </a:rPr>
              <a:t>Medical Medallion</a:t>
            </a:r>
            <a:endParaRPr lang="en-IN" sz="1800" b="0" strike="noStrike" spc="-1">
              <a:solidFill>
                <a:srgbClr val="000000"/>
              </a:solidFill>
              <a:latin typeface="Arial"/>
            </a:endParaRPr>
          </a:p>
        </p:txBody>
      </p:sp>
      <p:pic>
        <p:nvPicPr>
          <p:cNvPr id="311" name="Picture 2"/>
          <p:cNvPicPr/>
          <p:nvPr/>
        </p:nvPicPr>
        <p:blipFill>
          <a:blip r:embed="rId4"/>
          <a:stretch/>
        </p:blipFill>
        <p:spPr>
          <a:xfrm>
            <a:off x="10481400" y="6171480"/>
            <a:ext cx="1571040" cy="1370880"/>
          </a:xfrm>
          <a:prstGeom prst="rect">
            <a:avLst/>
          </a:prstGeom>
          <a:ln w="0">
            <a:noFill/>
          </a:ln>
        </p:spPr>
      </p:pic>
      <p:pic>
        <p:nvPicPr>
          <p:cNvPr id="312" name="Picture 4"/>
          <p:cNvPicPr/>
          <p:nvPr/>
        </p:nvPicPr>
        <p:blipFill>
          <a:blip r:embed="rId5"/>
          <a:stretch/>
        </p:blipFill>
        <p:spPr>
          <a:xfrm>
            <a:off x="1668960" y="6107760"/>
            <a:ext cx="1393560" cy="1441080"/>
          </a:xfrm>
          <a:prstGeom prst="rect">
            <a:avLst/>
          </a:prstGeom>
          <a:ln w="0">
            <a:noFill/>
          </a:ln>
        </p:spPr>
      </p:pic>
      <p:pic>
        <p:nvPicPr>
          <p:cNvPr id="313" name="Picture 18"/>
          <p:cNvPicPr/>
          <p:nvPr/>
        </p:nvPicPr>
        <p:blipFill>
          <a:blip r:embed="rId6"/>
          <a:stretch/>
        </p:blipFill>
        <p:spPr>
          <a:xfrm>
            <a:off x="6558480" y="793080"/>
            <a:ext cx="921240" cy="1952280"/>
          </a:xfrm>
          <a:prstGeom prst="rect">
            <a:avLst/>
          </a:prstGeom>
          <a:ln w="0">
            <a:noFill/>
          </a:ln>
        </p:spPr>
      </p:pic>
      <p:sp>
        <p:nvSpPr>
          <p:cNvPr id="2" name="TextBox 33">
            <a:extLst>
              <a:ext uri="{FF2B5EF4-FFF2-40B4-BE49-F238E27FC236}">
                <a16:creationId xmlns:a16="http://schemas.microsoft.com/office/drawing/2014/main" id="{D84A902D-DE4C-CEC3-6BB5-70FFD14E465C}"/>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sp>
        <p:nvSpPr>
          <p:cNvPr id="3" name="Google Shape;90;p1">
            <a:extLst>
              <a:ext uri="{FF2B5EF4-FFF2-40B4-BE49-F238E27FC236}">
                <a16:creationId xmlns:a16="http://schemas.microsoft.com/office/drawing/2014/main" id="{E3C75C68-385A-AB83-5DE3-8FDB398FBD03}"/>
              </a:ext>
            </a:extLst>
          </p:cNvPr>
          <p:cNvSpPr/>
          <p:nvPr/>
        </p:nvSpPr>
        <p:spPr>
          <a:xfrm>
            <a:off x="4967670" y="6749098"/>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4" name="Google Shape;347;p28">
            <a:extLst>
              <a:ext uri="{FF2B5EF4-FFF2-40B4-BE49-F238E27FC236}">
                <a16:creationId xmlns:a16="http://schemas.microsoft.com/office/drawing/2014/main" id="{832C9E56-FF08-175B-1B2D-B59F09E9A864}"/>
              </a:ext>
            </a:extLst>
          </p:cNvPr>
          <p:cNvSpPr/>
          <p:nvPr/>
        </p:nvSpPr>
        <p:spPr>
          <a:xfrm>
            <a:off x="4914480" y="6279714"/>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5" name="Picture 38"/>
          <p:cNvPicPr/>
          <p:nvPr/>
        </p:nvPicPr>
        <p:blipFill>
          <a:blip r:embed="rId2"/>
          <a:stretch/>
        </p:blipFill>
        <p:spPr>
          <a:xfrm>
            <a:off x="819000" y="714240"/>
            <a:ext cx="12428640" cy="7104240"/>
          </a:xfrm>
          <a:prstGeom prst="rect">
            <a:avLst/>
          </a:prstGeom>
          <a:ln w="0">
            <a:noFill/>
          </a:ln>
        </p:spPr>
      </p:pic>
      <p:pic>
        <p:nvPicPr>
          <p:cNvPr id="316" name="Picture 15"/>
          <p:cNvPicPr/>
          <p:nvPr/>
        </p:nvPicPr>
        <p:blipFill>
          <a:blip r:embed="rId3"/>
          <a:srcRect l="10028" t="12536" r="10465" b="20264"/>
          <a:stretch/>
        </p:blipFill>
        <p:spPr>
          <a:xfrm>
            <a:off x="0" y="3240"/>
            <a:ext cx="14038560" cy="8455320"/>
          </a:xfrm>
          <a:prstGeom prst="rect">
            <a:avLst/>
          </a:prstGeom>
          <a:ln w="0">
            <a:noFill/>
          </a:ln>
        </p:spPr>
      </p:pic>
      <p:cxnSp>
        <p:nvCxnSpPr>
          <p:cNvPr id="319" name="Straight Connector 31"/>
          <p:cNvCxnSpPr/>
          <p:nvPr/>
        </p:nvCxnSpPr>
        <p:spPr>
          <a:xfrm flipH="1">
            <a:off x="5849280" y="6801480"/>
            <a:ext cx="2452680" cy="1440"/>
          </a:xfrm>
          <a:prstGeom prst="straightConnector1">
            <a:avLst/>
          </a:prstGeom>
          <a:ln w="12700">
            <a:solidFill>
              <a:srgbClr val="000000"/>
            </a:solidFill>
            <a:round/>
          </a:ln>
        </p:spPr>
      </p:cxnSp>
      <p:pic>
        <p:nvPicPr>
          <p:cNvPr id="320" name="Picture 2"/>
          <p:cNvPicPr/>
          <p:nvPr/>
        </p:nvPicPr>
        <p:blipFill>
          <a:blip r:embed="rId4"/>
          <a:stretch/>
        </p:blipFill>
        <p:spPr>
          <a:xfrm>
            <a:off x="10481400" y="6171480"/>
            <a:ext cx="1571040" cy="1370880"/>
          </a:xfrm>
          <a:prstGeom prst="rect">
            <a:avLst/>
          </a:prstGeom>
          <a:ln w="0">
            <a:noFill/>
          </a:ln>
        </p:spPr>
      </p:pic>
      <p:pic>
        <p:nvPicPr>
          <p:cNvPr id="321" name="Picture 4"/>
          <p:cNvPicPr/>
          <p:nvPr/>
        </p:nvPicPr>
        <p:blipFill>
          <a:blip r:embed="rId5"/>
          <a:stretch/>
        </p:blipFill>
        <p:spPr>
          <a:xfrm>
            <a:off x="1668960" y="6107760"/>
            <a:ext cx="1393560" cy="1441080"/>
          </a:xfrm>
          <a:prstGeom prst="rect">
            <a:avLst/>
          </a:prstGeom>
          <a:ln w="0">
            <a:noFill/>
          </a:ln>
        </p:spPr>
      </p:pic>
      <p:sp>
        <p:nvSpPr>
          <p:cNvPr id="322" name="TextBox 7"/>
          <p:cNvSpPr/>
          <p:nvPr/>
        </p:nvSpPr>
        <p:spPr>
          <a:xfrm>
            <a:off x="1668960" y="2526120"/>
            <a:ext cx="10736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AUSTRALIAN SPECIAL OPERATIONS TASKFORCE</a:t>
            </a:r>
            <a:endParaRPr lang="en-IN" sz="3600" b="0" strike="noStrike" spc="-1">
              <a:solidFill>
                <a:srgbClr val="000000"/>
              </a:solidFill>
              <a:latin typeface="Arial"/>
            </a:endParaRPr>
          </a:p>
        </p:txBody>
      </p:sp>
      <p:sp>
        <p:nvSpPr>
          <p:cNvPr id="323" name="TextBox 8"/>
          <p:cNvSpPr/>
          <p:nvPr/>
        </p:nvSpPr>
        <p:spPr>
          <a:xfrm>
            <a:off x="4094640" y="2918160"/>
            <a:ext cx="607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This is to certify that command has awarded the</a:t>
            </a:r>
            <a:r>
              <a:rPr lang="en-AU" sz="3600" b="0" strike="noStrike" spc="-1">
                <a:solidFill>
                  <a:srgbClr val="000000"/>
                </a:solidFill>
                <a:latin typeface="Times New Roman"/>
                <a:ea typeface="DejaVu Sans"/>
              </a:rPr>
              <a:t> </a:t>
            </a:r>
            <a:endParaRPr lang="en-IN" sz="3600" b="0" strike="noStrike" spc="-1">
              <a:solidFill>
                <a:srgbClr val="000000"/>
              </a:solidFill>
              <a:latin typeface="Arial"/>
            </a:endParaRPr>
          </a:p>
        </p:txBody>
      </p:sp>
      <p:sp>
        <p:nvSpPr>
          <p:cNvPr id="325" name="TextBox 10"/>
          <p:cNvSpPr/>
          <p:nvPr/>
        </p:nvSpPr>
        <p:spPr>
          <a:xfrm>
            <a:off x="4533480" y="3421440"/>
            <a:ext cx="49712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Protagonist Award</a:t>
            </a:r>
            <a:endParaRPr lang="en-IN" sz="3600" b="0" strike="noStrike" spc="-1">
              <a:solidFill>
                <a:srgbClr val="000000"/>
              </a:solidFill>
              <a:latin typeface="Arial"/>
            </a:endParaRPr>
          </a:p>
        </p:txBody>
      </p:sp>
      <p:sp>
        <p:nvSpPr>
          <p:cNvPr id="326" name="TextBox 11"/>
          <p:cNvSpPr/>
          <p:nvPr/>
        </p:nvSpPr>
        <p:spPr>
          <a:xfrm>
            <a:off x="6723360" y="3931920"/>
            <a:ext cx="5914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TO</a:t>
            </a:r>
            <a:endParaRPr lang="en-IN" sz="2400" b="0" strike="noStrike" spc="-1">
              <a:solidFill>
                <a:srgbClr val="000000"/>
              </a:solidFill>
              <a:latin typeface="Arial"/>
            </a:endParaRPr>
          </a:p>
        </p:txBody>
      </p:sp>
      <p:sp>
        <p:nvSpPr>
          <p:cNvPr id="327" name="TextBox 12"/>
          <p:cNvSpPr/>
          <p:nvPr/>
        </p:nvSpPr>
        <p:spPr>
          <a:xfrm>
            <a:off x="1790640" y="4807440"/>
            <a:ext cx="10456920" cy="82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600" b="0" strike="noStrike" spc="-1">
                <a:solidFill>
                  <a:srgbClr val="000000"/>
                </a:solidFill>
                <a:latin typeface="Times New Roman"/>
                <a:ea typeface="DejaVu Sans"/>
              </a:rPr>
              <a:t>{name} has demonstrated ASOT’s leadership values, standards and skill level to a quality higher than his worn rank whilst currently not holding a leadership position. they have shown initiative, quick decision making, professionalism and tactical knowledge to an excellent standard and has set an example for other members.</a:t>
            </a:r>
            <a:endParaRPr lang="en-IN" sz="1600" b="0" strike="noStrike" spc="-1">
              <a:solidFill>
                <a:srgbClr val="000000"/>
              </a:solidFill>
              <a:latin typeface="Arial"/>
            </a:endParaRPr>
          </a:p>
        </p:txBody>
      </p:sp>
      <p:sp>
        <p:nvSpPr>
          <p:cNvPr id="328" name="TextBox 32"/>
          <p:cNvSpPr/>
          <p:nvPr/>
        </p:nvSpPr>
        <p:spPr>
          <a:xfrm>
            <a:off x="2021760" y="5632200"/>
            <a:ext cx="1003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800" b="0" strike="noStrike" spc="-1">
                <a:solidFill>
                  <a:srgbClr val="000000"/>
                </a:solidFill>
                <a:latin typeface="Times New Roman"/>
                <a:ea typeface="DejaVu Sans"/>
              </a:rPr>
              <a:t>On today’s date, </a:t>
            </a:r>
            <a:r>
              <a:rPr lang="en-AU" sz="1800" b="0" i="1" strike="noStrike" spc="-1">
                <a:solidFill>
                  <a:srgbClr val="000000"/>
                </a:solidFill>
                <a:latin typeface="Times New Roman"/>
                <a:ea typeface="DejaVu Sans"/>
              </a:rPr>
              <a:t>{dateNumber}</a:t>
            </a:r>
            <a:r>
              <a:rPr lang="en-AU" sz="1800" b="0" i="1" strike="noStrike" spc="-1" baseline="30000">
                <a:solidFill>
                  <a:srgbClr val="000000"/>
                </a:solidFill>
                <a:latin typeface="Times New Roman"/>
                <a:ea typeface="DejaVu Sans"/>
              </a:rPr>
              <a:t>{suffix}</a:t>
            </a:r>
            <a:r>
              <a:rPr lang="en-AU" sz="1800" b="0" i="1" strike="noStrike" spc="-1">
                <a:solidFill>
                  <a:srgbClr val="000000"/>
                </a:solidFill>
                <a:latin typeface="Times New Roman"/>
                <a:ea typeface="DejaVu Sans"/>
              </a:rPr>
              <a:t> {date}</a:t>
            </a:r>
            <a:r>
              <a:rPr lang="en-AU" sz="1800" b="0" strike="noStrike" spc="-1">
                <a:solidFill>
                  <a:srgbClr val="000000"/>
                </a:solidFill>
                <a:latin typeface="Times New Roman"/>
                <a:ea typeface="DejaVu Sans"/>
              </a:rPr>
              <a:t>, {name} is therefore awarded the</a:t>
            </a:r>
            <a:br>
              <a:rPr sz="1800"/>
            </a:br>
            <a:r>
              <a:rPr lang="en-AU" sz="1800" b="0" strike="noStrike" spc="-1">
                <a:solidFill>
                  <a:srgbClr val="000000"/>
                </a:solidFill>
                <a:latin typeface="Times New Roman"/>
                <a:ea typeface="DejaVu Sans"/>
              </a:rPr>
              <a:t>Protagonist Award.</a:t>
            </a:r>
            <a:endParaRPr lang="en-IN" sz="1800" b="0" strike="noStrike" spc="-1">
              <a:solidFill>
                <a:srgbClr val="000000"/>
              </a:solidFill>
              <a:latin typeface="Arial"/>
            </a:endParaRPr>
          </a:p>
        </p:txBody>
      </p:sp>
      <p:pic>
        <p:nvPicPr>
          <p:cNvPr id="329" name="Picture 19"/>
          <p:cNvPicPr/>
          <p:nvPr/>
        </p:nvPicPr>
        <p:blipFill>
          <a:blip r:embed="rId6"/>
          <a:stretch/>
        </p:blipFill>
        <p:spPr>
          <a:xfrm>
            <a:off x="6551280" y="797040"/>
            <a:ext cx="936000" cy="1983600"/>
          </a:xfrm>
          <a:prstGeom prst="rect">
            <a:avLst/>
          </a:prstGeom>
          <a:ln w="0">
            <a:noFill/>
          </a:ln>
        </p:spPr>
      </p:pic>
      <p:sp>
        <p:nvSpPr>
          <p:cNvPr id="2" name="TextBox 33">
            <a:extLst>
              <a:ext uri="{FF2B5EF4-FFF2-40B4-BE49-F238E27FC236}">
                <a16:creationId xmlns:a16="http://schemas.microsoft.com/office/drawing/2014/main" id="{482D2580-5D0B-D77C-360A-FD887C884A70}"/>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sp>
        <p:nvSpPr>
          <p:cNvPr id="3" name="Google Shape;90;p1">
            <a:extLst>
              <a:ext uri="{FF2B5EF4-FFF2-40B4-BE49-F238E27FC236}">
                <a16:creationId xmlns:a16="http://schemas.microsoft.com/office/drawing/2014/main" id="{6EF27464-77E1-943D-B5A0-A691DFEF414B}"/>
              </a:ext>
            </a:extLst>
          </p:cNvPr>
          <p:cNvSpPr/>
          <p:nvPr/>
        </p:nvSpPr>
        <p:spPr>
          <a:xfrm>
            <a:off x="4967670" y="6749098"/>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4" name="Google Shape;347;p28">
            <a:extLst>
              <a:ext uri="{FF2B5EF4-FFF2-40B4-BE49-F238E27FC236}">
                <a16:creationId xmlns:a16="http://schemas.microsoft.com/office/drawing/2014/main" id="{4D62DB9E-1149-0194-0327-29FA4294245D}"/>
              </a:ext>
            </a:extLst>
          </p:cNvPr>
          <p:cNvSpPr/>
          <p:nvPr/>
        </p:nvSpPr>
        <p:spPr>
          <a:xfrm>
            <a:off x="4914480" y="6279714"/>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30" name="Picture 17"/>
          <p:cNvPicPr/>
          <p:nvPr/>
        </p:nvPicPr>
        <p:blipFill>
          <a:blip r:embed="rId2"/>
          <a:stretch/>
        </p:blipFill>
        <p:spPr>
          <a:xfrm>
            <a:off x="819000" y="714240"/>
            <a:ext cx="12428640" cy="7104240"/>
          </a:xfrm>
          <a:prstGeom prst="rect">
            <a:avLst/>
          </a:prstGeom>
          <a:ln w="0">
            <a:noFill/>
          </a:ln>
        </p:spPr>
      </p:pic>
      <p:pic>
        <p:nvPicPr>
          <p:cNvPr id="331" name="Picture 19"/>
          <p:cNvPicPr/>
          <p:nvPr/>
        </p:nvPicPr>
        <p:blipFill>
          <a:blip r:embed="rId3"/>
          <a:srcRect l="10028" t="12536" r="10465" b="20264"/>
          <a:stretch/>
        </p:blipFill>
        <p:spPr>
          <a:xfrm>
            <a:off x="0" y="3240"/>
            <a:ext cx="14038560" cy="8455320"/>
          </a:xfrm>
          <a:prstGeom prst="rect">
            <a:avLst/>
          </a:prstGeom>
          <a:ln w="0">
            <a:noFill/>
          </a:ln>
        </p:spPr>
      </p:pic>
      <p:sp>
        <p:nvSpPr>
          <p:cNvPr id="332" name="TextBox 7"/>
          <p:cNvSpPr/>
          <p:nvPr/>
        </p:nvSpPr>
        <p:spPr>
          <a:xfrm>
            <a:off x="1668960" y="2526120"/>
            <a:ext cx="10736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AUSTRALIAN SPECIAL OPERATIONS TASKFORCE</a:t>
            </a:r>
            <a:endParaRPr lang="en-IN" sz="3600" b="0" strike="noStrike" spc="-1">
              <a:solidFill>
                <a:srgbClr val="000000"/>
              </a:solidFill>
              <a:latin typeface="Arial"/>
            </a:endParaRPr>
          </a:p>
        </p:txBody>
      </p:sp>
      <p:sp>
        <p:nvSpPr>
          <p:cNvPr id="333" name="TextBox 8"/>
          <p:cNvSpPr/>
          <p:nvPr/>
        </p:nvSpPr>
        <p:spPr>
          <a:xfrm>
            <a:off x="4094640" y="2918160"/>
            <a:ext cx="607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This is to certify that command has awarded the</a:t>
            </a:r>
            <a:r>
              <a:rPr lang="en-AU" sz="3600" b="0" strike="noStrike" spc="-1">
                <a:solidFill>
                  <a:srgbClr val="000000"/>
                </a:solidFill>
                <a:latin typeface="Times New Roman"/>
                <a:ea typeface="DejaVu Sans"/>
              </a:rPr>
              <a:t> </a:t>
            </a:r>
            <a:endParaRPr lang="en-IN" sz="3600" b="0" strike="noStrike" spc="-1">
              <a:solidFill>
                <a:srgbClr val="000000"/>
              </a:solidFill>
              <a:latin typeface="Arial"/>
            </a:endParaRPr>
          </a:p>
        </p:txBody>
      </p:sp>
      <p:sp>
        <p:nvSpPr>
          <p:cNvPr id="334" name="TextBox 10"/>
          <p:cNvSpPr/>
          <p:nvPr/>
        </p:nvSpPr>
        <p:spPr>
          <a:xfrm>
            <a:off x="4743360" y="3382560"/>
            <a:ext cx="4551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Public Relations Award</a:t>
            </a:r>
            <a:endParaRPr lang="en-IN" sz="3600" b="0" strike="noStrike" spc="-1">
              <a:solidFill>
                <a:srgbClr val="000000"/>
              </a:solidFill>
              <a:latin typeface="Arial"/>
            </a:endParaRPr>
          </a:p>
        </p:txBody>
      </p:sp>
      <p:sp>
        <p:nvSpPr>
          <p:cNvPr id="335" name="TextBox 11"/>
          <p:cNvSpPr/>
          <p:nvPr/>
        </p:nvSpPr>
        <p:spPr>
          <a:xfrm>
            <a:off x="6723360" y="3931920"/>
            <a:ext cx="5914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TO</a:t>
            </a:r>
            <a:endParaRPr lang="en-IN" sz="2400" b="0" strike="noStrike" spc="-1">
              <a:solidFill>
                <a:srgbClr val="000000"/>
              </a:solidFill>
              <a:latin typeface="Arial"/>
            </a:endParaRPr>
          </a:p>
        </p:txBody>
      </p:sp>
      <p:sp>
        <p:nvSpPr>
          <p:cNvPr id="336" name="TextBox 12"/>
          <p:cNvSpPr/>
          <p:nvPr/>
        </p:nvSpPr>
        <p:spPr>
          <a:xfrm>
            <a:off x="1625400" y="4913280"/>
            <a:ext cx="10816200" cy="82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600" b="0" strike="noStrike" spc="-1" dirty="0">
                <a:solidFill>
                  <a:srgbClr val="000000"/>
                </a:solidFill>
                <a:latin typeface="Times New Roman"/>
                <a:ea typeface="DejaVu Sans"/>
              </a:rPr>
              <a:t>{name} has shown a high level of dedication and performance to the promotion of the unit, media creation and distribution, social media promotion and/or organisation of intercommunity events which has directly contributed to the growth and advancement of the unit. </a:t>
            </a:r>
            <a:endParaRPr lang="en-IN" sz="1600" b="0" strike="noStrike" spc="-1" dirty="0">
              <a:solidFill>
                <a:srgbClr val="000000"/>
              </a:solidFill>
              <a:latin typeface="Arial"/>
            </a:endParaRPr>
          </a:p>
        </p:txBody>
      </p:sp>
      <p:cxnSp>
        <p:nvCxnSpPr>
          <p:cNvPr id="339" name="Straight Connector 31"/>
          <p:cNvCxnSpPr/>
          <p:nvPr/>
        </p:nvCxnSpPr>
        <p:spPr>
          <a:xfrm flipH="1">
            <a:off x="5849280" y="6801480"/>
            <a:ext cx="2452680" cy="1440"/>
          </a:xfrm>
          <a:prstGeom prst="straightConnector1">
            <a:avLst/>
          </a:prstGeom>
          <a:ln w="12700">
            <a:solidFill>
              <a:srgbClr val="000000"/>
            </a:solidFill>
            <a:round/>
          </a:ln>
        </p:spPr>
      </p:cxnSp>
      <p:sp>
        <p:nvSpPr>
          <p:cNvPr id="340" name="TextBox 32"/>
          <p:cNvSpPr/>
          <p:nvPr/>
        </p:nvSpPr>
        <p:spPr>
          <a:xfrm>
            <a:off x="2003760" y="5722560"/>
            <a:ext cx="1003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800" b="0" strike="noStrike" spc="-1">
                <a:solidFill>
                  <a:srgbClr val="000000"/>
                </a:solidFill>
                <a:latin typeface="Times New Roman"/>
                <a:ea typeface="DejaVu Sans"/>
              </a:rPr>
              <a:t>On today’s date, </a:t>
            </a:r>
            <a:r>
              <a:rPr lang="en-AU" sz="1800" b="0" i="1" strike="noStrike" spc="-1">
                <a:solidFill>
                  <a:srgbClr val="000000"/>
                </a:solidFill>
                <a:latin typeface="Times New Roman"/>
                <a:ea typeface="DejaVu Sans"/>
              </a:rPr>
              <a:t>{dateNumber}</a:t>
            </a:r>
            <a:r>
              <a:rPr lang="en-AU" sz="1800" b="0" i="1" strike="noStrike" spc="-1" baseline="30000">
                <a:solidFill>
                  <a:srgbClr val="000000"/>
                </a:solidFill>
                <a:latin typeface="Times New Roman"/>
                <a:ea typeface="DejaVu Sans"/>
              </a:rPr>
              <a:t>{suffix}</a:t>
            </a:r>
            <a:r>
              <a:rPr lang="en-AU" sz="1800" b="0" i="1" strike="noStrike" spc="-1">
                <a:solidFill>
                  <a:srgbClr val="000000"/>
                </a:solidFill>
                <a:latin typeface="Times New Roman"/>
                <a:ea typeface="DejaVu Sans"/>
              </a:rPr>
              <a:t> {date}</a:t>
            </a:r>
            <a:r>
              <a:rPr lang="en-AU" sz="1800" b="0" strike="noStrike" spc="-1">
                <a:solidFill>
                  <a:srgbClr val="000000"/>
                </a:solidFill>
                <a:latin typeface="Times New Roman"/>
                <a:ea typeface="DejaVu Sans"/>
              </a:rPr>
              <a:t>, {name} is therefore awarded the</a:t>
            </a:r>
            <a:endParaRPr lang="en-IN" sz="1800" b="0" strike="noStrike" spc="-1">
              <a:solidFill>
                <a:srgbClr val="000000"/>
              </a:solidFill>
              <a:latin typeface="Arial"/>
            </a:endParaRPr>
          </a:p>
          <a:p>
            <a:pPr algn="ctr">
              <a:lnSpc>
                <a:spcPct val="100000"/>
              </a:lnSpc>
            </a:pPr>
            <a:r>
              <a:rPr lang="en-AU" sz="1800" b="0" strike="noStrike" spc="-1">
                <a:solidFill>
                  <a:srgbClr val="000000"/>
                </a:solidFill>
                <a:latin typeface="Times New Roman"/>
                <a:ea typeface="DejaVu Sans"/>
              </a:rPr>
              <a:t>Public Relations Award.</a:t>
            </a:r>
            <a:endParaRPr lang="en-IN" sz="1800" b="0" strike="noStrike" spc="-1">
              <a:solidFill>
                <a:srgbClr val="000000"/>
              </a:solidFill>
              <a:latin typeface="Arial"/>
            </a:endParaRPr>
          </a:p>
        </p:txBody>
      </p:sp>
      <p:pic>
        <p:nvPicPr>
          <p:cNvPr id="341" name="Picture 2"/>
          <p:cNvPicPr/>
          <p:nvPr/>
        </p:nvPicPr>
        <p:blipFill>
          <a:blip r:embed="rId4"/>
          <a:stretch/>
        </p:blipFill>
        <p:spPr>
          <a:xfrm>
            <a:off x="10481400" y="6171480"/>
            <a:ext cx="1571040" cy="1370880"/>
          </a:xfrm>
          <a:prstGeom prst="rect">
            <a:avLst/>
          </a:prstGeom>
          <a:ln w="0">
            <a:noFill/>
          </a:ln>
        </p:spPr>
      </p:pic>
      <p:pic>
        <p:nvPicPr>
          <p:cNvPr id="342" name="Picture 4"/>
          <p:cNvPicPr/>
          <p:nvPr/>
        </p:nvPicPr>
        <p:blipFill>
          <a:blip r:embed="rId5"/>
          <a:stretch/>
        </p:blipFill>
        <p:spPr>
          <a:xfrm>
            <a:off x="1668960" y="6107760"/>
            <a:ext cx="1393560" cy="1441080"/>
          </a:xfrm>
          <a:prstGeom prst="rect">
            <a:avLst/>
          </a:prstGeom>
          <a:ln w="0">
            <a:noFill/>
          </a:ln>
        </p:spPr>
      </p:pic>
      <p:pic>
        <p:nvPicPr>
          <p:cNvPr id="343" name="Picture 21"/>
          <p:cNvPicPr/>
          <p:nvPr/>
        </p:nvPicPr>
        <p:blipFill>
          <a:blip r:embed="rId6"/>
          <a:stretch/>
        </p:blipFill>
        <p:spPr>
          <a:xfrm>
            <a:off x="6566040" y="800280"/>
            <a:ext cx="906480" cy="1920600"/>
          </a:xfrm>
          <a:prstGeom prst="rect">
            <a:avLst/>
          </a:prstGeom>
          <a:ln w="0">
            <a:noFill/>
          </a:ln>
        </p:spPr>
      </p:pic>
      <p:sp>
        <p:nvSpPr>
          <p:cNvPr id="2" name="TextBox 33">
            <a:extLst>
              <a:ext uri="{FF2B5EF4-FFF2-40B4-BE49-F238E27FC236}">
                <a16:creationId xmlns:a16="http://schemas.microsoft.com/office/drawing/2014/main" id="{30227ADD-9F0E-EBFE-4C60-4CE076B775F8}"/>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sp>
        <p:nvSpPr>
          <p:cNvPr id="3" name="Google Shape;90;p1">
            <a:extLst>
              <a:ext uri="{FF2B5EF4-FFF2-40B4-BE49-F238E27FC236}">
                <a16:creationId xmlns:a16="http://schemas.microsoft.com/office/drawing/2014/main" id="{C1F14547-02B7-DBE6-EF78-227A6C664A7E}"/>
              </a:ext>
            </a:extLst>
          </p:cNvPr>
          <p:cNvSpPr/>
          <p:nvPr/>
        </p:nvSpPr>
        <p:spPr>
          <a:xfrm>
            <a:off x="4967670" y="6749098"/>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4" name="Google Shape;347;p28">
            <a:extLst>
              <a:ext uri="{FF2B5EF4-FFF2-40B4-BE49-F238E27FC236}">
                <a16:creationId xmlns:a16="http://schemas.microsoft.com/office/drawing/2014/main" id="{A69B6EAE-513A-1DCC-F3B0-2F498955BE19}"/>
              </a:ext>
            </a:extLst>
          </p:cNvPr>
          <p:cNvSpPr/>
          <p:nvPr/>
        </p:nvSpPr>
        <p:spPr>
          <a:xfrm>
            <a:off x="4914480" y="6279714"/>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45" name="Picture 16"/>
          <p:cNvPicPr/>
          <p:nvPr/>
        </p:nvPicPr>
        <p:blipFill>
          <a:blip r:embed="rId2"/>
          <a:stretch/>
        </p:blipFill>
        <p:spPr>
          <a:xfrm>
            <a:off x="819000" y="714240"/>
            <a:ext cx="12428640" cy="7104240"/>
          </a:xfrm>
          <a:prstGeom prst="rect">
            <a:avLst/>
          </a:prstGeom>
          <a:ln w="0">
            <a:noFill/>
          </a:ln>
        </p:spPr>
      </p:pic>
      <p:pic>
        <p:nvPicPr>
          <p:cNvPr id="346" name="Picture 19"/>
          <p:cNvPicPr/>
          <p:nvPr/>
        </p:nvPicPr>
        <p:blipFill>
          <a:blip r:embed="rId3"/>
          <a:srcRect l="10028" t="12536" r="10465" b="20264"/>
          <a:stretch/>
        </p:blipFill>
        <p:spPr>
          <a:xfrm>
            <a:off x="0" y="3240"/>
            <a:ext cx="14038560" cy="8455320"/>
          </a:xfrm>
          <a:prstGeom prst="rect">
            <a:avLst/>
          </a:prstGeom>
          <a:ln w="0">
            <a:noFill/>
          </a:ln>
        </p:spPr>
      </p:pic>
      <p:sp>
        <p:nvSpPr>
          <p:cNvPr id="347" name="TextBox 7"/>
          <p:cNvSpPr/>
          <p:nvPr/>
        </p:nvSpPr>
        <p:spPr>
          <a:xfrm>
            <a:off x="1668960" y="2526120"/>
            <a:ext cx="10736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AUSTRALIAN SPECIAL OPERATIONS TASKFORCE</a:t>
            </a:r>
            <a:endParaRPr lang="en-IN" sz="3600" b="0" strike="noStrike" spc="-1">
              <a:solidFill>
                <a:srgbClr val="000000"/>
              </a:solidFill>
              <a:latin typeface="Arial"/>
            </a:endParaRPr>
          </a:p>
        </p:txBody>
      </p:sp>
      <p:sp>
        <p:nvSpPr>
          <p:cNvPr id="348" name="TextBox 8"/>
          <p:cNvSpPr/>
          <p:nvPr/>
        </p:nvSpPr>
        <p:spPr>
          <a:xfrm>
            <a:off x="4094640" y="2918160"/>
            <a:ext cx="607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This is to certify that command has awarded the</a:t>
            </a:r>
            <a:r>
              <a:rPr lang="en-AU" sz="3600" b="0" strike="noStrike" spc="-1">
                <a:solidFill>
                  <a:srgbClr val="000000"/>
                </a:solidFill>
                <a:latin typeface="Times New Roman"/>
                <a:ea typeface="DejaVu Sans"/>
              </a:rPr>
              <a:t> </a:t>
            </a:r>
            <a:endParaRPr lang="en-IN" sz="3600" b="0" strike="noStrike" spc="-1">
              <a:solidFill>
                <a:srgbClr val="000000"/>
              </a:solidFill>
              <a:latin typeface="Arial"/>
            </a:endParaRPr>
          </a:p>
        </p:txBody>
      </p:sp>
      <p:sp>
        <p:nvSpPr>
          <p:cNvPr id="349" name="TextBox 9"/>
          <p:cNvSpPr/>
          <p:nvPr/>
        </p:nvSpPr>
        <p:spPr>
          <a:xfrm>
            <a:off x="5573160" y="4307400"/>
            <a:ext cx="29275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endParaRPr lang="en-IN" sz="1800" b="0" strike="noStrike" spc="-1">
              <a:solidFill>
                <a:srgbClr val="000000"/>
              </a:solidFill>
              <a:latin typeface="Arial"/>
            </a:endParaRPr>
          </a:p>
        </p:txBody>
      </p:sp>
      <p:sp>
        <p:nvSpPr>
          <p:cNvPr id="350" name="TextBox 10"/>
          <p:cNvSpPr/>
          <p:nvPr/>
        </p:nvSpPr>
        <p:spPr>
          <a:xfrm>
            <a:off x="4533480" y="3421440"/>
            <a:ext cx="49712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Rotary Aviation Medal</a:t>
            </a:r>
            <a:endParaRPr lang="en-IN" sz="3600" b="0" strike="noStrike" spc="-1">
              <a:solidFill>
                <a:srgbClr val="000000"/>
              </a:solidFill>
              <a:latin typeface="Arial"/>
            </a:endParaRPr>
          </a:p>
        </p:txBody>
      </p:sp>
      <p:sp>
        <p:nvSpPr>
          <p:cNvPr id="351" name="TextBox 11"/>
          <p:cNvSpPr/>
          <p:nvPr/>
        </p:nvSpPr>
        <p:spPr>
          <a:xfrm>
            <a:off x="6723360" y="3931920"/>
            <a:ext cx="5914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TO</a:t>
            </a:r>
            <a:endParaRPr lang="en-IN" sz="2400" b="0" strike="noStrike" spc="-1">
              <a:solidFill>
                <a:srgbClr val="000000"/>
              </a:solidFill>
              <a:latin typeface="Arial"/>
            </a:endParaRPr>
          </a:p>
        </p:txBody>
      </p:sp>
      <p:sp>
        <p:nvSpPr>
          <p:cNvPr id="352" name="TextBox 12"/>
          <p:cNvSpPr/>
          <p:nvPr/>
        </p:nvSpPr>
        <p:spPr>
          <a:xfrm>
            <a:off x="1790640" y="4932269"/>
            <a:ext cx="10456920" cy="70643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000" b="0" strike="noStrike" spc="-1" dirty="0">
                <a:solidFill>
                  <a:srgbClr val="000000"/>
                </a:solidFill>
                <a:latin typeface="Times New Roman"/>
                <a:ea typeface="DejaVu Sans"/>
              </a:rPr>
              <a:t>{name}completed the Basic Rotary Course on </a:t>
            </a:r>
            <a:r>
              <a:rPr lang="en-AU" sz="2000" b="0" i="1" strike="noStrike" spc="-1" dirty="0">
                <a:solidFill>
                  <a:srgbClr val="000000"/>
                </a:solidFill>
                <a:latin typeface="Times New Roman"/>
                <a:ea typeface="DejaVu Sans"/>
              </a:rPr>
              <a:t>{</a:t>
            </a:r>
            <a:r>
              <a:rPr lang="en-AU" sz="2000" b="0" i="1" strike="noStrike" spc="-1" dirty="0" err="1">
                <a:solidFill>
                  <a:srgbClr val="000000"/>
                </a:solidFill>
                <a:latin typeface="Times New Roman"/>
                <a:ea typeface="DejaVu Sans"/>
              </a:rPr>
              <a:t>jdnum</a:t>
            </a:r>
            <a:r>
              <a:rPr lang="en-AU" sz="2000" b="0" i="1" strike="noStrike" spc="-1" dirty="0">
                <a:solidFill>
                  <a:srgbClr val="000000"/>
                </a:solidFill>
                <a:latin typeface="Times New Roman"/>
                <a:ea typeface="DejaVu Sans"/>
              </a:rPr>
              <a:t>}</a:t>
            </a:r>
            <a:r>
              <a:rPr lang="en-AU" sz="2000" b="0" i="1" strike="noStrike" spc="-1" baseline="30000" dirty="0">
                <a:solidFill>
                  <a:srgbClr val="000000"/>
                </a:solidFill>
                <a:latin typeface="Times New Roman"/>
                <a:ea typeface="DejaVu Sans"/>
              </a:rPr>
              <a:t>{</a:t>
            </a:r>
            <a:r>
              <a:rPr lang="en-AU" sz="2000" b="0" i="1" strike="noStrike" spc="-1" baseline="30000" dirty="0" err="1">
                <a:solidFill>
                  <a:srgbClr val="000000"/>
                </a:solidFill>
                <a:latin typeface="Times New Roman"/>
                <a:ea typeface="DejaVu Sans"/>
              </a:rPr>
              <a:t>jdsuffix</a:t>
            </a:r>
            <a:r>
              <a:rPr lang="en-AU" sz="2000" b="0" i="1" strike="noStrike" spc="-1" baseline="30000" dirty="0">
                <a:solidFill>
                  <a:srgbClr val="000000"/>
                </a:solidFill>
                <a:latin typeface="Times New Roman"/>
                <a:ea typeface="DejaVu Sans"/>
              </a:rPr>
              <a:t>}</a:t>
            </a:r>
            <a:r>
              <a:rPr lang="en-AU" sz="2000" b="0" i="1" strike="noStrike" spc="-1" dirty="0">
                <a:solidFill>
                  <a:srgbClr val="000000"/>
                </a:solidFill>
                <a:latin typeface="Times New Roman"/>
                <a:ea typeface="DejaVu Sans"/>
              </a:rPr>
              <a:t> {</a:t>
            </a:r>
            <a:r>
              <a:rPr lang="en-AU" sz="2000" b="0" i="1" strike="noStrike" spc="-1" dirty="0" err="1">
                <a:solidFill>
                  <a:srgbClr val="000000"/>
                </a:solidFill>
                <a:latin typeface="Times New Roman"/>
                <a:ea typeface="DejaVu Sans"/>
              </a:rPr>
              <a:t>jddate</a:t>
            </a:r>
            <a:r>
              <a:rPr lang="en-AU" sz="2000" b="0" i="1" strike="noStrike" spc="-1" dirty="0">
                <a:solidFill>
                  <a:srgbClr val="000000"/>
                </a:solidFill>
                <a:latin typeface="Times New Roman"/>
                <a:ea typeface="DejaVu Sans"/>
              </a:rPr>
              <a:t>} </a:t>
            </a:r>
            <a:r>
              <a:rPr lang="en-AU" sz="2000" b="0" strike="noStrike" spc="-1" dirty="0">
                <a:solidFill>
                  <a:srgbClr val="000000"/>
                </a:solidFill>
                <a:latin typeface="Times New Roman"/>
                <a:ea typeface="DejaVu Sans"/>
              </a:rPr>
              <a:t>and achieved a score of 350 or higher showing exceptional knowledge and skill required to be a rotary wing pilot.</a:t>
            </a:r>
            <a:endParaRPr lang="en-IN" sz="2000" b="0" strike="noStrike" spc="-1" dirty="0">
              <a:solidFill>
                <a:srgbClr val="000000"/>
              </a:solidFill>
              <a:latin typeface="Arial"/>
            </a:endParaRPr>
          </a:p>
        </p:txBody>
      </p:sp>
      <p:cxnSp>
        <p:nvCxnSpPr>
          <p:cNvPr id="355" name="Straight Connector 31"/>
          <p:cNvCxnSpPr/>
          <p:nvPr/>
        </p:nvCxnSpPr>
        <p:spPr>
          <a:xfrm flipH="1">
            <a:off x="5849280" y="6801480"/>
            <a:ext cx="2452680" cy="1440"/>
          </a:xfrm>
          <a:prstGeom prst="straightConnector1">
            <a:avLst/>
          </a:prstGeom>
          <a:ln w="12700">
            <a:solidFill>
              <a:srgbClr val="000000"/>
            </a:solidFill>
            <a:round/>
          </a:ln>
        </p:spPr>
      </p:cxnSp>
      <p:sp>
        <p:nvSpPr>
          <p:cNvPr id="356" name="TextBox 32"/>
          <p:cNvSpPr/>
          <p:nvPr/>
        </p:nvSpPr>
        <p:spPr>
          <a:xfrm>
            <a:off x="2003760" y="5603400"/>
            <a:ext cx="10030680" cy="699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000" b="0" strike="noStrike" spc="-1" dirty="0">
                <a:solidFill>
                  <a:srgbClr val="000000"/>
                </a:solidFill>
                <a:latin typeface="Times New Roman"/>
                <a:ea typeface="DejaVu Sans"/>
              </a:rPr>
              <a:t>On today’s date, </a:t>
            </a:r>
            <a:r>
              <a:rPr lang="en-AU" sz="2000" b="0" i="1" strike="noStrike" spc="-1" dirty="0">
                <a:solidFill>
                  <a:srgbClr val="000000"/>
                </a:solidFill>
                <a:latin typeface="Times New Roman"/>
                <a:ea typeface="DejaVu Sans"/>
              </a:rPr>
              <a:t>{</a:t>
            </a:r>
            <a:r>
              <a:rPr lang="en-AU" sz="2000" b="0" i="1" strike="noStrike" spc="-1" dirty="0" err="1">
                <a:solidFill>
                  <a:srgbClr val="000000"/>
                </a:solidFill>
                <a:latin typeface="Times New Roman"/>
                <a:ea typeface="DejaVu Sans"/>
              </a:rPr>
              <a:t>dateNumber</a:t>
            </a:r>
            <a:r>
              <a:rPr lang="en-AU" sz="2000" b="0" i="1" strike="noStrike" spc="-1" dirty="0">
                <a:solidFill>
                  <a:srgbClr val="000000"/>
                </a:solidFill>
                <a:latin typeface="Times New Roman"/>
                <a:ea typeface="DejaVu Sans"/>
              </a:rPr>
              <a:t>}</a:t>
            </a:r>
            <a:r>
              <a:rPr lang="en-AU" sz="2000" b="0" i="1" strike="noStrike" spc="-1" baseline="30000" dirty="0">
                <a:solidFill>
                  <a:srgbClr val="000000"/>
                </a:solidFill>
                <a:latin typeface="Times New Roman"/>
                <a:ea typeface="DejaVu Sans"/>
              </a:rPr>
              <a:t>{suffix}</a:t>
            </a:r>
            <a:r>
              <a:rPr lang="en-AU" sz="2000" b="0" i="1" strike="noStrike" spc="-1" dirty="0">
                <a:solidFill>
                  <a:srgbClr val="000000"/>
                </a:solidFill>
                <a:latin typeface="Times New Roman"/>
                <a:ea typeface="DejaVu Sans"/>
              </a:rPr>
              <a:t> {date}</a:t>
            </a:r>
            <a:r>
              <a:rPr lang="en-AU" sz="2000" b="0" strike="noStrike" spc="-1" dirty="0">
                <a:solidFill>
                  <a:srgbClr val="000000"/>
                </a:solidFill>
                <a:latin typeface="Times New Roman"/>
                <a:ea typeface="DejaVu Sans"/>
              </a:rPr>
              <a:t>, {name} is therefore awarded the </a:t>
            </a:r>
            <a:br>
              <a:rPr sz="2000" dirty="0"/>
            </a:br>
            <a:r>
              <a:rPr lang="en-AU" sz="2000" b="0" strike="noStrike" spc="-1" dirty="0">
                <a:solidFill>
                  <a:srgbClr val="000000"/>
                </a:solidFill>
                <a:latin typeface="Times New Roman"/>
                <a:ea typeface="DejaVu Sans"/>
              </a:rPr>
              <a:t>Rotary Aviation Medal. </a:t>
            </a:r>
            <a:endParaRPr lang="en-IN" sz="2000" b="0" strike="noStrike" spc="-1" dirty="0">
              <a:solidFill>
                <a:srgbClr val="000000"/>
              </a:solidFill>
              <a:latin typeface="Arial"/>
            </a:endParaRPr>
          </a:p>
        </p:txBody>
      </p:sp>
      <p:pic>
        <p:nvPicPr>
          <p:cNvPr id="357" name="Picture 2"/>
          <p:cNvPicPr/>
          <p:nvPr/>
        </p:nvPicPr>
        <p:blipFill>
          <a:blip r:embed="rId4"/>
          <a:stretch/>
        </p:blipFill>
        <p:spPr>
          <a:xfrm>
            <a:off x="10481400" y="6171480"/>
            <a:ext cx="1571040" cy="1370880"/>
          </a:xfrm>
          <a:prstGeom prst="rect">
            <a:avLst/>
          </a:prstGeom>
          <a:ln w="0">
            <a:noFill/>
          </a:ln>
        </p:spPr>
      </p:pic>
      <p:pic>
        <p:nvPicPr>
          <p:cNvPr id="358" name="Picture 4"/>
          <p:cNvPicPr/>
          <p:nvPr/>
        </p:nvPicPr>
        <p:blipFill>
          <a:blip r:embed="rId5"/>
          <a:stretch/>
        </p:blipFill>
        <p:spPr>
          <a:xfrm>
            <a:off x="1668960" y="6107760"/>
            <a:ext cx="1393560" cy="1441080"/>
          </a:xfrm>
          <a:prstGeom prst="rect">
            <a:avLst/>
          </a:prstGeom>
          <a:ln w="0">
            <a:noFill/>
          </a:ln>
        </p:spPr>
      </p:pic>
      <p:pic>
        <p:nvPicPr>
          <p:cNvPr id="359" name="Picture 20"/>
          <p:cNvPicPr/>
          <p:nvPr/>
        </p:nvPicPr>
        <p:blipFill>
          <a:blip r:embed="rId6"/>
          <a:stretch/>
        </p:blipFill>
        <p:spPr>
          <a:xfrm>
            <a:off x="6609960" y="825840"/>
            <a:ext cx="853920" cy="1809720"/>
          </a:xfrm>
          <a:prstGeom prst="rect">
            <a:avLst/>
          </a:prstGeom>
          <a:ln w="0">
            <a:noFill/>
          </a:ln>
        </p:spPr>
      </p:pic>
      <p:sp>
        <p:nvSpPr>
          <p:cNvPr id="2" name="TextBox 33">
            <a:extLst>
              <a:ext uri="{FF2B5EF4-FFF2-40B4-BE49-F238E27FC236}">
                <a16:creationId xmlns:a16="http://schemas.microsoft.com/office/drawing/2014/main" id="{86910CBE-CE6A-67FA-6603-07B0AC23B8A4}"/>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sp>
        <p:nvSpPr>
          <p:cNvPr id="3" name="Google Shape;90;p1">
            <a:extLst>
              <a:ext uri="{FF2B5EF4-FFF2-40B4-BE49-F238E27FC236}">
                <a16:creationId xmlns:a16="http://schemas.microsoft.com/office/drawing/2014/main" id="{6EAC9CE9-A2AB-5940-2273-B042DE21D076}"/>
              </a:ext>
            </a:extLst>
          </p:cNvPr>
          <p:cNvSpPr/>
          <p:nvPr/>
        </p:nvSpPr>
        <p:spPr>
          <a:xfrm>
            <a:off x="4967670" y="6749098"/>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4" name="Google Shape;347;p28">
            <a:extLst>
              <a:ext uri="{FF2B5EF4-FFF2-40B4-BE49-F238E27FC236}">
                <a16:creationId xmlns:a16="http://schemas.microsoft.com/office/drawing/2014/main" id="{27C97CB4-01CB-079C-F09A-B3007046830F}"/>
              </a:ext>
            </a:extLst>
          </p:cNvPr>
          <p:cNvSpPr/>
          <p:nvPr/>
        </p:nvSpPr>
        <p:spPr>
          <a:xfrm>
            <a:off x="4914480" y="6279714"/>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1" name="Picture 38"/>
          <p:cNvPicPr/>
          <p:nvPr/>
        </p:nvPicPr>
        <p:blipFill>
          <a:blip r:embed="rId2"/>
          <a:stretch/>
        </p:blipFill>
        <p:spPr>
          <a:xfrm>
            <a:off x="819000" y="714240"/>
            <a:ext cx="12428640" cy="7104240"/>
          </a:xfrm>
          <a:prstGeom prst="rect">
            <a:avLst/>
          </a:prstGeom>
          <a:ln w="0">
            <a:noFill/>
          </a:ln>
        </p:spPr>
      </p:pic>
      <p:pic>
        <p:nvPicPr>
          <p:cNvPr id="362" name="Picture 15"/>
          <p:cNvPicPr/>
          <p:nvPr/>
        </p:nvPicPr>
        <p:blipFill>
          <a:blip r:embed="rId3"/>
          <a:srcRect l="10028" t="12536" r="10465" b="20264"/>
          <a:stretch/>
        </p:blipFill>
        <p:spPr>
          <a:xfrm>
            <a:off x="0" y="3240"/>
            <a:ext cx="14038560" cy="8455320"/>
          </a:xfrm>
          <a:prstGeom prst="rect">
            <a:avLst/>
          </a:prstGeom>
          <a:ln w="0">
            <a:noFill/>
          </a:ln>
        </p:spPr>
      </p:pic>
      <p:cxnSp>
        <p:nvCxnSpPr>
          <p:cNvPr id="365" name="Straight Connector 31"/>
          <p:cNvCxnSpPr/>
          <p:nvPr/>
        </p:nvCxnSpPr>
        <p:spPr>
          <a:xfrm flipH="1">
            <a:off x="5849280" y="6801480"/>
            <a:ext cx="2452680" cy="1440"/>
          </a:xfrm>
          <a:prstGeom prst="straightConnector1">
            <a:avLst/>
          </a:prstGeom>
          <a:ln w="12700">
            <a:solidFill>
              <a:srgbClr val="000000"/>
            </a:solidFill>
            <a:round/>
          </a:ln>
        </p:spPr>
      </p:cxnSp>
      <p:pic>
        <p:nvPicPr>
          <p:cNvPr id="366" name="Picture 2"/>
          <p:cNvPicPr/>
          <p:nvPr/>
        </p:nvPicPr>
        <p:blipFill>
          <a:blip r:embed="rId4"/>
          <a:stretch/>
        </p:blipFill>
        <p:spPr>
          <a:xfrm>
            <a:off x="10481400" y="6171480"/>
            <a:ext cx="1571040" cy="1370880"/>
          </a:xfrm>
          <a:prstGeom prst="rect">
            <a:avLst/>
          </a:prstGeom>
          <a:ln w="0">
            <a:noFill/>
          </a:ln>
        </p:spPr>
      </p:pic>
      <p:pic>
        <p:nvPicPr>
          <p:cNvPr id="367" name="Picture 4"/>
          <p:cNvPicPr/>
          <p:nvPr/>
        </p:nvPicPr>
        <p:blipFill>
          <a:blip r:embed="rId5"/>
          <a:stretch/>
        </p:blipFill>
        <p:spPr>
          <a:xfrm>
            <a:off x="1668960" y="6107760"/>
            <a:ext cx="1393560" cy="1441080"/>
          </a:xfrm>
          <a:prstGeom prst="rect">
            <a:avLst/>
          </a:prstGeom>
          <a:ln w="0">
            <a:noFill/>
          </a:ln>
        </p:spPr>
      </p:pic>
      <p:sp>
        <p:nvSpPr>
          <p:cNvPr id="368" name="TextBox 7"/>
          <p:cNvSpPr/>
          <p:nvPr/>
        </p:nvSpPr>
        <p:spPr>
          <a:xfrm>
            <a:off x="1668960" y="2526120"/>
            <a:ext cx="10736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AUSTRALIAN SPECIAL OPERATIONS TASKFORCE</a:t>
            </a:r>
            <a:endParaRPr lang="en-IN" sz="3600" b="0" strike="noStrike" spc="-1">
              <a:solidFill>
                <a:srgbClr val="000000"/>
              </a:solidFill>
              <a:latin typeface="Arial"/>
            </a:endParaRPr>
          </a:p>
        </p:txBody>
      </p:sp>
      <p:sp>
        <p:nvSpPr>
          <p:cNvPr id="369" name="TextBox 8"/>
          <p:cNvSpPr/>
          <p:nvPr/>
        </p:nvSpPr>
        <p:spPr>
          <a:xfrm>
            <a:off x="4094640" y="2918160"/>
            <a:ext cx="607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This is to certify that command has awarded the</a:t>
            </a:r>
            <a:r>
              <a:rPr lang="en-AU" sz="3600" b="0" strike="noStrike" spc="-1">
                <a:solidFill>
                  <a:srgbClr val="000000"/>
                </a:solidFill>
                <a:latin typeface="Times New Roman"/>
                <a:ea typeface="DejaVu Sans"/>
              </a:rPr>
              <a:t> </a:t>
            </a:r>
            <a:endParaRPr lang="en-IN" sz="3600" b="0" strike="noStrike" spc="-1">
              <a:solidFill>
                <a:srgbClr val="000000"/>
              </a:solidFill>
              <a:latin typeface="Arial"/>
            </a:endParaRPr>
          </a:p>
        </p:txBody>
      </p:sp>
      <p:sp>
        <p:nvSpPr>
          <p:cNvPr id="370" name="TextBox 9"/>
          <p:cNvSpPr/>
          <p:nvPr/>
        </p:nvSpPr>
        <p:spPr>
          <a:xfrm>
            <a:off x="5573160" y="4307400"/>
            <a:ext cx="29275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endParaRPr lang="en-IN" sz="1800" b="0" strike="noStrike" spc="-1">
              <a:solidFill>
                <a:srgbClr val="000000"/>
              </a:solidFill>
              <a:latin typeface="Arial"/>
            </a:endParaRPr>
          </a:p>
        </p:txBody>
      </p:sp>
      <p:sp>
        <p:nvSpPr>
          <p:cNvPr id="371" name="TextBox 10"/>
          <p:cNvSpPr/>
          <p:nvPr/>
        </p:nvSpPr>
        <p:spPr>
          <a:xfrm>
            <a:off x="4533480" y="3421440"/>
            <a:ext cx="49712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Senior Leadership Award</a:t>
            </a:r>
            <a:endParaRPr lang="en-IN" sz="3600" b="0" strike="noStrike" spc="-1">
              <a:solidFill>
                <a:srgbClr val="000000"/>
              </a:solidFill>
              <a:latin typeface="Arial"/>
            </a:endParaRPr>
          </a:p>
        </p:txBody>
      </p:sp>
      <p:sp>
        <p:nvSpPr>
          <p:cNvPr id="372" name="TextBox 11"/>
          <p:cNvSpPr/>
          <p:nvPr/>
        </p:nvSpPr>
        <p:spPr>
          <a:xfrm>
            <a:off x="6723360" y="3931920"/>
            <a:ext cx="5914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TO</a:t>
            </a:r>
            <a:endParaRPr lang="en-IN" sz="2400" b="0" strike="noStrike" spc="-1">
              <a:solidFill>
                <a:srgbClr val="000000"/>
              </a:solidFill>
              <a:latin typeface="Arial"/>
            </a:endParaRPr>
          </a:p>
        </p:txBody>
      </p:sp>
      <p:sp>
        <p:nvSpPr>
          <p:cNvPr id="373" name="TextBox 12"/>
          <p:cNvSpPr/>
          <p:nvPr/>
        </p:nvSpPr>
        <p:spPr>
          <a:xfrm>
            <a:off x="1804860" y="4833180"/>
            <a:ext cx="10456920" cy="82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600" b="0" strike="noStrike" spc="-1" dirty="0">
                <a:solidFill>
                  <a:srgbClr val="000000"/>
                </a:solidFill>
                <a:latin typeface="Times New Roman"/>
                <a:ea typeface="DejaVu Sans"/>
              </a:rPr>
              <a:t>{name} has demonstrated ASOT’s leadership values, standards and skill level to a quality higher than his worn rank whilst currently holding a senior leadership position. they have shown initiative, quick decision making, professionalism and tactical knowledge to an excellent standard and has set an example for other members.</a:t>
            </a:r>
            <a:endParaRPr lang="en-IN" sz="1600" b="0" strike="noStrike" spc="-1" dirty="0">
              <a:solidFill>
                <a:srgbClr val="000000"/>
              </a:solidFill>
              <a:latin typeface="Arial"/>
            </a:endParaRPr>
          </a:p>
        </p:txBody>
      </p:sp>
      <p:sp>
        <p:nvSpPr>
          <p:cNvPr id="374" name="TextBox 32"/>
          <p:cNvSpPr/>
          <p:nvPr/>
        </p:nvSpPr>
        <p:spPr>
          <a:xfrm>
            <a:off x="2003760" y="5614706"/>
            <a:ext cx="1003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800" b="0" strike="noStrike" spc="-1" dirty="0">
                <a:solidFill>
                  <a:srgbClr val="000000"/>
                </a:solidFill>
                <a:latin typeface="Times New Roman"/>
                <a:ea typeface="DejaVu Sans"/>
              </a:rPr>
              <a:t>On today’s date, </a:t>
            </a:r>
            <a:r>
              <a:rPr lang="en-AU" sz="1800" b="0" i="1" strike="noStrike" spc="-1" dirty="0">
                <a:solidFill>
                  <a:srgbClr val="000000"/>
                </a:solidFill>
                <a:latin typeface="Times New Roman"/>
                <a:ea typeface="DejaVu Sans"/>
              </a:rPr>
              <a:t>{</a:t>
            </a:r>
            <a:r>
              <a:rPr lang="en-AU" sz="1800" b="0" i="1" strike="noStrike" spc="-1" dirty="0" err="1">
                <a:solidFill>
                  <a:srgbClr val="000000"/>
                </a:solidFill>
                <a:latin typeface="Times New Roman"/>
                <a:ea typeface="DejaVu Sans"/>
              </a:rPr>
              <a:t>dateNumber</a:t>
            </a:r>
            <a:r>
              <a:rPr lang="en-AU" sz="1800" b="0" i="1" strike="noStrike" spc="-1" dirty="0">
                <a:solidFill>
                  <a:srgbClr val="000000"/>
                </a:solidFill>
                <a:latin typeface="Times New Roman"/>
                <a:ea typeface="DejaVu Sans"/>
              </a:rPr>
              <a:t>}</a:t>
            </a:r>
            <a:r>
              <a:rPr lang="en-AU" sz="1800" b="0" i="1" strike="noStrike" spc="-1" baseline="30000" dirty="0">
                <a:solidFill>
                  <a:srgbClr val="000000"/>
                </a:solidFill>
                <a:latin typeface="Times New Roman"/>
                <a:ea typeface="DejaVu Sans"/>
              </a:rPr>
              <a:t>{suffix}</a:t>
            </a:r>
            <a:r>
              <a:rPr lang="en-AU" sz="1800" b="0" i="1" strike="noStrike" spc="-1" dirty="0">
                <a:solidFill>
                  <a:srgbClr val="000000"/>
                </a:solidFill>
                <a:latin typeface="Times New Roman"/>
                <a:ea typeface="DejaVu Sans"/>
              </a:rPr>
              <a:t> {date}</a:t>
            </a:r>
            <a:r>
              <a:rPr lang="en-AU" sz="1800" b="0" strike="noStrike" spc="-1" dirty="0">
                <a:solidFill>
                  <a:srgbClr val="000000"/>
                </a:solidFill>
                <a:latin typeface="Times New Roman"/>
                <a:ea typeface="DejaVu Sans"/>
              </a:rPr>
              <a:t>, {name} is therefore awarded the</a:t>
            </a:r>
            <a:br>
              <a:rPr sz="1800" dirty="0"/>
            </a:br>
            <a:r>
              <a:rPr lang="en-AU" sz="1800" b="0" strike="noStrike" spc="-1" dirty="0">
                <a:solidFill>
                  <a:srgbClr val="000000"/>
                </a:solidFill>
                <a:latin typeface="Times New Roman"/>
                <a:ea typeface="DejaVu Sans"/>
              </a:rPr>
              <a:t>Senior Leadership Award.</a:t>
            </a:r>
            <a:endParaRPr lang="en-IN" sz="1800" b="0" strike="noStrike" spc="-1" dirty="0">
              <a:solidFill>
                <a:srgbClr val="000000"/>
              </a:solidFill>
              <a:latin typeface="Arial"/>
            </a:endParaRPr>
          </a:p>
        </p:txBody>
      </p:sp>
      <p:pic>
        <p:nvPicPr>
          <p:cNvPr id="375" name="Picture 19"/>
          <p:cNvPicPr/>
          <p:nvPr/>
        </p:nvPicPr>
        <p:blipFill>
          <a:blip r:embed="rId6"/>
          <a:stretch/>
        </p:blipFill>
        <p:spPr>
          <a:xfrm>
            <a:off x="6564240" y="803520"/>
            <a:ext cx="909720" cy="1927800"/>
          </a:xfrm>
          <a:prstGeom prst="rect">
            <a:avLst/>
          </a:prstGeom>
          <a:ln w="0">
            <a:noFill/>
          </a:ln>
        </p:spPr>
      </p:pic>
      <p:sp>
        <p:nvSpPr>
          <p:cNvPr id="2" name="TextBox 33">
            <a:extLst>
              <a:ext uri="{FF2B5EF4-FFF2-40B4-BE49-F238E27FC236}">
                <a16:creationId xmlns:a16="http://schemas.microsoft.com/office/drawing/2014/main" id="{D6157C9C-F030-831F-D8FA-4EAC5DC6A185}"/>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sp>
        <p:nvSpPr>
          <p:cNvPr id="3" name="Google Shape;90;p1">
            <a:extLst>
              <a:ext uri="{FF2B5EF4-FFF2-40B4-BE49-F238E27FC236}">
                <a16:creationId xmlns:a16="http://schemas.microsoft.com/office/drawing/2014/main" id="{101D75EF-CF75-A2CF-1579-A94048FB201C}"/>
              </a:ext>
            </a:extLst>
          </p:cNvPr>
          <p:cNvSpPr/>
          <p:nvPr/>
        </p:nvSpPr>
        <p:spPr>
          <a:xfrm>
            <a:off x="4967670" y="6749098"/>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4" name="Google Shape;347;p28">
            <a:extLst>
              <a:ext uri="{FF2B5EF4-FFF2-40B4-BE49-F238E27FC236}">
                <a16:creationId xmlns:a16="http://schemas.microsoft.com/office/drawing/2014/main" id="{1505C576-61BA-3C72-15C5-23F77D47160C}"/>
              </a:ext>
            </a:extLst>
          </p:cNvPr>
          <p:cNvSpPr/>
          <p:nvPr/>
        </p:nvSpPr>
        <p:spPr>
          <a:xfrm>
            <a:off x="4914480" y="6279714"/>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7" name="Picture 38"/>
          <p:cNvPicPr/>
          <p:nvPr/>
        </p:nvPicPr>
        <p:blipFill>
          <a:blip r:embed="rId2"/>
          <a:stretch/>
        </p:blipFill>
        <p:spPr>
          <a:xfrm>
            <a:off x="819000" y="714240"/>
            <a:ext cx="12428640" cy="7104240"/>
          </a:xfrm>
          <a:prstGeom prst="rect">
            <a:avLst/>
          </a:prstGeom>
          <a:ln w="0">
            <a:noFill/>
          </a:ln>
        </p:spPr>
      </p:pic>
      <p:pic>
        <p:nvPicPr>
          <p:cNvPr id="378" name="Picture 15"/>
          <p:cNvPicPr/>
          <p:nvPr/>
        </p:nvPicPr>
        <p:blipFill>
          <a:blip r:embed="rId3"/>
          <a:srcRect l="10028" t="12536" r="10465" b="20264"/>
          <a:stretch/>
        </p:blipFill>
        <p:spPr>
          <a:xfrm>
            <a:off x="0" y="3240"/>
            <a:ext cx="14038560" cy="8455320"/>
          </a:xfrm>
          <a:prstGeom prst="rect">
            <a:avLst/>
          </a:prstGeom>
          <a:ln w="0">
            <a:noFill/>
          </a:ln>
        </p:spPr>
      </p:pic>
      <p:cxnSp>
        <p:nvCxnSpPr>
          <p:cNvPr id="381" name="Straight Connector 31"/>
          <p:cNvCxnSpPr/>
          <p:nvPr/>
        </p:nvCxnSpPr>
        <p:spPr>
          <a:xfrm flipH="1">
            <a:off x="5849280" y="6801480"/>
            <a:ext cx="2452680" cy="1440"/>
          </a:xfrm>
          <a:prstGeom prst="straightConnector1">
            <a:avLst/>
          </a:prstGeom>
          <a:ln w="12700">
            <a:solidFill>
              <a:srgbClr val="000000"/>
            </a:solidFill>
            <a:round/>
          </a:ln>
        </p:spPr>
      </p:cxnSp>
      <p:pic>
        <p:nvPicPr>
          <p:cNvPr id="382" name="Picture 2"/>
          <p:cNvPicPr/>
          <p:nvPr/>
        </p:nvPicPr>
        <p:blipFill>
          <a:blip r:embed="rId4"/>
          <a:stretch/>
        </p:blipFill>
        <p:spPr>
          <a:xfrm>
            <a:off x="10481400" y="6171480"/>
            <a:ext cx="1571040" cy="1370880"/>
          </a:xfrm>
          <a:prstGeom prst="rect">
            <a:avLst/>
          </a:prstGeom>
          <a:ln w="0">
            <a:noFill/>
          </a:ln>
        </p:spPr>
      </p:pic>
      <p:pic>
        <p:nvPicPr>
          <p:cNvPr id="383" name="Picture 4"/>
          <p:cNvPicPr/>
          <p:nvPr/>
        </p:nvPicPr>
        <p:blipFill>
          <a:blip r:embed="rId5"/>
          <a:stretch/>
        </p:blipFill>
        <p:spPr>
          <a:xfrm>
            <a:off x="1668960" y="6107760"/>
            <a:ext cx="1393560" cy="1441080"/>
          </a:xfrm>
          <a:prstGeom prst="rect">
            <a:avLst/>
          </a:prstGeom>
          <a:ln w="0">
            <a:noFill/>
          </a:ln>
        </p:spPr>
      </p:pic>
      <p:sp>
        <p:nvSpPr>
          <p:cNvPr id="384" name="TextBox 7"/>
          <p:cNvSpPr/>
          <p:nvPr/>
        </p:nvSpPr>
        <p:spPr>
          <a:xfrm>
            <a:off x="1668960" y="2526120"/>
            <a:ext cx="10736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AUSTRALIAN SPECIAL OPERATIONS TASKFORCE</a:t>
            </a:r>
            <a:endParaRPr lang="en-IN" sz="3600" b="0" strike="noStrike" spc="-1">
              <a:solidFill>
                <a:srgbClr val="000000"/>
              </a:solidFill>
              <a:latin typeface="Arial"/>
            </a:endParaRPr>
          </a:p>
        </p:txBody>
      </p:sp>
      <p:sp>
        <p:nvSpPr>
          <p:cNvPr id="385" name="TextBox 8"/>
          <p:cNvSpPr/>
          <p:nvPr/>
        </p:nvSpPr>
        <p:spPr>
          <a:xfrm>
            <a:off x="4094640" y="2918160"/>
            <a:ext cx="607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This is to certify that command has awarded the</a:t>
            </a:r>
            <a:r>
              <a:rPr lang="en-AU" sz="3600" b="0" strike="noStrike" spc="-1">
                <a:solidFill>
                  <a:srgbClr val="000000"/>
                </a:solidFill>
                <a:latin typeface="Times New Roman"/>
                <a:ea typeface="DejaVu Sans"/>
              </a:rPr>
              <a:t> </a:t>
            </a:r>
            <a:endParaRPr lang="en-IN" sz="3600" b="0" strike="noStrike" spc="-1">
              <a:solidFill>
                <a:srgbClr val="000000"/>
              </a:solidFill>
              <a:latin typeface="Arial"/>
            </a:endParaRPr>
          </a:p>
        </p:txBody>
      </p:sp>
      <p:sp>
        <p:nvSpPr>
          <p:cNvPr id="386" name="TextBox 9"/>
          <p:cNvSpPr/>
          <p:nvPr/>
        </p:nvSpPr>
        <p:spPr>
          <a:xfrm>
            <a:off x="4763160" y="4307400"/>
            <a:ext cx="454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endParaRPr lang="en-IN" sz="1800" b="0" strike="noStrike" spc="-1">
              <a:solidFill>
                <a:srgbClr val="000000"/>
              </a:solidFill>
              <a:latin typeface="Arial"/>
            </a:endParaRPr>
          </a:p>
        </p:txBody>
      </p:sp>
      <p:sp>
        <p:nvSpPr>
          <p:cNvPr id="387" name="TextBox 10"/>
          <p:cNvSpPr/>
          <p:nvPr/>
        </p:nvSpPr>
        <p:spPr>
          <a:xfrm>
            <a:off x="4438080" y="3418200"/>
            <a:ext cx="51620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Bronze Soldiers Medallion</a:t>
            </a:r>
            <a:endParaRPr lang="en-IN" sz="3600" b="0" strike="noStrike" spc="-1">
              <a:solidFill>
                <a:srgbClr val="000000"/>
              </a:solidFill>
              <a:latin typeface="Arial"/>
            </a:endParaRPr>
          </a:p>
        </p:txBody>
      </p:sp>
      <p:sp>
        <p:nvSpPr>
          <p:cNvPr id="388" name="TextBox 11"/>
          <p:cNvSpPr/>
          <p:nvPr/>
        </p:nvSpPr>
        <p:spPr>
          <a:xfrm>
            <a:off x="6723360" y="3931920"/>
            <a:ext cx="5914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TO</a:t>
            </a:r>
            <a:endParaRPr lang="en-IN" sz="2400" b="0" strike="noStrike" spc="-1">
              <a:solidFill>
                <a:srgbClr val="000000"/>
              </a:solidFill>
              <a:latin typeface="Arial"/>
            </a:endParaRPr>
          </a:p>
        </p:txBody>
      </p:sp>
      <p:sp>
        <p:nvSpPr>
          <p:cNvPr id="389" name="TextBox 12"/>
          <p:cNvSpPr/>
          <p:nvPr/>
        </p:nvSpPr>
        <p:spPr>
          <a:xfrm>
            <a:off x="1790640" y="4834080"/>
            <a:ext cx="10456920" cy="82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600" b="0" strike="noStrike" spc="-1">
                <a:solidFill>
                  <a:srgbClr val="000000"/>
                </a:solidFill>
                <a:latin typeface="Times New Roman"/>
                <a:ea typeface="DejaVu Sans"/>
              </a:rPr>
              <a:t>{name} has demonstrated a number of ASOT’s values, high standards and skill across one or multiple areas within the unit. The soldiers medallion is a sign of recognition and appreciation to members who excel across multiple award criteria but might not meet the needs for the specific award. </a:t>
            </a:r>
            <a:endParaRPr lang="en-IN" sz="1600" b="0" strike="noStrike" spc="-1">
              <a:solidFill>
                <a:srgbClr val="000000"/>
              </a:solidFill>
              <a:latin typeface="Arial"/>
            </a:endParaRPr>
          </a:p>
        </p:txBody>
      </p:sp>
      <p:sp>
        <p:nvSpPr>
          <p:cNvPr id="390" name="TextBox 32"/>
          <p:cNvSpPr/>
          <p:nvPr/>
        </p:nvSpPr>
        <p:spPr>
          <a:xfrm>
            <a:off x="2021760" y="5609520"/>
            <a:ext cx="1003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800" b="0" strike="noStrike" spc="-1">
                <a:solidFill>
                  <a:srgbClr val="000000"/>
                </a:solidFill>
                <a:latin typeface="Times New Roman"/>
                <a:ea typeface="DejaVu Sans"/>
              </a:rPr>
              <a:t>On today’s date, </a:t>
            </a:r>
            <a:r>
              <a:rPr lang="en-AU" sz="1800" b="0" i="1" strike="noStrike" spc="-1">
                <a:solidFill>
                  <a:srgbClr val="000000"/>
                </a:solidFill>
                <a:latin typeface="Times New Roman"/>
                <a:ea typeface="DejaVu Sans"/>
              </a:rPr>
              <a:t>{dateNumber}</a:t>
            </a:r>
            <a:r>
              <a:rPr lang="en-AU" sz="1800" b="0" i="1" strike="noStrike" spc="-1" baseline="30000">
                <a:solidFill>
                  <a:srgbClr val="000000"/>
                </a:solidFill>
                <a:latin typeface="Times New Roman"/>
                <a:ea typeface="DejaVu Sans"/>
              </a:rPr>
              <a:t>{suffix}</a:t>
            </a:r>
            <a:r>
              <a:rPr lang="en-AU" sz="1800" b="0" i="1" strike="noStrike" spc="-1">
                <a:solidFill>
                  <a:srgbClr val="000000"/>
                </a:solidFill>
                <a:latin typeface="Times New Roman"/>
                <a:ea typeface="DejaVu Sans"/>
              </a:rPr>
              <a:t> {date}</a:t>
            </a:r>
            <a:r>
              <a:rPr lang="en-AU" sz="1800" b="0" strike="noStrike" spc="-1">
                <a:solidFill>
                  <a:srgbClr val="000000"/>
                </a:solidFill>
                <a:latin typeface="Times New Roman"/>
                <a:ea typeface="DejaVu Sans"/>
              </a:rPr>
              <a:t>, {name} is therefore awarded the</a:t>
            </a:r>
            <a:br>
              <a:rPr sz="1800"/>
            </a:br>
            <a:r>
              <a:rPr lang="en-AU" sz="1800" b="0" strike="noStrike" spc="-1">
                <a:solidFill>
                  <a:srgbClr val="000000"/>
                </a:solidFill>
                <a:latin typeface="Times New Roman"/>
                <a:ea typeface="DejaVu Sans"/>
              </a:rPr>
              <a:t>Bronze Soldiers Medallion.</a:t>
            </a:r>
            <a:endParaRPr lang="en-IN" sz="1800" b="0" strike="noStrike" spc="-1">
              <a:solidFill>
                <a:srgbClr val="000000"/>
              </a:solidFill>
              <a:latin typeface="Arial"/>
            </a:endParaRPr>
          </a:p>
        </p:txBody>
      </p:sp>
      <p:pic>
        <p:nvPicPr>
          <p:cNvPr id="391" name="Picture 2"/>
          <p:cNvPicPr/>
          <p:nvPr/>
        </p:nvPicPr>
        <p:blipFill>
          <a:blip r:embed="rId6"/>
          <a:stretch/>
        </p:blipFill>
        <p:spPr>
          <a:xfrm>
            <a:off x="6270480" y="971280"/>
            <a:ext cx="1497240" cy="1497240"/>
          </a:xfrm>
          <a:prstGeom prst="rect">
            <a:avLst/>
          </a:prstGeom>
          <a:ln w="0">
            <a:noFill/>
          </a:ln>
        </p:spPr>
      </p:pic>
      <p:sp>
        <p:nvSpPr>
          <p:cNvPr id="2" name="TextBox 33">
            <a:extLst>
              <a:ext uri="{FF2B5EF4-FFF2-40B4-BE49-F238E27FC236}">
                <a16:creationId xmlns:a16="http://schemas.microsoft.com/office/drawing/2014/main" id="{3999B091-C2FA-5DD6-BCA4-78A1620A33D2}"/>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sp>
        <p:nvSpPr>
          <p:cNvPr id="3" name="Google Shape;90;p1">
            <a:extLst>
              <a:ext uri="{FF2B5EF4-FFF2-40B4-BE49-F238E27FC236}">
                <a16:creationId xmlns:a16="http://schemas.microsoft.com/office/drawing/2014/main" id="{8D45561A-9E8D-423C-23D2-F3A45F7FA618}"/>
              </a:ext>
            </a:extLst>
          </p:cNvPr>
          <p:cNvSpPr/>
          <p:nvPr/>
        </p:nvSpPr>
        <p:spPr>
          <a:xfrm>
            <a:off x="4967670" y="6749098"/>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4" name="Google Shape;347;p28">
            <a:extLst>
              <a:ext uri="{FF2B5EF4-FFF2-40B4-BE49-F238E27FC236}">
                <a16:creationId xmlns:a16="http://schemas.microsoft.com/office/drawing/2014/main" id="{2175E724-315B-D5F8-82FE-CA73FA338D0A}"/>
              </a:ext>
            </a:extLst>
          </p:cNvPr>
          <p:cNvSpPr/>
          <p:nvPr/>
        </p:nvSpPr>
        <p:spPr>
          <a:xfrm>
            <a:off x="4914480" y="6279714"/>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3" name="Picture 38"/>
          <p:cNvPicPr/>
          <p:nvPr/>
        </p:nvPicPr>
        <p:blipFill>
          <a:blip r:embed="rId2"/>
          <a:stretch/>
        </p:blipFill>
        <p:spPr>
          <a:xfrm>
            <a:off x="819000" y="714240"/>
            <a:ext cx="12428640" cy="7104240"/>
          </a:xfrm>
          <a:prstGeom prst="rect">
            <a:avLst/>
          </a:prstGeom>
          <a:ln w="0">
            <a:noFill/>
          </a:ln>
        </p:spPr>
      </p:pic>
      <p:pic>
        <p:nvPicPr>
          <p:cNvPr id="394" name="Picture 15"/>
          <p:cNvPicPr/>
          <p:nvPr/>
        </p:nvPicPr>
        <p:blipFill>
          <a:blip r:embed="rId3"/>
          <a:srcRect l="10028" t="12536" r="10465" b="20264"/>
          <a:stretch/>
        </p:blipFill>
        <p:spPr>
          <a:xfrm>
            <a:off x="0" y="3240"/>
            <a:ext cx="14038560" cy="8455320"/>
          </a:xfrm>
          <a:prstGeom prst="rect">
            <a:avLst/>
          </a:prstGeom>
          <a:ln w="0">
            <a:noFill/>
          </a:ln>
        </p:spPr>
      </p:pic>
      <p:cxnSp>
        <p:nvCxnSpPr>
          <p:cNvPr id="397" name="Straight Connector 31"/>
          <p:cNvCxnSpPr/>
          <p:nvPr/>
        </p:nvCxnSpPr>
        <p:spPr>
          <a:xfrm flipH="1">
            <a:off x="5849280" y="6801480"/>
            <a:ext cx="2452680" cy="1440"/>
          </a:xfrm>
          <a:prstGeom prst="straightConnector1">
            <a:avLst/>
          </a:prstGeom>
          <a:ln w="12700">
            <a:solidFill>
              <a:srgbClr val="000000"/>
            </a:solidFill>
            <a:round/>
          </a:ln>
        </p:spPr>
      </p:cxnSp>
      <p:pic>
        <p:nvPicPr>
          <p:cNvPr id="398" name="Picture 2"/>
          <p:cNvPicPr/>
          <p:nvPr/>
        </p:nvPicPr>
        <p:blipFill>
          <a:blip r:embed="rId4"/>
          <a:stretch/>
        </p:blipFill>
        <p:spPr>
          <a:xfrm>
            <a:off x="10481400" y="6171480"/>
            <a:ext cx="1571040" cy="1370880"/>
          </a:xfrm>
          <a:prstGeom prst="rect">
            <a:avLst/>
          </a:prstGeom>
          <a:ln w="0">
            <a:noFill/>
          </a:ln>
        </p:spPr>
      </p:pic>
      <p:pic>
        <p:nvPicPr>
          <p:cNvPr id="399" name="Picture 4"/>
          <p:cNvPicPr/>
          <p:nvPr/>
        </p:nvPicPr>
        <p:blipFill>
          <a:blip r:embed="rId5"/>
          <a:stretch/>
        </p:blipFill>
        <p:spPr>
          <a:xfrm>
            <a:off x="1668960" y="6107760"/>
            <a:ext cx="1393560" cy="1441080"/>
          </a:xfrm>
          <a:prstGeom prst="rect">
            <a:avLst/>
          </a:prstGeom>
          <a:ln w="0">
            <a:noFill/>
          </a:ln>
        </p:spPr>
      </p:pic>
      <p:sp>
        <p:nvSpPr>
          <p:cNvPr id="400" name="TextBox 7"/>
          <p:cNvSpPr/>
          <p:nvPr/>
        </p:nvSpPr>
        <p:spPr>
          <a:xfrm>
            <a:off x="1668960" y="2526120"/>
            <a:ext cx="10736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AUSTRALIAN SPECIAL OPERATIONS TASKFORCE</a:t>
            </a:r>
            <a:endParaRPr lang="en-IN" sz="3600" b="0" strike="noStrike" spc="-1">
              <a:solidFill>
                <a:srgbClr val="000000"/>
              </a:solidFill>
              <a:latin typeface="Arial"/>
            </a:endParaRPr>
          </a:p>
        </p:txBody>
      </p:sp>
      <p:sp>
        <p:nvSpPr>
          <p:cNvPr id="401" name="TextBox 8"/>
          <p:cNvSpPr/>
          <p:nvPr/>
        </p:nvSpPr>
        <p:spPr>
          <a:xfrm>
            <a:off x="4094640" y="2918160"/>
            <a:ext cx="607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This is to certify that command has awarded the</a:t>
            </a:r>
            <a:r>
              <a:rPr lang="en-AU" sz="3600" b="0" strike="noStrike" spc="-1">
                <a:solidFill>
                  <a:srgbClr val="000000"/>
                </a:solidFill>
                <a:latin typeface="Times New Roman"/>
                <a:ea typeface="DejaVu Sans"/>
              </a:rPr>
              <a:t> </a:t>
            </a:r>
            <a:endParaRPr lang="en-IN" sz="3600" b="0" strike="noStrike" spc="-1">
              <a:solidFill>
                <a:srgbClr val="000000"/>
              </a:solidFill>
              <a:latin typeface="Arial"/>
            </a:endParaRPr>
          </a:p>
        </p:txBody>
      </p:sp>
      <p:sp>
        <p:nvSpPr>
          <p:cNvPr id="402" name="TextBox 9"/>
          <p:cNvSpPr/>
          <p:nvPr/>
        </p:nvSpPr>
        <p:spPr>
          <a:xfrm>
            <a:off x="5573160" y="4307400"/>
            <a:ext cx="29275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endParaRPr lang="en-IN" sz="1800" b="0" strike="noStrike" spc="-1">
              <a:solidFill>
                <a:srgbClr val="000000"/>
              </a:solidFill>
              <a:latin typeface="Arial"/>
            </a:endParaRPr>
          </a:p>
        </p:txBody>
      </p:sp>
      <p:sp>
        <p:nvSpPr>
          <p:cNvPr id="403" name="TextBox 10"/>
          <p:cNvSpPr/>
          <p:nvPr/>
        </p:nvSpPr>
        <p:spPr>
          <a:xfrm>
            <a:off x="4438080" y="3418200"/>
            <a:ext cx="51620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Silver Soldiers Medallion</a:t>
            </a:r>
            <a:endParaRPr lang="en-IN" sz="3600" b="0" strike="noStrike" spc="-1">
              <a:solidFill>
                <a:srgbClr val="000000"/>
              </a:solidFill>
              <a:latin typeface="Arial"/>
            </a:endParaRPr>
          </a:p>
        </p:txBody>
      </p:sp>
      <p:sp>
        <p:nvSpPr>
          <p:cNvPr id="404" name="TextBox 11"/>
          <p:cNvSpPr/>
          <p:nvPr/>
        </p:nvSpPr>
        <p:spPr>
          <a:xfrm>
            <a:off x="6723360" y="3931920"/>
            <a:ext cx="5914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TO</a:t>
            </a:r>
            <a:endParaRPr lang="en-IN" sz="2400" b="0" strike="noStrike" spc="-1">
              <a:solidFill>
                <a:srgbClr val="000000"/>
              </a:solidFill>
              <a:latin typeface="Arial"/>
            </a:endParaRPr>
          </a:p>
        </p:txBody>
      </p:sp>
      <p:sp>
        <p:nvSpPr>
          <p:cNvPr id="405" name="TextBox 12"/>
          <p:cNvSpPr/>
          <p:nvPr/>
        </p:nvSpPr>
        <p:spPr>
          <a:xfrm>
            <a:off x="1790640" y="4834080"/>
            <a:ext cx="10456920" cy="82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600" b="0" strike="noStrike" spc="-1">
                <a:solidFill>
                  <a:srgbClr val="000000"/>
                </a:solidFill>
                <a:latin typeface="Times New Roman"/>
                <a:ea typeface="DejaVu Sans"/>
              </a:rPr>
              <a:t>{name} has demonstrated a number of ASOT’s values, high standards and skill across one or multiple areas within the unit. The soldiers medallion is a sign of recognition and appreciation to members who excel across multiple award criteria but might not meet the needs for the specific award. This member has also previously received the bronze soldiers medallion.</a:t>
            </a:r>
            <a:endParaRPr lang="en-IN" sz="1600" b="0" strike="noStrike" spc="-1">
              <a:solidFill>
                <a:srgbClr val="000000"/>
              </a:solidFill>
              <a:latin typeface="Arial"/>
            </a:endParaRPr>
          </a:p>
        </p:txBody>
      </p:sp>
      <p:sp>
        <p:nvSpPr>
          <p:cNvPr id="406" name="TextBox 32"/>
          <p:cNvSpPr/>
          <p:nvPr/>
        </p:nvSpPr>
        <p:spPr>
          <a:xfrm>
            <a:off x="2021760" y="5609520"/>
            <a:ext cx="1003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800" b="0" strike="noStrike" spc="-1">
                <a:solidFill>
                  <a:srgbClr val="000000"/>
                </a:solidFill>
                <a:latin typeface="Times New Roman"/>
                <a:ea typeface="DejaVu Sans"/>
              </a:rPr>
              <a:t>On today’s date, </a:t>
            </a:r>
            <a:r>
              <a:rPr lang="en-AU" sz="1800" b="0" i="1" strike="noStrike" spc="-1">
                <a:solidFill>
                  <a:srgbClr val="000000"/>
                </a:solidFill>
                <a:latin typeface="Times New Roman"/>
                <a:ea typeface="DejaVu Sans"/>
              </a:rPr>
              <a:t>{dateNumber}</a:t>
            </a:r>
            <a:r>
              <a:rPr lang="en-AU" sz="1800" b="0" i="1" strike="noStrike" spc="-1" baseline="30000">
                <a:solidFill>
                  <a:srgbClr val="000000"/>
                </a:solidFill>
                <a:latin typeface="Times New Roman"/>
                <a:ea typeface="DejaVu Sans"/>
              </a:rPr>
              <a:t>{suffix}</a:t>
            </a:r>
            <a:r>
              <a:rPr lang="en-AU" sz="1800" b="0" i="1" strike="noStrike" spc="-1">
                <a:solidFill>
                  <a:srgbClr val="000000"/>
                </a:solidFill>
                <a:latin typeface="Times New Roman"/>
                <a:ea typeface="DejaVu Sans"/>
              </a:rPr>
              <a:t> {date}</a:t>
            </a:r>
            <a:r>
              <a:rPr lang="en-AU" sz="1800" b="0" strike="noStrike" spc="-1">
                <a:solidFill>
                  <a:srgbClr val="000000"/>
                </a:solidFill>
                <a:latin typeface="Times New Roman"/>
                <a:ea typeface="DejaVu Sans"/>
              </a:rPr>
              <a:t>, {name} is therefore awarded the</a:t>
            </a:r>
            <a:br>
              <a:rPr sz="1800"/>
            </a:br>
            <a:r>
              <a:rPr lang="en-AU" sz="1800" b="0" strike="noStrike" spc="-1">
                <a:solidFill>
                  <a:srgbClr val="000000"/>
                </a:solidFill>
                <a:latin typeface="Times New Roman"/>
                <a:ea typeface="DejaVu Sans"/>
              </a:rPr>
              <a:t>Silver Soldiers Medallion.</a:t>
            </a:r>
            <a:endParaRPr lang="en-IN" sz="1800" b="0" strike="noStrike" spc="-1">
              <a:solidFill>
                <a:srgbClr val="000000"/>
              </a:solidFill>
              <a:latin typeface="Arial"/>
            </a:endParaRPr>
          </a:p>
        </p:txBody>
      </p:sp>
      <p:pic>
        <p:nvPicPr>
          <p:cNvPr id="407" name="Picture 2"/>
          <p:cNvPicPr/>
          <p:nvPr/>
        </p:nvPicPr>
        <p:blipFill>
          <a:blip r:embed="rId6"/>
          <a:stretch/>
        </p:blipFill>
        <p:spPr>
          <a:xfrm>
            <a:off x="6270480" y="971280"/>
            <a:ext cx="1530000" cy="1504800"/>
          </a:xfrm>
          <a:prstGeom prst="rect">
            <a:avLst/>
          </a:prstGeom>
          <a:ln w="0">
            <a:noFill/>
          </a:ln>
        </p:spPr>
      </p:pic>
      <p:sp>
        <p:nvSpPr>
          <p:cNvPr id="2" name="TextBox 33">
            <a:extLst>
              <a:ext uri="{FF2B5EF4-FFF2-40B4-BE49-F238E27FC236}">
                <a16:creationId xmlns:a16="http://schemas.microsoft.com/office/drawing/2014/main" id="{5442ECCB-3DAC-4382-CAE7-49E424AE9CF0}"/>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sp>
        <p:nvSpPr>
          <p:cNvPr id="3" name="Google Shape;90;p1">
            <a:extLst>
              <a:ext uri="{FF2B5EF4-FFF2-40B4-BE49-F238E27FC236}">
                <a16:creationId xmlns:a16="http://schemas.microsoft.com/office/drawing/2014/main" id="{937ED556-E208-B682-3FD7-F552C90B72A6}"/>
              </a:ext>
            </a:extLst>
          </p:cNvPr>
          <p:cNvSpPr/>
          <p:nvPr/>
        </p:nvSpPr>
        <p:spPr>
          <a:xfrm>
            <a:off x="4967670" y="6749098"/>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4" name="Google Shape;347;p28">
            <a:extLst>
              <a:ext uri="{FF2B5EF4-FFF2-40B4-BE49-F238E27FC236}">
                <a16:creationId xmlns:a16="http://schemas.microsoft.com/office/drawing/2014/main" id="{8693A69A-1D74-256F-DA93-F5F1918B0124}"/>
              </a:ext>
            </a:extLst>
          </p:cNvPr>
          <p:cNvSpPr/>
          <p:nvPr/>
        </p:nvSpPr>
        <p:spPr>
          <a:xfrm>
            <a:off x="4914480" y="6279714"/>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 name="Picture 38"/>
          <p:cNvPicPr/>
          <p:nvPr/>
        </p:nvPicPr>
        <p:blipFill>
          <a:blip r:embed="rId2"/>
          <a:stretch/>
        </p:blipFill>
        <p:spPr>
          <a:xfrm>
            <a:off x="819000" y="714240"/>
            <a:ext cx="12428640" cy="7104240"/>
          </a:xfrm>
          <a:prstGeom prst="rect">
            <a:avLst/>
          </a:prstGeom>
          <a:ln w="0">
            <a:noFill/>
          </a:ln>
        </p:spPr>
      </p:pic>
      <p:pic>
        <p:nvPicPr>
          <p:cNvPr id="410" name="Picture 15"/>
          <p:cNvPicPr/>
          <p:nvPr/>
        </p:nvPicPr>
        <p:blipFill>
          <a:blip r:embed="rId3"/>
          <a:srcRect l="10028" t="12536" r="10465" b="20264"/>
          <a:stretch/>
        </p:blipFill>
        <p:spPr>
          <a:xfrm>
            <a:off x="0" y="3240"/>
            <a:ext cx="14038560" cy="8455320"/>
          </a:xfrm>
          <a:prstGeom prst="rect">
            <a:avLst/>
          </a:prstGeom>
          <a:ln w="0">
            <a:noFill/>
          </a:ln>
        </p:spPr>
      </p:pic>
      <p:cxnSp>
        <p:nvCxnSpPr>
          <p:cNvPr id="413" name="Straight Connector 31"/>
          <p:cNvCxnSpPr/>
          <p:nvPr/>
        </p:nvCxnSpPr>
        <p:spPr>
          <a:xfrm flipH="1">
            <a:off x="5849280" y="6801480"/>
            <a:ext cx="2452680" cy="1440"/>
          </a:xfrm>
          <a:prstGeom prst="straightConnector1">
            <a:avLst/>
          </a:prstGeom>
          <a:ln w="12700">
            <a:solidFill>
              <a:srgbClr val="000000"/>
            </a:solidFill>
            <a:round/>
          </a:ln>
        </p:spPr>
      </p:cxnSp>
      <p:pic>
        <p:nvPicPr>
          <p:cNvPr id="414" name="Picture 2"/>
          <p:cNvPicPr/>
          <p:nvPr/>
        </p:nvPicPr>
        <p:blipFill>
          <a:blip r:embed="rId4"/>
          <a:stretch/>
        </p:blipFill>
        <p:spPr>
          <a:xfrm>
            <a:off x="10481400" y="6171480"/>
            <a:ext cx="1571040" cy="1370880"/>
          </a:xfrm>
          <a:prstGeom prst="rect">
            <a:avLst/>
          </a:prstGeom>
          <a:ln w="0">
            <a:noFill/>
          </a:ln>
        </p:spPr>
      </p:pic>
      <p:pic>
        <p:nvPicPr>
          <p:cNvPr id="415" name="Picture 4"/>
          <p:cNvPicPr/>
          <p:nvPr/>
        </p:nvPicPr>
        <p:blipFill>
          <a:blip r:embed="rId5"/>
          <a:stretch/>
        </p:blipFill>
        <p:spPr>
          <a:xfrm>
            <a:off x="1668960" y="6107760"/>
            <a:ext cx="1393560" cy="1441080"/>
          </a:xfrm>
          <a:prstGeom prst="rect">
            <a:avLst/>
          </a:prstGeom>
          <a:ln w="0">
            <a:noFill/>
          </a:ln>
        </p:spPr>
      </p:pic>
      <p:sp>
        <p:nvSpPr>
          <p:cNvPr id="416" name="TextBox 7"/>
          <p:cNvSpPr/>
          <p:nvPr/>
        </p:nvSpPr>
        <p:spPr>
          <a:xfrm>
            <a:off x="1668960" y="2526120"/>
            <a:ext cx="10736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AUSTRALIAN SPECIAL OPERATIONS TASKFORCE</a:t>
            </a:r>
            <a:endParaRPr lang="en-IN" sz="3600" b="0" strike="noStrike" spc="-1">
              <a:solidFill>
                <a:srgbClr val="000000"/>
              </a:solidFill>
              <a:latin typeface="Arial"/>
            </a:endParaRPr>
          </a:p>
        </p:txBody>
      </p:sp>
      <p:sp>
        <p:nvSpPr>
          <p:cNvPr id="417" name="TextBox 8"/>
          <p:cNvSpPr/>
          <p:nvPr/>
        </p:nvSpPr>
        <p:spPr>
          <a:xfrm>
            <a:off x="4094640" y="2918160"/>
            <a:ext cx="607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This is to certify that command has awarded the</a:t>
            </a:r>
            <a:r>
              <a:rPr lang="en-AU" sz="3600" b="0" strike="noStrike" spc="-1">
                <a:solidFill>
                  <a:srgbClr val="000000"/>
                </a:solidFill>
                <a:latin typeface="Times New Roman"/>
                <a:ea typeface="DejaVu Sans"/>
              </a:rPr>
              <a:t> </a:t>
            </a:r>
            <a:endParaRPr lang="en-IN" sz="3600" b="0" strike="noStrike" spc="-1">
              <a:solidFill>
                <a:srgbClr val="000000"/>
              </a:solidFill>
              <a:latin typeface="Arial"/>
            </a:endParaRPr>
          </a:p>
        </p:txBody>
      </p:sp>
      <p:sp>
        <p:nvSpPr>
          <p:cNvPr id="418" name="TextBox 9"/>
          <p:cNvSpPr/>
          <p:nvPr/>
        </p:nvSpPr>
        <p:spPr>
          <a:xfrm>
            <a:off x="5573160" y="4307400"/>
            <a:ext cx="29275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endParaRPr lang="en-IN" sz="1800" b="0" strike="noStrike" spc="-1">
              <a:solidFill>
                <a:srgbClr val="000000"/>
              </a:solidFill>
              <a:latin typeface="Arial"/>
            </a:endParaRPr>
          </a:p>
        </p:txBody>
      </p:sp>
      <p:sp>
        <p:nvSpPr>
          <p:cNvPr id="419" name="TextBox 10"/>
          <p:cNvSpPr/>
          <p:nvPr/>
        </p:nvSpPr>
        <p:spPr>
          <a:xfrm>
            <a:off x="4438080" y="3418200"/>
            <a:ext cx="51620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Gold Soldiers Medallion</a:t>
            </a:r>
            <a:endParaRPr lang="en-IN" sz="3600" b="0" strike="noStrike" spc="-1">
              <a:solidFill>
                <a:srgbClr val="000000"/>
              </a:solidFill>
              <a:latin typeface="Arial"/>
            </a:endParaRPr>
          </a:p>
        </p:txBody>
      </p:sp>
      <p:sp>
        <p:nvSpPr>
          <p:cNvPr id="420" name="TextBox 11"/>
          <p:cNvSpPr/>
          <p:nvPr/>
        </p:nvSpPr>
        <p:spPr>
          <a:xfrm>
            <a:off x="6723360" y="3931920"/>
            <a:ext cx="5914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TO</a:t>
            </a:r>
            <a:endParaRPr lang="en-IN" sz="2400" b="0" strike="noStrike" spc="-1">
              <a:solidFill>
                <a:srgbClr val="000000"/>
              </a:solidFill>
              <a:latin typeface="Arial"/>
            </a:endParaRPr>
          </a:p>
        </p:txBody>
      </p:sp>
      <p:sp>
        <p:nvSpPr>
          <p:cNvPr id="421" name="TextBox 12"/>
          <p:cNvSpPr/>
          <p:nvPr/>
        </p:nvSpPr>
        <p:spPr>
          <a:xfrm>
            <a:off x="1790640" y="4834080"/>
            <a:ext cx="10456920" cy="82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600" b="0" strike="noStrike" spc="-1">
                <a:solidFill>
                  <a:srgbClr val="000000"/>
                </a:solidFill>
                <a:latin typeface="Times New Roman"/>
                <a:ea typeface="DejaVu Sans"/>
              </a:rPr>
              <a:t>{name} has demonstrated a number of ASOT’s values, high standards and skill across one or multiple areas within the unit. The soldiers medallion is a sign of recognition and appreciation to members who excel across multiple award criteria but might not meet the needs for the specific award. This member has also previously received the silver soldiers medallion.</a:t>
            </a:r>
            <a:endParaRPr lang="en-IN" sz="1600" b="0" strike="noStrike" spc="-1">
              <a:solidFill>
                <a:srgbClr val="000000"/>
              </a:solidFill>
              <a:latin typeface="Arial"/>
            </a:endParaRPr>
          </a:p>
        </p:txBody>
      </p:sp>
      <p:sp>
        <p:nvSpPr>
          <p:cNvPr id="422" name="TextBox 32"/>
          <p:cNvSpPr/>
          <p:nvPr/>
        </p:nvSpPr>
        <p:spPr>
          <a:xfrm>
            <a:off x="2021760" y="5609520"/>
            <a:ext cx="1003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800" b="0" strike="noStrike" spc="-1">
                <a:solidFill>
                  <a:srgbClr val="000000"/>
                </a:solidFill>
                <a:latin typeface="Times New Roman"/>
                <a:ea typeface="DejaVu Sans"/>
              </a:rPr>
              <a:t>On today’s date, </a:t>
            </a:r>
            <a:r>
              <a:rPr lang="en-AU" sz="1800" b="0" i="1" strike="noStrike" spc="-1">
                <a:solidFill>
                  <a:srgbClr val="000000"/>
                </a:solidFill>
                <a:latin typeface="Times New Roman"/>
                <a:ea typeface="DejaVu Sans"/>
              </a:rPr>
              <a:t>{dateNumber}</a:t>
            </a:r>
            <a:r>
              <a:rPr lang="en-AU" sz="1800" b="0" i="1" strike="noStrike" spc="-1" baseline="30000">
                <a:solidFill>
                  <a:srgbClr val="000000"/>
                </a:solidFill>
                <a:latin typeface="Times New Roman"/>
                <a:ea typeface="DejaVu Sans"/>
              </a:rPr>
              <a:t>{suffix}</a:t>
            </a:r>
            <a:r>
              <a:rPr lang="en-AU" sz="1800" b="0" i="1" strike="noStrike" spc="-1">
                <a:solidFill>
                  <a:srgbClr val="000000"/>
                </a:solidFill>
                <a:latin typeface="Times New Roman"/>
                <a:ea typeface="DejaVu Sans"/>
              </a:rPr>
              <a:t> {date}</a:t>
            </a:r>
            <a:r>
              <a:rPr lang="en-AU" sz="1800" b="0" strike="noStrike" spc="-1">
                <a:solidFill>
                  <a:srgbClr val="000000"/>
                </a:solidFill>
                <a:latin typeface="Times New Roman"/>
                <a:ea typeface="DejaVu Sans"/>
              </a:rPr>
              <a:t>, {name} is therefore awarded the</a:t>
            </a:r>
            <a:br>
              <a:rPr sz="1800"/>
            </a:br>
            <a:r>
              <a:rPr lang="en-AU" sz="1800" b="0" strike="noStrike" spc="-1">
                <a:solidFill>
                  <a:srgbClr val="000000"/>
                </a:solidFill>
                <a:latin typeface="Times New Roman"/>
                <a:ea typeface="DejaVu Sans"/>
              </a:rPr>
              <a:t>Gold Soldiers Medallion.</a:t>
            </a:r>
            <a:endParaRPr lang="en-IN" sz="1800" b="0" strike="noStrike" spc="-1">
              <a:solidFill>
                <a:srgbClr val="000000"/>
              </a:solidFill>
              <a:latin typeface="Arial"/>
            </a:endParaRPr>
          </a:p>
        </p:txBody>
      </p:sp>
      <p:pic>
        <p:nvPicPr>
          <p:cNvPr id="423" name="Picture 2"/>
          <p:cNvPicPr/>
          <p:nvPr/>
        </p:nvPicPr>
        <p:blipFill>
          <a:blip r:embed="rId6"/>
          <a:stretch/>
        </p:blipFill>
        <p:spPr>
          <a:xfrm>
            <a:off x="6271920" y="995040"/>
            <a:ext cx="1497240" cy="1472760"/>
          </a:xfrm>
          <a:prstGeom prst="rect">
            <a:avLst/>
          </a:prstGeom>
          <a:ln w="0">
            <a:noFill/>
          </a:ln>
        </p:spPr>
      </p:pic>
      <p:sp>
        <p:nvSpPr>
          <p:cNvPr id="424" name="TextBox 37"/>
          <p:cNvSpPr/>
          <p:nvPr/>
        </p:nvSpPr>
        <p:spPr>
          <a:xfrm>
            <a:off x="3960000" y="4282200"/>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endParaRPr lang="en-IN" sz="1800" b="0" strike="noStrike" spc="-1">
              <a:solidFill>
                <a:srgbClr val="000000"/>
              </a:solidFill>
              <a:latin typeface="Arial"/>
            </a:endParaRPr>
          </a:p>
        </p:txBody>
      </p:sp>
      <p:sp>
        <p:nvSpPr>
          <p:cNvPr id="2" name="TextBox 33">
            <a:extLst>
              <a:ext uri="{FF2B5EF4-FFF2-40B4-BE49-F238E27FC236}">
                <a16:creationId xmlns:a16="http://schemas.microsoft.com/office/drawing/2014/main" id="{019F04D4-F13A-7CDC-4879-433AABABCA90}"/>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sp>
        <p:nvSpPr>
          <p:cNvPr id="3" name="Google Shape;90;p1">
            <a:extLst>
              <a:ext uri="{FF2B5EF4-FFF2-40B4-BE49-F238E27FC236}">
                <a16:creationId xmlns:a16="http://schemas.microsoft.com/office/drawing/2014/main" id="{38EAEAF2-1157-B075-08EB-9B222ADE5EBD}"/>
              </a:ext>
            </a:extLst>
          </p:cNvPr>
          <p:cNvSpPr/>
          <p:nvPr/>
        </p:nvSpPr>
        <p:spPr>
          <a:xfrm>
            <a:off x="4967670" y="6749098"/>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4" name="Google Shape;347;p28">
            <a:extLst>
              <a:ext uri="{FF2B5EF4-FFF2-40B4-BE49-F238E27FC236}">
                <a16:creationId xmlns:a16="http://schemas.microsoft.com/office/drawing/2014/main" id="{06DCED67-A036-FC34-9382-84AB8A63105C}"/>
              </a:ext>
            </a:extLst>
          </p:cNvPr>
          <p:cNvSpPr/>
          <p:nvPr/>
        </p:nvSpPr>
        <p:spPr>
          <a:xfrm>
            <a:off x="4914480" y="6279714"/>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6" name="Picture 38"/>
          <p:cNvPicPr/>
          <p:nvPr/>
        </p:nvPicPr>
        <p:blipFill>
          <a:blip r:embed="rId2"/>
          <a:stretch/>
        </p:blipFill>
        <p:spPr>
          <a:xfrm>
            <a:off x="819000" y="714240"/>
            <a:ext cx="12428640" cy="7104240"/>
          </a:xfrm>
          <a:prstGeom prst="rect">
            <a:avLst/>
          </a:prstGeom>
          <a:ln w="0">
            <a:noFill/>
          </a:ln>
        </p:spPr>
      </p:pic>
      <p:pic>
        <p:nvPicPr>
          <p:cNvPr id="427" name="Picture 29"/>
          <p:cNvPicPr/>
          <p:nvPr/>
        </p:nvPicPr>
        <p:blipFill>
          <a:blip r:embed="rId3"/>
          <a:stretch/>
        </p:blipFill>
        <p:spPr>
          <a:xfrm rot="16200000">
            <a:off x="857160" y="5352480"/>
            <a:ext cx="2390400" cy="2432520"/>
          </a:xfrm>
          <a:prstGeom prst="rect">
            <a:avLst/>
          </a:prstGeom>
          <a:ln w="0">
            <a:noFill/>
          </a:ln>
        </p:spPr>
      </p:pic>
      <p:pic>
        <p:nvPicPr>
          <p:cNvPr id="428" name="Picture 20"/>
          <p:cNvPicPr/>
          <p:nvPr/>
        </p:nvPicPr>
        <p:blipFill>
          <a:blip r:embed="rId4"/>
          <a:srcRect l="10028" t="12536" r="10465" b="20264"/>
          <a:stretch/>
        </p:blipFill>
        <p:spPr>
          <a:xfrm>
            <a:off x="0" y="0"/>
            <a:ext cx="14038560" cy="8455320"/>
          </a:xfrm>
          <a:prstGeom prst="rect">
            <a:avLst/>
          </a:prstGeom>
          <a:ln w="0">
            <a:noFill/>
          </a:ln>
        </p:spPr>
      </p:pic>
      <p:sp>
        <p:nvSpPr>
          <p:cNvPr id="429" name="TextBox 7"/>
          <p:cNvSpPr/>
          <p:nvPr/>
        </p:nvSpPr>
        <p:spPr>
          <a:xfrm>
            <a:off x="1668960" y="2526120"/>
            <a:ext cx="10736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AUSTRALIAN SPECIAL OPERATIONS TASKFORCE</a:t>
            </a:r>
            <a:endParaRPr lang="en-IN" sz="3600" b="0" strike="noStrike" spc="-1">
              <a:solidFill>
                <a:srgbClr val="000000"/>
              </a:solidFill>
              <a:latin typeface="Arial"/>
            </a:endParaRPr>
          </a:p>
        </p:txBody>
      </p:sp>
      <p:sp>
        <p:nvSpPr>
          <p:cNvPr id="430" name="TextBox 8"/>
          <p:cNvSpPr/>
          <p:nvPr/>
        </p:nvSpPr>
        <p:spPr>
          <a:xfrm>
            <a:off x="4094640" y="2918160"/>
            <a:ext cx="607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This is to certify that command has awarded the</a:t>
            </a:r>
            <a:r>
              <a:rPr lang="en-AU" sz="3600" b="0" strike="noStrike" spc="-1">
                <a:solidFill>
                  <a:srgbClr val="000000"/>
                </a:solidFill>
                <a:latin typeface="Times New Roman"/>
                <a:ea typeface="DejaVu Sans"/>
              </a:rPr>
              <a:t> </a:t>
            </a:r>
            <a:endParaRPr lang="en-IN" sz="3600" b="0" strike="noStrike" spc="-1">
              <a:solidFill>
                <a:srgbClr val="000000"/>
              </a:solidFill>
              <a:latin typeface="Arial"/>
            </a:endParaRPr>
          </a:p>
        </p:txBody>
      </p:sp>
      <p:sp>
        <p:nvSpPr>
          <p:cNvPr id="431" name="TextBox 9"/>
          <p:cNvSpPr/>
          <p:nvPr/>
        </p:nvSpPr>
        <p:spPr>
          <a:xfrm>
            <a:off x="5573160" y="4307400"/>
            <a:ext cx="29275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endParaRPr lang="en-IN" sz="1800" b="0" strike="noStrike" spc="-1">
              <a:solidFill>
                <a:srgbClr val="000000"/>
              </a:solidFill>
              <a:latin typeface="Arial"/>
            </a:endParaRPr>
          </a:p>
        </p:txBody>
      </p:sp>
      <p:sp>
        <p:nvSpPr>
          <p:cNvPr id="432" name="TextBox 10"/>
          <p:cNvSpPr/>
          <p:nvPr/>
        </p:nvSpPr>
        <p:spPr>
          <a:xfrm>
            <a:off x="4411800" y="3396240"/>
            <a:ext cx="53254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Star Of Courage</a:t>
            </a:r>
            <a:endParaRPr lang="en-IN" sz="3600" b="0" strike="noStrike" spc="-1">
              <a:solidFill>
                <a:srgbClr val="000000"/>
              </a:solidFill>
              <a:latin typeface="Arial"/>
            </a:endParaRPr>
          </a:p>
        </p:txBody>
      </p:sp>
      <p:sp>
        <p:nvSpPr>
          <p:cNvPr id="433" name="TextBox 11"/>
          <p:cNvSpPr/>
          <p:nvPr/>
        </p:nvSpPr>
        <p:spPr>
          <a:xfrm>
            <a:off x="6723360" y="3931920"/>
            <a:ext cx="5914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TO</a:t>
            </a:r>
            <a:endParaRPr lang="en-IN" sz="2400" b="0" strike="noStrike" spc="-1">
              <a:solidFill>
                <a:srgbClr val="000000"/>
              </a:solidFill>
              <a:latin typeface="Arial"/>
            </a:endParaRPr>
          </a:p>
        </p:txBody>
      </p:sp>
      <p:sp>
        <p:nvSpPr>
          <p:cNvPr id="434" name="TextBox 12"/>
          <p:cNvSpPr/>
          <p:nvPr/>
        </p:nvSpPr>
        <p:spPr>
          <a:xfrm>
            <a:off x="1501920" y="4867920"/>
            <a:ext cx="11057040" cy="106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600" b="0" strike="noStrike" spc="-1">
                <a:solidFill>
                  <a:srgbClr val="000000"/>
                </a:solidFill>
                <a:latin typeface="Times New Roman"/>
                <a:ea typeface="DejaVu Sans"/>
              </a:rPr>
              <a:t>The Star Of Courage is awarded to members who have previously received the Gallantry Award and have shown during multiple significant events, acts of professionalism and dedication within an operation at a standard above what is expected of his worn rank. {name} has conducted themselves with a high level of skill, knowledge and attitude which significantly altered the outcomes of situations in a positive manner during multiple operations. </a:t>
            </a:r>
            <a:endParaRPr lang="en-IN" sz="1600" b="0" strike="noStrike" spc="-1">
              <a:solidFill>
                <a:srgbClr val="000000"/>
              </a:solidFill>
              <a:latin typeface="Arial"/>
            </a:endParaRPr>
          </a:p>
        </p:txBody>
      </p:sp>
      <p:cxnSp>
        <p:nvCxnSpPr>
          <p:cNvPr id="437" name="Straight Connector 31"/>
          <p:cNvCxnSpPr/>
          <p:nvPr/>
        </p:nvCxnSpPr>
        <p:spPr>
          <a:xfrm flipH="1">
            <a:off x="5849280" y="6801480"/>
            <a:ext cx="2452680" cy="1440"/>
          </a:xfrm>
          <a:prstGeom prst="straightConnector1">
            <a:avLst/>
          </a:prstGeom>
          <a:ln w="12700">
            <a:solidFill>
              <a:srgbClr val="000000"/>
            </a:solidFill>
            <a:round/>
          </a:ln>
        </p:spPr>
      </p:cxnSp>
      <p:sp>
        <p:nvSpPr>
          <p:cNvPr id="438" name="TextBox 32"/>
          <p:cNvSpPr/>
          <p:nvPr/>
        </p:nvSpPr>
        <p:spPr>
          <a:xfrm>
            <a:off x="2003760" y="5912280"/>
            <a:ext cx="1003068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800" b="0" strike="noStrike" spc="-1">
                <a:solidFill>
                  <a:srgbClr val="000000"/>
                </a:solidFill>
                <a:latin typeface="Times New Roman"/>
                <a:ea typeface="DejaVu Sans"/>
              </a:rPr>
              <a:t>On today’s date, </a:t>
            </a:r>
            <a:r>
              <a:rPr lang="en-AU" sz="1800" b="0" i="1" strike="noStrike" spc="-1">
                <a:solidFill>
                  <a:srgbClr val="000000"/>
                </a:solidFill>
                <a:latin typeface="Times New Roman"/>
                <a:ea typeface="DejaVu Sans"/>
              </a:rPr>
              <a:t>{dateNumber}</a:t>
            </a:r>
            <a:r>
              <a:rPr lang="en-AU" sz="1800" b="0" i="1" strike="noStrike" spc="-1" baseline="30000">
                <a:solidFill>
                  <a:srgbClr val="000000"/>
                </a:solidFill>
                <a:latin typeface="Times New Roman"/>
                <a:ea typeface="DejaVu Sans"/>
              </a:rPr>
              <a:t>{suffix}</a:t>
            </a:r>
            <a:r>
              <a:rPr lang="en-AU" sz="1800" b="0" i="1" strike="noStrike" spc="-1">
                <a:solidFill>
                  <a:srgbClr val="000000"/>
                </a:solidFill>
                <a:latin typeface="Times New Roman"/>
                <a:ea typeface="DejaVu Sans"/>
              </a:rPr>
              <a:t> {date}</a:t>
            </a:r>
            <a:r>
              <a:rPr lang="en-AU" sz="1800" b="0" strike="noStrike" spc="-1">
                <a:solidFill>
                  <a:srgbClr val="000000"/>
                </a:solidFill>
                <a:latin typeface="Times New Roman"/>
                <a:ea typeface="DejaVu Sans"/>
              </a:rPr>
              <a:t>, {name} is therefore awarded the Star Of Courage.</a:t>
            </a:r>
            <a:endParaRPr lang="en-IN" sz="1800" b="0" strike="noStrike" spc="-1">
              <a:solidFill>
                <a:srgbClr val="000000"/>
              </a:solidFill>
              <a:latin typeface="Arial"/>
            </a:endParaRPr>
          </a:p>
        </p:txBody>
      </p:sp>
      <p:pic>
        <p:nvPicPr>
          <p:cNvPr id="439" name="Picture 2"/>
          <p:cNvPicPr/>
          <p:nvPr/>
        </p:nvPicPr>
        <p:blipFill>
          <a:blip r:embed="rId5"/>
          <a:stretch/>
        </p:blipFill>
        <p:spPr>
          <a:xfrm>
            <a:off x="8951400" y="6212160"/>
            <a:ext cx="1571040" cy="1370880"/>
          </a:xfrm>
          <a:prstGeom prst="rect">
            <a:avLst/>
          </a:prstGeom>
          <a:ln w="0">
            <a:noFill/>
          </a:ln>
        </p:spPr>
      </p:pic>
      <p:pic>
        <p:nvPicPr>
          <p:cNvPr id="440" name="Picture 4"/>
          <p:cNvPicPr/>
          <p:nvPr/>
        </p:nvPicPr>
        <p:blipFill>
          <a:blip r:embed="rId6"/>
          <a:stretch/>
        </p:blipFill>
        <p:spPr>
          <a:xfrm>
            <a:off x="3803760" y="6226920"/>
            <a:ext cx="1393560" cy="1441080"/>
          </a:xfrm>
          <a:prstGeom prst="rect">
            <a:avLst/>
          </a:prstGeom>
          <a:ln w="0">
            <a:noFill/>
          </a:ln>
        </p:spPr>
      </p:pic>
      <p:pic>
        <p:nvPicPr>
          <p:cNvPr id="441" name="Picture 17"/>
          <p:cNvPicPr/>
          <p:nvPr/>
        </p:nvPicPr>
        <p:blipFill>
          <a:blip r:embed="rId3"/>
          <a:stretch/>
        </p:blipFill>
        <p:spPr>
          <a:xfrm>
            <a:off x="878400" y="738360"/>
            <a:ext cx="2390400" cy="2432520"/>
          </a:xfrm>
          <a:prstGeom prst="rect">
            <a:avLst/>
          </a:prstGeom>
          <a:ln w="0">
            <a:noFill/>
          </a:ln>
        </p:spPr>
      </p:pic>
      <p:pic>
        <p:nvPicPr>
          <p:cNvPr id="442" name="Picture 30"/>
          <p:cNvPicPr/>
          <p:nvPr/>
        </p:nvPicPr>
        <p:blipFill>
          <a:blip r:embed="rId3"/>
          <a:stretch/>
        </p:blipFill>
        <p:spPr>
          <a:xfrm rot="10800000">
            <a:off x="10797120" y="5344560"/>
            <a:ext cx="2406600" cy="2449080"/>
          </a:xfrm>
          <a:prstGeom prst="rect">
            <a:avLst/>
          </a:prstGeom>
          <a:ln w="0">
            <a:noFill/>
          </a:ln>
        </p:spPr>
      </p:pic>
      <p:pic>
        <p:nvPicPr>
          <p:cNvPr id="443" name="Picture 25"/>
          <p:cNvPicPr/>
          <p:nvPr/>
        </p:nvPicPr>
        <p:blipFill>
          <a:blip r:embed="rId3"/>
          <a:stretch/>
        </p:blipFill>
        <p:spPr>
          <a:xfrm rot="5400000">
            <a:off x="10821600" y="741600"/>
            <a:ext cx="2406600" cy="2449080"/>
          </a:xfrm>
          <a:prstGeom prst="rect">
            <a:avLst/>
          </a:prstGeom>
          <a:ln w="0">
            <a:noFill/>
          </a:ln>
        </p:spPr>
      </p:pic>
      <p:pic>
        <p:nvPicPr>
          <p:cNvPr id="444" name="Picture 23"/>
          <p:cNvPicPr/>
          <p:nvPr/>
        </p:nvPicPr>
        <p:blipFill>
          <a:blip r:embed="rId7"/>
          <a:stretch/>
        </p:blipFill>
        <p:spPr>
          <a:xfrm>
            <a:off x="6587280" y="797040"/>
            <a:ext cx="864000" cy="1830960"/>
          </a:xfrm>
          <a:prstGeom prst="rect">
            <a:avLst/>
          </a:prstGeom>
          <a:ln w="0">
            <a:noFill/>
          </a:ln>
        </p:spPr>
      </p:pic>
      <p:sp>
        <p:nvSpPr>
          <p:cNvPr id="2" name="TextBox 33">
            <a:extLst>
              <a:ext uri="{FF2B5EF4-FFF2-40B4-BE49-F238E27FC236}">
                <a16:creationId xmlns:a16="http://schemas.microsoft.com/office/drawing/2014/main" id="{992CE29D-4F83-97AA-FE28-2EEE8AD0C8E9}"/>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sp>
        <p:nvSpPr>
          <p:cNvPr id="3" name="Google Shape;90;p1">
            <a:extLst>
              <a:ext uri="{FF2B5EF4-FFF2-40B4-BE49-F238E27FC236}">
                <a16:creationId xmlns:a16="http://schemas.microsoft.com/office/drawing/2014/main" id="{2AB810C9-3746-4698-BC8A-26A93C3E66E5}"/>
              </a:ext>
            </a:extLst>
          </p:cNvPr>
          <p:cNvSpPr/>
          <p:nvPr/>
        </p:nvSpPr>
        <p:spPr>
          <a:xfrm>
            <a:off x="4967670" y="6749098"/>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4" name="Google Shape;347;p28">
            <a:extLst>
              <a:ext uri="{FF2B5EF4-FFF2-40B4-BE49-F238E27FC236}">
                <a16:creationId xmlns:a16="http://schemas.microsoft.com/office/drawing/2014/main" id="{2971B253-7FE7-DD69-3686-705EEB1FE150}"/>
              </a:ext>
            </a:extLst>
          </p:cNvPr>
          <p:cNvSpPr/>
          <p:nvPr/>
        </p:nvSpPr>
        <p:spPr>
          <a:xfrm>
            <a:off x="4914480" y="6279714"/>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46" name="Picture 17"/>
          <p:cNvPicPr/>
          <p:nvPr/>
        </p:nvPicPr>
        <p:blipFill>
          <a:blip r:embed="rId2"/>
          <a:stretch/>
        </p:blipFill>
        <p:spPr>
          <a:xfrm>
            <a:off x="819000" y="714240"/>
            <a:ext cx="12428640" cy="7104240"/>
          </a:xfrm>
          <a:prstGeom prst="rect">
            <a:avLst/>
          </a:prstGeom>
          <a:ln w="0">
            <a:noFill/>
          </a:ln>
        </p:spPr>
      </p:pic>
      <p:pic>
        <p:nvPicPr>
          <p:cNvPr id="447" name="Picture 19"/>
          <p:cNvPicPr/>
          <p:nvPr/>
        </p:nvPicPr>
        <p:blipFill>
          <a:blip r:embed="rId3"/>
          <a:srcRect l="10028" t="12536" r="10465" b="20264"/>
          <a:stretch/>
        </p:blipFill>
        <p:spPr>
          <a:xfrm>
            <a:off x="0" y="3240"/>
            <a:ext cx="14038560" cy="8455320"/>
          </a:xfrm>
          <a:prstGeom prst="rect">
            <a:avLst/>
          </a:prstGeom>
          <a:ln w="0">
            <a:noFill/>
          </a:ln>
        </p:spPr>
      </p:pic>
      <p:sp>
        <p:nvSpPr>
          <p:cNvPr id="448" name="TextBox 7"/>
          <p:cNvSpPr/>
          <p:nvPr/>
        </p:nvSpPr>
        <p:spPr>
          <a:xfrm>
            <a:off x="1668960" y="2526120"/>
            <a:ext cx="10736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AUSTRALIAN SPECIAL OPERATIONS TASKFORCE</a:t>
            </a:r>
            <a:endParaRPr lang="en-IN" sz="3600" b="0" strike="noStrike" spc="-1">
              <a:solidFill>
                <a:srgbClr val="000000"/>
              </a:solidFill>
              <a:latin typeface="Arial"/>
            </a:endParaRPr>
          </a:p>
        </p:txBody>
      </p:sp>
      <p:sp>
        <p:nvSpPr>
          <p:cNvPr id="449" name="TextBox 8"/>
          <p:cNvSpPr/>
          <p:nvPr/>
        </p:nvSpPr>
        <p:spPr>
          <a:xfrm>
            <a:off x="4094640" y="2918160"/>
            <a:ext cx="607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This is to certify that command has awarded the</a:t>
            </a:r>
            <a:r>
              <a:rPr lang="en-AU" sz="3600" b="0" strike="noStrike" spc="-1">
                <a:solidFill>
                  <a:srgbClr val="000000"/>
                </a:solidFill>
                <a:latin typeface="Times New Roman"/>
                <a:ea typeface="DejaVu Sans"/>
              </a:rPr>
              <a:t> </a:t>
            </a:r>
            <a:endParaRPr lang="en-IN" sz="3600" b="0" strike="noStrike" spc="-1">
              <a:solidFill>
                <a:srgbClr val="000000"/>
              </a:solidFill>
              <a:latin typeface="Arial"/>
            </a:endParaRPr>
          </a:p>
        </p:txBody>
      </p:sp>
      <p:sp>
        <p:nvSpPr>
          <p:cNvPr id="450" name="TextBox 9"/>
          <p:cNvSpPr/>
          <p:nvPr/>
        </p:nvSpPr>
        <p:spPr>
          <a:xfrm>
            <a:off x="5573160" y="4307400"/>
            <a:ext cx="29275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endParaRPr lang="en-IN" sz="1800" b="0" strike="noStrike" spc="-1">
              <a:solidFill>
                <a:srgbClr val="000000"/>
              </a:solidFill>
              <a:latin typeface="Arial"/>
            </a:endParaRPr>
          </a:p>
        </p:txBody>
      </p:sp>
      <p:sp>
        <p:nvSpPr>
          <p:cNvPr id="451" name="TextBox 10"/>
          <p:cNvSpPr/>
          <p:nvPr/>
        </p:nvSpPr>
        <p:spPr>
          <a:xfrm>
            <a:off x="4743360" y="3382560"/>
            <a:ext cx="4551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Watchman Award</a:t>
            </a:r>
            <a:endParaRPr lang="en-IN" sz="3600" b="0" strike="noStrike" spc="-1">
              <a:solidFill>
                <a:srgbClr val="000000"/>
              </a:solidFill>
              <a:latin typeface="Arial"/>
            </a:endParaRPr>
          </a:p>
        </p:txBody>
      </p:sp>
      <p:sp>
        <p:nvSpPr>
          <p:cNvPr id="452" name="TextBox 11"/>
          <p:cNvSpPr/>
          <p:nvPr/>
        </p:nvSpPr>
        <p:spPr>
          <a:xfrm>
            <a:off x="6723360" y="3931920"/>
            <a:ext cx="5914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TO</a:t>
            </a:r>
            <a:endParaRPr lang="en-IN" sz="2400" b="0" strike="noStrike" spc="-1">
              <a:solidFill>
                <a:srgbClr val="000000"/>
              </a:solidFill>
              <a:latin typeface="Arial"/>
            </a:endParaRPr>
          </a:p>
        </p:txBody>
      </p:sp>
      <p:sp>
        <p:nvSpPr>
          <p:cNvPr id="453" name="TextBox 12"/>
          <p:cNvSpPr/>
          <p:nvPr/>
        </p:nvSpPr>
        <p:spPr>
          <a:xfrm>
            <a:off x="1611000" y="4975200"/>
            <a:ext cx="10816200" cy="82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600" b="0" strike="noStrike" spc="-1">
                <a:solidFill>
                  <a:srgbClr val="000000"/>
                </a:solidFill>
                <a:latin typeface="Times New Roman"/>
                <a:ea typeface="DejaVu Sans"/>
              </a:rPr>
              <a:t>{name} has demonstrated extremely high levels of ASOT’s values and standards whilst displaying very positive personal attributes including but not limited to; selflessness, kindness, sacrifice, generosity, compassion, sympathy and understanding. they have set an example for others to strive for and emulate which directly contributes to the improvement of the community. </a:t>
            </a:r>
            <a:endParaRPr lang="en-IN" sz="1600" b="0" strike="noStrike" spc="-1">
              <a:solidFill>
                <a:srgbClr val="000000"/>
              </a:solidFill>
              <a:latin typeface="Arial"/>
            </a:endParaRPr>
          </a:p>
        </p:txBody>
      </p:sp>
      <p:cxnSp>
        <p:nvCxnSpPr>
          <p:cNvPr id="456" name="Straight Connector 31"/>
          <p:cNvCxnSpPr/>
          <p:nvPr/>
        </p:nvCxnSpPr>
        <p:spPr>
          <a:xfrm flipH="1">
            <a:off x="5849280" y="6918120"/>
            <a:ext cx="2452680" cy="1440"/>
          </a:xfrm>
          <a:prstGeom prst="straightConnector1">
            <a:avLst/>
          </a:prstGeom>
          <a:ln w="12700">
            <a:solidFill>
              <a:srgbClr val="000000"/>
            </a:solidFill>
            <a:round/>
          </a:ln>
        </p:spPr>
      </p:cxnSp>
      <p:sp>
        <p:nvSpPr>
          <p:cNvPr id="457" name="TextBox 32"/>
          <p:cNvSpPr/>
          <p:nvPr/>
        </p:nvSpPr>
        <p:spPr>
          <a:xfrm>
            <a:off x="2003760" y="5847480"/>
            <a:ext cx="1003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800" b="0" strike="noStrike" spc="-1">
                <a:solidFill>
                  <a:srgbClr val="000000"/>
                </a:solidFill>
                <a:latin typeface="Times New Roman"/>
                <a:ea typeface="DejaVu Sans"/>
              </a:rPr>
              <a:t>On today’s date, </a:t>
            </a:r>
            <a:r>
              <a:rPr lang="en-AU" sz="1800" b="0" i="1" strike="noStrike" spc="-1">
                <a:solidFill>
                  <a:srgbClr val="000000"/>
                </a:solidFill>
                <a:latin typeface="Times New Roman"/>
                <a:ea typeface="DejaVu Sans"/>
              </a:rPr>
              <a:t>{dateNumber}</a:t>
            </a:r>
            <a:r>
              <a:rPr lang="en-AU" sz="1800" b="0" i="1" strike="noStrike" spc="-1" baseline="30000">
                <a:solidFill>
                  <a:srgbClr val="000000"/>
                </a:solidFill>
                <a:latin typeface="Times New Roman"/>
                <a:ea typeface="DejaVu Sans"/>
              </a:rPr>
              <a:t>{suffix}</a:t>
            </a:r>
            <a:r>
              <a:rPr lang="en-AU" sz="1800" b="0" i="1" strike="noStrike" spc="-1">
                <a:solidFill>
                  <a:srgbClr val="000000"/>
                </a:solidFill>
                <a:latin typeface="Times New Roman"/>
                <a:ea typeface="DejaVu Sans"/>
              </a:rPr>
              <a:t> {date}</a:t>
            </a:r>
            <a:r>
              <a:rPr lang="en-AU" sz="1800" b="0" strike="noStrike" spc="-1">
                <a:solidFill>
                  <a:srgbClr val="000000"/>
                </a:solidFill>
                <a:latin typeface="Times New Roman"/>
                <a:ea typeface="DejaVu Sans"/>
              </a:rPr>
              <a:t>, {name} is therefore awarded the</a:t>
            </a:r>
            <a:endParaRPr lang="en-IN" sz="1800" b="0" strike="noStrike" spc="-1">
              <a:solidFill>
                <a:srgbClr val="000000"/>
              </a:solidFill>
              <a:latin typeface="Arial"/>
            </a:endParaRPr>
          </a:p>
          <a:p>
            <a:pPr algn="ctr">
              <a:lnSpc>
                <a:spcPct val="100000"/>
              </a:lnSpc>
            </a:pPr>
            <a:r>
              <a:rPr lang="en-AU" sz="1800" b="0" strike="noStrike" spc="-1">
                <a:solidFill>
                  <a:srgbClr val="000000"/>
                </a:solidFill>
                <a:latin typeface="Times New Roman"/>
                <a:ea typeface="DejaVu Sans"/>
              </a:rPr>
              <a:t>Watchman Award.</a:t>
            </a:r>
            <a:endParaRPr lang="en-IN" sz="1800" b="0" strike="noStrike" spc="-1">
              <a:solidFill>
                <a:srgbClr val="000000"/>
              </a:solidFill>
              <a:latin typeface="Arial"/>
            </a:endParaRPr>
          </a:p>
        </p:txBody>
      </p:sp>
      <p:pic>
        <p:nvPicPr>
          <p:cNvPr id="458" name="Picture 2"/>
          <p:cNvPicPr/>
          <p:nvPr/>
        </p:nvPicPr>
        <p:blipFill>
          <a:blip r:embed="rId4"/>
          <a:stretch/>
        </p:blipFill>
        <p:spPr>
          <a:xfrm>
            <a:off x="10481400" y="6171480"/>
            <a:ext cx="1571040" cy="1370880"/>
          </a:xfrm>
          <a:prstGeom prst="rect">
            <a:avLst/>
          </a:prstGeom>
          <a:ln w="0">
            <a:noFill/>
          </a:ln>
        </p:spPr>
      </p:pic>
      <p:pic>
        <p:nvPicPr>
          <p:cNvPr id="459" name="Picture 4"/>
          <p:cNvPicPr/>
          <p:nvPr/>
        </p:nvPicPr>
        <p:blipFill>
          <a:blip r:embed="rId5"/>
          <a:stretch/>
        </p:blipFill>
        <p:spPr>
          <a:xfrm>
            <a:off x="1668960" y="6107760"/>
            <a:ext cx="1393560" cy="1441080"/>
          </a:xfrm>
          <a:prstGeom prst="rect">
            <a:avLst/>
          </a:prstGeom>
          <a:ln w="0">
            <a:noFill/>
          </a:ln>
        </p:spPr>
      </p:pic>
      <p:pic>
        <p:nvPicPr>
          <p:cNvPr id="460" name="Picture 25"/>
          <p:cNvPicPr/>
          <p:nvPr/>
        </p:nvPicPr>
        <p:blipFill>
          <a:blip r:embed="rId6"/>
          <a:stretch/>
        </p:blipFill>
        <p:spPr>
          <a:xfrm>
            <a:off x="6561720" y="803160"/>
            <a:ext cx="914760" cy="1938240"/>
          </a:xfrm>
          <a:prstGeom prst="rect">
            <a:avLst/>
          </a:prstGeom>
          <a:ln w="0">
            <a:noFill/>
          </a:ln>
        </p:spPr>
      </p:pic>
      <p:sp>
        <p:nvSpPr>
          <p:cNvPr id="2" name="TextBox 33">
            <a:extLst>
              <a:ext uri="{FF2B5EF4-FFF2-40B4-BE49-F238E27FC236}">
                <a16:creationId xmlns:a16="http://schemas.microsoft.com/office/drawing/2014/main" id="{46BD2F5B-C187-88C6-79F0-D183B03ED05A}"/>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sp>
        <p:nvSpPr>
          <p:cNvPr id="3" name="Google Shape;90;p1">
            <a:extLst>
              <a:ext uri="{FF2B5EF4-FFF2-40B4-BE49-F238E27FC236}">
                <a16:creationId xmlns:a16="http://schemas.microsoft.com/office/drawing/2014/main" id="{BD0F92F2-2F4E-4EC9-F91F-FC3A15A9D500}"/>
              </a:ext>
            </a:extLst>
          </p:cNvPr>
          <p:cNvSpPr/>
          <p:nvPr/>
        </p:nvSpPr>
        <p:spPr>
          <a:xfrm>
            <a:off x="4983030" y="6918120"/>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4" name="Google Shape;347;p28">
            <a:extLst>
              <a:ext uri="{FF2B5EF4-FFF2-40B4-BE49-F238E27FC236}">
                <a16:creationId xmlns:a16="http://schemas.microsoft.com/office/drawing/2014/main" id="{B300AD66-DE60-17DC-EBB7-8DF77BEFA389}"/>
              </a:ext>
            </a:extLst>
          </p:cNvPr>
          <p:cNvSpPr/>
          <p:nvPr/>
        </p:nvSpPr>
        <p:spPr>
          <a:xfrm>
            <a:off x="4929840" y="6448736"/>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2" name="Picture 17"/>
          <p:cNvPicPr/>
          <p:nvPr/>
        </p:nvPicPr>
        <p:blipFill>
          <a:blip r:embed="rId2"/>
          <a:stretch/>
        </p:blipFill>
        <p:spPr>
          <a:xfrm>
            <a:off x="819000" y="714240"/>
            <a:ext cx="12428640" cy="7104240"/>
          </a:xfrm>
          <a:prstGeom prst="rect">
            <a:avLst/>
          </a:prstGeom>
          <a:ln w="0">
            <a:noFill/>
          </a:ln>
        </p:spPr>
      </p:pic>
      <p:pic>
        <p:nvPicPr>
          <p:cNvPr id="463" name="Picture 19"/>
          <p:cNvPicPr/>
          <p:nvPr/>
        </p:nvPicPr>
        <p:blipFill>
          <a:blip r:embed="rId3"/>
          <a:srcRect l="10028" t="12536" r="10465" b="20264"/>
          <a:stretch/>
        </p:blipFill>
        <p:spPr>
          <a:xfrm>
            <a:off x="0" y="3240"/>
            <a:ext cx="14038560" cy="8455320"/>
          </a:xfrm>
          <a:prstGeom prst="rect">
            <a:avLst/>
          </a:prstGeom>
          <a:ln w="0">
            <a:noFill/>
          </a:ln>
        </p:spPr>
      </p:pic>
      <p:sp>
        <p:nvSpPr>
          <p:cNvPr id="464" name="TextBox 7"/>
          <p:cNvSpPr/>
          <p:nvPr/>
        </p:nvSpPr>
        <p:spPr>
          <a:xfrm>
            <a:off x="1668960" y="2526120"/>
            <a:ext cx="10736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AUSTRALIAN SPECIAL OPERATIONS TASKFORCE</a:t>
            </a:r>
            <a:endParaRPr lang="en-IN" sz="3600" b="0" strike="noStrike" spc="-1">
              <a:solidFill>
                <a:srgbClr val="000000"/>
              </a:solidFill>
              <a:latin typeface="Arial"/>
            </a:endParaRPr>
          </a:p>
        </p:txBody>
      </p:sp>
      <p:sp>
        <p:nvSpPr>
          <p:cNvPr id="465" name="TextBox 8"/>
          <p:cNvSpPr/>
          <p:nvPr/>
        </p:nvSpPr>
        <p:spPr>
          <a:xfrm>
            <a:off x="4094640" y="2918160"/>
            <a:ext cx="607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This is to certify that command has awarded the</a:t>
            </a:r>
            <a:r>
              <a:rPr lang="en-AU" sz="3600" b="0" strike="noStrike" spc="-1">
                <a:solidFill>
                  <a:srgbClr val="000000"/>
                </a:solidFill>
                <a:latin typeface="Times New Roman"/>
                <a:ea typeface="DejaVu Sans"/>
              </a:rPr>
              <a:t> </a:t>
            </a:r>
            <a:endParaRPr lang="en-IN" sz="3600" b="0" strike="noStrike" spc="-1">
              <a:solidFill>
                <a:srgbClr val="000000"/>
              </a:solidFill>
              <a:latin typeface="Arial"/>
            </a:endParaRPr>
          </a:p>
        </p:txBody>
      </p:sp>
      <p:sp>
        <p:nvSpPr>
          <p:cNvPr id="466" name="TextBox 9"/>
          <p:cNvSpPr/>
          <p:nvPr/>
        </p:nvSpPr>
        <p:spPr>
          <a:xfrm>
            <a:off x="5573160" y="4307400"/>
            <a:ext cx="29275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endParaRPr lang="en-IN" sz="1800" b="0" strike="noStrike" spc="-1">
              <a:solidFill>
                <a:srgbClr val="000000"/>
              </a:solidFill>
              <a:latin typeface="Arial"/>
            </a:endParaRPr>
          </a:p>
        </p:txBody>
      </p:sp>
      <p:sp>
        <p:nvSpPr>
          <p:cNvPr id="467" name="TextBox 10"/>
          <p:cNvSpPr/>
          <p:nvPr/>
        </p:nvSpPr>
        <p:spPr>
          <a:xfrm>
            <a:off x="4743360" y="3382560"/>
            <a:ext cx="4551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Campaign Medallion</a:t>
            </a:r>
            <a:endParaRPr lang="en-IN" sz="3600" b="0" strike="noStrike" spc="-1">
              <a:solidFill>
                <a:srgbClr val="000000"/>
              </a:solidFill>
              <a:latin typeface="Arial"/>
            </a:endParaRPr>
          </a:p>
        </p:txBody>
      </p:sp>
      <p:sp>
        <p:nvSpPr>
          <p:cNvPr id="468" name="TextBox 11"/>
          <p:cNvSpPr/>
          <p:nvPr/>
        </p:nvSpPr>
        <p:spPr>
          <a:xfrm>
            <a:off x="6723360" y="3931920"/>
            <a:ext cx="5914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TO</a:t>
            </a:r>
            <a:endParaRPr lang="en-IN" sz="2400" b="0" strike="noStrike" spc="-1">
              <a:solidFill>
                <a:srgbClr val="000000"/>
              </a:solidFill>
              <a:latin typeface="Arial"/>
            </a:endParaRPr>
          </a:p>
        </p:txBody>
      </p:sp>
      <p:sp>
        <p:nvSpPr>
          <p:cNvPr id="469" name="TextBox 12"/>
          <p:cNvSpPr/>
          <p:nvPr/>
        </p:nvSpPr>
        <p:spPr>
          <a:xfrm>
            <a:off x="1611000" y="4975200"/>
            <a:ext cx="10816200" cy="1400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800" b="0" strike="noStrike" spc="-1">
                <a:solidFill>
                  <a:srgbClr val="000000"/>
                </a:solidFill>
                <a:latin typeface="Times New Roman"/>
                <a:ea typeface="DejaVu Sans"/>
              </a:rPr>
              <a:t>{name} has seen service with the Australian Special Operations Taskforce in multiple theatres of operations, successfully providing aid and conducting combat operations across the globe.</a:t>
            </a:r>
            <a:endParaRPr lang="en-IN" sz="1800" b="0" strike="noStrike" spc="-1">
              <a:solidFill>
                <a:srgbClr val="000000"/>
              </a:solidFill>
              <a:latin typeface="Arial"/>
            </a:endParaRPr>
          </a:p>
          <a:p>
            <a:pPr algn="ctr">
              <a:lnSpc>
                <a:spcPct val="100000"/>
              </a:lnSpc>
            </a:pPr>
            <a:r>
              <a:rPr lang="en-AU" sz="1800" b="0" strike="noStrike" spc="-1">
                <a:solidFill>
                  <a:srgbClr val="000000"/>
                </a:solidFill>
                <a:latin typeface="Times New Roman"/>
                <a:ea typeface="DejaVu Sans"/>
              </a:rPr>
              <a:t>They are characterised by their commitment to duty and peace.</a:t>
            </a:r>
            <a:endParaRPr lang="en-IN" sz="1800" b="0" strike="noStrike" spc="-1">
              <a:solidFill>
                <a:srgbClr val="000000"/>
              </a:solidFill>
              <a:latin typeface="Arial"/>
            </a:endParaRPr>
          </a:p>
          <a:p>
            <a:pPr>
              <a:lnSpc>
                <a:spcPct val="100000"/>
              </a:lnSpc>
            </a:pPr>
            <a:br>
              <a:rPr sz="1600"/>
            </a:br>
            <a:endParaRPr lang="en-IN" sz="1600" b="0" strike="noStrike" spc="-1">
              <a:solidFill>
                <a:srgbClr val="000000"/>
              </a:solidFill>
              <a:latin typeface="Arial"/>
            </a:endParaRPr>
          </a:p>
        </p:txBody>
      </p:sp>
      <p:cxnSp>
        <p:nvCxnSpPr>
          <p:cNvPr id="472" name="Straight Connector 31"/>
          <p:cNvCxnSpPr/>
          <p:nvPr/>
        </p:nvCxnSpPr>
        <p:spPr>
          <a:xfrm flipH="1">
            <a:off x="5849280" y="6918120"/>
            <a:ext cx="2452680" cy="1440"/>
          </a:xfrm>
          <a:prstGeom prst="straightConnector1">
            <a:avLst/>
          </a:prstGeom>
          <a:ln w="12700">
            <a:solidFill>
              <a:srgbClr val="000000"/>
            </a:solidFill>
            <a:round/>
          </a:ln>
        </p:spPr>
      </p:cxnSp>
      <p:sp>
        <p:nvSpPr>
          <p:cNvPr id="473" name="TextBox 32"/>
          <p:cNvSpPr/>
          <p:nvPr/>
        </p:nvSpPr>
        <p:spPr>
          <a:xfrm>
            <a:off x="2003760" y="5847480"/>
            <a:ext cx="1003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800" b="0" strike="noStrike" spc="-1" dirty="0">
                <a:solidFill>
                  <a:srgbClr val="000000"/>
                </a:solidFill>
                <a:latin typeface="Times New Roman"/>
                <a:ea typeface="DejaVu Sans"/>
              </a:rPr>
              <a:t>On today’s date,</a:t>
            </a:r>
            <a:r>
              <a:rPr lang="en-AU" sz="1800" b="0" i="1" strike="noStrike" spc="-1" dirty="0">
                <a:solidFill>
                  <a:srgbClr val="000000"/>
                </a:solidFill>
                <a:latin typeface="Times New Roman"/>
                <a:ea typeface="DejaVu Sans"/>
              </a:rPr>
              <a:t> {</a:t>
            </a:r>
            <a:r>
              <a:rPr lang="en-AU" sz="1800" b="0" i="1" strike="noStrike" spc="-1" dirty="0" err="1">
                <a:solidFill>
                  <a:srgbClr val="000000"/>
                </a:solidFill>
                <a:latin typeface="Times New Roman"/>
                <a:ea typeface="DejaVu Sans"/>
              </a:rPr>
              <a:t>dateNumber</a:t>
            </a:r>
            <a:r>
              <a:rPr lang="en-AU" sz="1800" b="0" i="1" strike="noStrike" spc="-1" dirty="0">
                <a:solidFill>
                  <a:srgbClr val="000000"/>
                </a:solidFill>
                <a:latin typeface="Times New Roman"/>
                <a:ea typeface="DejaVu Sans"/>
              </a:rPr>
              <a:t>}</a:t>
            </a:r>
            <a:r>
              <a:rPr lang="en-AU" sz="1800" b="0" i="1" strike="noStrike" spc="-1" baseline="30000" dirty="0">
                <a:solidFill>
                  <a:srgbClr val="000000"/>
                </a:solidFill>
                <a:latin typeface="Times New Roman"/>
                <a:ea typeface="DejaVu Sans"/>
              </a:rPr>
              <a:t>{suffix}</a:t>
            </a:r>
            <a:r>
              <a:rPr lang="en-AU" sz="1800" b="0" i="1" strike="noStrike" spc="-1" dirty="0">
                <a:solidFill>
                  <a:srgbClr val="000000"/>
                </a:solidFill>
                <a:latin typeface="Times New Roman"/>
                <a:ea typeface="DejaVu Sans"/>
              </a:rPr>
              <a:t> {date}</a:t>
            </a:r>
            <a:r>
              <a:rPr lang="en-AU" sz="1800" b="0" strike="noStrike" spc="-1" dirty="0">
                <a:solidFill>
                  <a:srgbClr val="000000"/>
                </a:solidFill>
                <a:latin typeface="Times New Roman"/>
                <a:ea typeface="DejaVu Sans"/>
              </a:rPr>
              <a:t>, {name} is therefore awarded the</a:t>
            </a:r>
            <a:endParaRPr lang="en-IN" sz="1800" b="0" strike="noStrike" spc="-1" dirty="0">
              <a:solidFill>
                <a:srgbClr val="000000"/>
              </a:solidFill>
              <a:latin typeface="Arial"/>
            </a:endParaRPr>
          </a:p>
          <a:p>
            <a:pPr algn="ctr">
              <a:lnSpc>
                <a:spcPct val="100000"/>
              </a:lnSpc>
            </a:pPr>
            <a:r>
              <a:rPr lang="en-AU" sz="1800" b="0" strike="noStrike" spc="-1" dirty="0">
                <a:solidFill>
                  <a:srgbClr val="000000"/>
                </a:solidFill>
                <a:latin typeface="Times New Roman"/>
                <a:ea typeface="DejaVu Sans"/>
              </a:rPr>
              <a:t>Campaign Medallion.</a:t>
            </a:r>
            <a:endParaRPr lang="en-IN" sz="1800" b="0" strike="noStrike" spc="-1" dirty="0">
              <a:solidFill>
                <a:srgbClr val="000000"/>
              </a:solidFill>
              <a:latin typeface="Arial"/>
            </a:endParaRPr>
          </a:p>
        </p:txBody>
      </p:sp>
      <p:pic>
        <p:nvPicPr>
          <p:cNvPr id="474" name="Picture 2"/>
          <p:cNvPicPr/>
          <p:nvPr/>
        </p:nvPicPr>
        <p:blipFill>
          <a:blip r:embed="rId4"/>
          <a:stretch/>
        </p:blipFill>
        <p:spPr>
          <a:xfrm>
            <a:off x="10481400" y="6171480"/>
            <a:ext cx="1571040" cy="1370880"/>
          </a:xfrm>
          <a:prstGeom prst="rect">
            <a:avLst/>
          </a:prstGeom>
          <a:ln w="0">
            <a:noFill/>
          </a:ln>
        </p:spPr>
      </p:pic>
      <p:pic>
        <p:nvPicPr>
          <p:cNvPr id="475" name="Picture 4"/>
          <p:cNvPicPr/>
          <p:nvPr/>
        </p:nvPicPr>
        <p:blipFill>
          <a:blip r:embed="rId5"/>
          <a:stretch/>
        </p:blipFill>
        <p:spPr>
          <a:xfrm>
            <a:off x="1668960" y="6107760"/>
            <a:ext cx="1393560" cy="1441080"/>
          </a:xfrm>
          <a:prstGeom prst="rect">
            <a:avLst/>
          </a:prstGeom>
          <a:ln w="0">
            <a:noFill/>
          </a:ln>
        </p:spPr>
      </p:pic>
      <p:pic>
        <p:nvPicPr>
          <p:cNvPr id="476" name="Picture 4"/>
          <p:cNvPicPr/>
          <p:nvPr/>
        </p:nvPicPr>
        <p:blipFill>
          <a:blip r:embed="rId6"/>
          <a:stretch/>
        </p:blipFill>
        <p:spPr>
          <a:xfrm flipH="1">
            <a:off x="6593400" y="767880"/>
            <a:ext cx="854640" cy="1836720"/>
          </a:xfrm>
          <a:prstGeom prst="rect">
            <a:avLst/>
          </a:prstGeom>
          <a:ln w="0">
            <a:noFill/>
          </a:ln>
        </p:spPr>
      </p:pic>
      <p:sp>
        <p:nvSpPr>
          <p:cNvPr id="2" name="TextBox 33">
            <a:extLst>
              <a:ext uri="{FF2B5EF4-FFF2-40B4-BE49-F238E27FC236}">
                <a16:creationId xmlns:a16="http://schemas.microsoft.com/office/drawing/2014/main" id="{2079B959-5A31-5963-73CC-2E09262F19E3}"/>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sp>
        <p:nvSpPr>
          <p:cNvPr id="3" name="Google Shape;90;p1">
            <a:extLst>
              <a:ext uri="{FF2B5EF4-FFF2-40B4-BE49-F238E27FC236}">
                <a16:creationId xmlns:a16="http://schemas.microsoft.com/office/drawing/2014/main" id="{2A2A2FD0-FD2A-2852-1E8C-15F84CAC2A0A}"/>
              </a:ext>
            </a:extLst>
          </p:cNvPr>
          <p:cNvSpPr/>
          <p:nvPr/>
        </p:nvSpPr>
        <p:spPr>
          <a:xfrm>
            <a:off x="4967670" y="6901903"/>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4" name="Google Shape;347;p28">
            <a:extLst>
              <a:ext uri="{FF2B5EF4-FFF2-40B4-BE49-F238E27FC236}">
                <a16:creationId xmlns:a16="http://schemas.microsoft.com/office/drawing/2014/main" id="{E03894B5-D7E0-A80D-D9B2-82E695DCFF5A}"/>
              </a:ext>
            </a:extLst>
          </p:cNvPr>
          <p:cNvSpPr/>
          <p:nvPr/>
        </p:nvSpPr>
        <p:spPr>
          <a:xfrm>
            <a:off x="4914480" y="6432519"/>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8" name="Picture 17"/>
          <p:cNvPicPr/>
          <p:nvPr/>
        </p:nvPicPr>
        <p:blipFill>
          <a:blip r:embed="rId2"/>
          <a:stretch/>
        </p:blipFill>
        <p:spPr>
          <a:xfrm>
            <a:off x="819000" y="714240"/>
            <a:ext cx="12428640" cy="7104240"/>
          </a:xfrm>
          <a:prstGeom prst="rect">
            <a:avLst/>
          </a:prstGeom>
          <a:ln w="0">
            <a:noFill/>
          </a:ln>
        </p:spPr>
      </p:pic>
      <p:pic>
        <p:nvPicPr>
          <p:cNvPr id="479" name="Picture 19"/>
          <p:cNvPicPr/>
          <p:nvPr/>
        </p:nvPicPr>
        <p:blipFill>
          <a:blip r:embed="rId3"/>
          <a:srcRect l="10028" t="12536" r="10465" b="20264"/>
          <a:stretch/>
        </p:blipFill>
        <p:spPr>
          <a:xfrm>
            <a:off x="0" y="3240"/>
            <a:ext cx="14038560" cy="8455320"/>
          </a:xfrm>
          <a:prstGeom prst="rect">
            <a:avLst/>
          </a:prstGeom>
          <a:ln w="0">
            <a:noFill/>
          </a:ln>
        </p:spPr>
      </p:pic>
      <p:sp>
        <p:nvSpPr>
          <p:cNvPr id="480" name="TextBox 7"/>
          <p:cNvSpPr/>
          <p:nvPr/>
        </p:nvSpPr>
        <p:spPr>
          <a:xfrm>
            <a:off x="1668960" y="2526120"/>
            <a:ext cx="10736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AUSTRALIAN SPECIAL OPERATIONS TASKFORCE</a:t>
            </a:r>
            <a:endParaRPr lang="en-IN" sz="3600" b="0" strike="noStrike" spc="-1">
              <a:solidFill>
                <a:srgbClr val="000000"/>
              </a:solidFill>
              <a:latin typeface="Arial"/>
            </a:endParaRPr>
          </a:p>
        </p:txBody>
      </p:sp>
      <p:sp>
        <p:nvSpPr>
          <p:cNvPr id="481" name="TextBox 8"/>
          <p:cNvSpPr/>
          <p:nvPr/>
        </p:nvSpPr>
        <p:spPr>
          <a:xfrm>
            <a:off x="4094640" y="2918160"/>
            <a:ext cx="607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This is to certify that command has awarded the</a:t>
            </a:r>
            <a:r>
              <a:rPr lang="en-AU" sz="3600" b="0" strike="noStrike" spc="-1">
                <a:solidFill>
                  <a:srgbClr val="000000"/>
                </a:solidFill>
                <a:latin typeface="Times New Roman"/>
                <a:ea typeface="DejaVu Sans"/>
              </a:rPr>
              <a:t> </a:t>
            </a:r>
            <a:endParaRPr lang="en-IN" sz="3600" b="0" strike="noStrike" spc="-1">
              <a:solidFill>
                <a:srgbClr val="000000"/>
              </a:solidFill>
              <a:latin typeface="Arial"/>
            </a:endParaRPr>
          </a:p>
        </p:txBody>
      </p:sp>
      <p:sp>
        <p:nvSpPr>
          <p:cNvPr id="482" name="TextBox 9"/>
          <p:cNvSpPr/>
          <p:nvPr/>
        </p:nvSpPr>
        <p:spPr>
          <a:xfrm>
            <a:off x="5573160" y="4307400"/>
            <a:ext cx="29275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endParaRPr lang="en-IN" sz="1800" b="0" strike="noStrike" spc="-1">
              <a:solidFill>
                <a:srgbClr val="000000"/>
              </a:solidFill>
              <a:latin typeface="Arial"/>
            </a:endParaRPr>
          </a:p>
        </p:txBody>
      </p:sp>
      <p:sp>
        <p:nvSpPr>
          <p:cNvPr id="483" name="TextBox 11"/>
          <p:cNvSpPr/>
          <p:nvPr/>
        </p:nvSpPr>
        <p:spPr>
          <a:xfrm>
            <a:off x="6723360" y="3931920"/>
            <a:ext cx="5914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TO</a:t>
            </a:r>
            <a:endParaRPr lang="en-IN" sz="2400" b="0" strike="noStrike" spc="-1">
              <a:solidFill>
                <a:srgbClr val="000000"/>
              </a:solidFill>
              <a:latin typeface="Arial"/>
            </a:endParaRPr>
          </a:p>
        </p:txBody>
      </p:sp>
      <p:sp>
        <p:nvSpPr>
          <p:cNvPr id="484" name="TextBox 12"/>
          <p:cNvSpPr/>
          <p:nvPr/>
        </p:nvSpPr>
        <p:spPr>
          <a:xfrm>
            <a:off x="1611000" y="4975200"/>
            <a:ext cx="10816200" cy="1400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800" b="0" strike="noStrike" spc="-1">
                <a:solidFill>
                  <a:srgbClr val="000000"/>
                </a:solidFill>
                <a:latin typeface="Times New Roman"/>
                <a:ea typeface="DejaVu Sans"/>
              </a:rPr>
              <a:t>{name} has seen service with the Australian Special Operations Taskforce in multiple theatres of operations, successfully providing aid and conducting combat operations across the globe.</a:t>
            </a:r>
            <a:endParaRPr lang="en-IN" sz="1800" b="0" strike="noStrike" spc="-1">
              <a:solidFill>
                <a:srgbClr val="000000"/>
              </a:solidFill>
              <a:latin typeface="Arial"/>
            </a:endParaRPr>
          </a:p>
          <a:p>
            <a:pPr algn="ctr">
              <a:lnSpc>
                <a:spcPct val="100000"/>
              </a:lnSpc>
            </a:pPr>
            <a:r>
              <a:rPr lang="en-AU" sz="1800" b="0" strike="noStrike" spc="-1">
                <a:solidFill>
                  <a:srgbClr val="000000"/>
                </a:solidFill>
                <a:latin typeface="Times New Roman"/>
                <a:ea typeface="DejaVu Sans"/>
              </a:rPr>
              <a:t>They are characterised by their commitment to duty and peace.</a:t>
            </a:r>
            <a:endParaRPr lang="en-IN" sz="1800" b="0" strike="noStrike" spc="-1">
              <a:solidFill>
                <a:srgbClr val="000000"/>
              </a:solidFill>
              <a:latin typeface="Arial"/>
            </a:endParaRPr>
          </a:p>
          <a:p>
            <a:pPr>
              <a:lnSpc>
                <a:spcPct val="100000"/>
              </a:lnSpc>
            </a:pPr>
            <a:br>
              <a:rPr sz="1600"/>
            </a:br>
            <a:endParaRPr lang="en-IN" sz="1600" b="0" strike="noStrike" spc="-1">
              <a:solidFill>
                <a:srgbClr val="000000"/>
              </a:solidFill>
              <a:latin typeface="Arial"/>
            </a:endParaRPr>
          </a:p>
        </p:txBody>
      </p:sp>
      <p:cxnSp>
        <p:nvCxnSpPr>
          <p:cNvPr id="487" name="Straight Connector 31"/>
          <p:cNvCxnSpPr/>
          <p:nvPr/>
        </p:nvCxnSpPr>
        <p:spPr>
          <a:xfrm flipH="1">
            <a:off x="5849280" y="6918120"/>
            <a:ext cx="2452680" cy="1440"/>
          </a:xfrm>
          <a:prstGeom prst="straightConnector1">
            <a:avLst/>
          </a:prstGeom>
          <a:ln w="12700">
            <a:solidFill>
              <a:srgbClr val="000000"/>
            </a:solidFill>
            <a:round/>
          </a:ln>
        </p:spPr>
      </p:cxnSp>
      <p:sp>
        <p:nvSpPr>
          <p:cNvPr id="488" name="TextBox 32"/>
          <p:cNvSpPr/>
          <p:nvPr/>
        </p:nvSpPr>
        <p:spPr>
          <a:xfrm>
            <a:off x="2003760" y="5847480"/>
            <a:ext cx="1003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800" b="0" strike="noStrike" spc="-1">
                <a:solidFill>
                  <a:srgbClr val="000000"/>
                </a:solidFill>
                <a:latin typeface="Times New Roman"/>
                <a:ea typeface="DejaVu Sans"/>
              </a:rPr>
              <a:t>On today’s date, </a:t>
            </a:r>
            <a:r>
              <a:rPr lang="en-AU" sz="1800" b="0" i="1" strike="noStrike" spc="-1">
                <a:solidFill>
                  <a:srgbClr val="000000"/>
                </a:solidFill>
                <a:latin typeface="Times New Roman"/>
                <a:ea typeface="DejaVu Sans"/>
              </a:rPr>
              <a:t>{dateNumber}</a:t>
            </a:r>
            <a:r>
              <a:rPr lang="en-AU" sz="1800" b="0" i="1" strike="noStrike" spc="-1" baseline="30000">
                <a:solidFill>
                  <a:srgbClr val="000000"/>
                </a:solidFill>
                <a:latin typeface="Times New Roman"/>
                <a:ea typeface="DejaVu Sans"/>
              </a:rPr>
              <a:t>{suffix}</a:t>
            </a:r>
            <a:r>
              <a:rPr lang="en-AU" sz="1800" b="0" i="1" strike="noStrike" spc="-1">
                <a:solidFill>
                  <a:srgbClr val="000000"/>
                </a:solidFill>
                <a:latin typeface="Times New Roman"/>
                <a:ea typeface="DejaVu Sans"/>
              </a:rPr>
              <a:t> {date}</a:t>
            </a:r>
            <a:r>
              <a:rPr lang="en-AU" sz="1800" b="0" strike="noStrike" spc="-1">
                <a:solidFill>
                  <a:srgbClr val="000000"/>
                </a:solidFill>
                <a:latin typeface="Times New Roman"/>
                <a:ea typeface="DejaVu Sans"/>
              </a:rPr>
              <a:t>, {name} is therefore awarded the</a:t>
            </a:r>
            <a:endParaRPr lang="en-IN" sz="1800" b="0" strike="noStrike" spc="-1">
              <a:solidFill>
                <a:srgbClr val="000000"/>
              </a:solidFill>
              <a:latin typeface="Arial"/>
            </a:endParaRPr>
          </a:p>
          <a:p>
            <a:pPr algn="ctr">
              <a:lnSpc>
                <a:spcPct val="100000"/>
              </a:lnSpc>
            </a:pPr>
            <a:r>
              <a:rPr lang="en-AU" sz="1800" b="0" strike="noStrike" spc="-1">
                <a:solidFill>
                  <a:srgbClr val="000000"/>
                </a:solidFill>
                <a:latin typeface="Times New Roman"/>
                <a:ea typeface="DejaVu Sans"/>
              </a:rPr>
              <a:t>Campaign Medallion with first clasp.</a:t>
            </a:r>
            <a:endParaRPr lang="en-IN" sz="1800" b="0" strike="noStrike" spc="-1">
              <a:solidFill>
                <a:srgbClr val="000000"/>
              </a:solidFill>
              <a:latin typeface="Arial"/>
            </a:endParaRPr>
          </a:p>
        </p:txBody>
      </p:sp>
      <p:pic>
        <p:nvPicPr>
          <p:cNvPr id="489" name="Picture 2"/>
          <p:cNvPicPr/>
          <p:nvPr/>
        </p:nvPicPr>
        <p:blipFill>
          <a:blip r:embed="rId4"/>
          <a:stretch/>
        </p:blipFill>
        <p:spPr>
          <a:xfrm>
            <a:off x="10481400" y="6171480"/>
            <a:ext cx="1571040" cy="1370880"/>
          </a:xfrm>
          <a:prstGeom prst="rect">
            <a:avLst/>
          </a:prstGeom>
          <a:ln w="0">
            <a:noFill/>
          </a:ln>
        </p:spPr>
      </p:pic>
      <p:pic>
        <p:nvPicPr>
          <p:cNvPr id="490" name="Picture 4"/>
          <p:cNvPicPr/>
          <p:nvPr/>
        </p:nvPicPr>
        <p:blipFill>
          <a:blip r:embed="rId5"/>
          <a:stretch/>
        </p:blipFill>
        <p:spPr>
          <a:xfrm>
            <a:off x="1668960" y="6107760"/>
            <a:ext cx="1393560" cy="1441080"/>
          </a:xfrm>
          <a:prstGeom prst="rect">
            <a:avLst/>
          </a:prstGeom>
          <a:ln w="0">
            <a:noFill/>
          </a:ln>
        </p:spPr>
      </p:pic>
      <p:pic>
        <p:nvPicPr>
          <p:cNvPr id="491" name="Picture 4"/>
          <p:cNvPicPr/>
          <p:nvPr/>
        </p:nvPicPr>
        <p:blipFill>
          <a:blip r:embed="rId6"/>
          <a:stretch/>
        </p:blipFill>
        <p:spPr>
          <a:xfrm flipH="1">
            <a:off x="6593400" y="767880"/>
            <a:ext cx="854640" cy="1836720"/>
          </a:xfrm>
          <a:prstGeom prst="rect">
            <a:avLst/>
          </a:prstGeom>
          <a:ln w="0">
            <a:noFill/>
          </a:ln>
        </p:spPr>
      </p:pic>
      <p:pic>
        <p:nvPicPr>
          <p:cNvPr id="492" name="Picture 4"/>
          <p:cNvPicPr/>
          <p:nvPr/>
        </p:nvPicPr>
        <p:blipFill>
          <a:blip r:embed="rId7"/>
          <a:srcRect l="4119" t="31434" r="12380" b="62500"/>
          <a:stretch/>
        </p:blipFill>
        <p:spPr>
          <a:xfrm>
            <a:off x="6701760" y="1310040"/>
            <a:ext cx="726120" cy="111960"/>
          </a:xfrm>
          <a:prstGeom prst="rect">
            <a:avLst/>
          </a:prstGeom>
          <a:ln w="0">
            <a:noFill/>
          </a:ln>
        </p:spPr>
      </p:pic>
      <p:sp>
        <p:nvSpPr>
          <p:cNvPr id="493" name="TextBox 14"/>
          <p:cNvSpPr/>
          <p:nvPr/>
        </p:nvSpPr>
        <p:spPr>
          <a:xfrm>
            <a:off x="3697200" y="3407760"/>
            <a:ext cx="68659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Campaign Medallion, First Clasp</a:t>
            </a:r>
            <a:endParaRPr lang="en-IN" sz="3600" b="0" strike="noStrike" spc="-1">
              <a:solidFill>
                <a:srgbClr val="000000"/>
              </a:solidFill>
              <a:latin typeface="Arial"/>
            </a:endParaRPr>
          </a:p>
        </p:txBody>
      </p:sp>
      <p:sp>
        <p:nvSpPr>
          <p:cNvPr id="2" name="TextBox 33">
            <a:extLst>
              <a:ext uri="{FF2B5EF4-FFF2-40B4-BE49-F238E27FC236}">
                <a16:creationId xmlns:a16="http://schemas.microsoft.com/office/drawing/2014/main" id="{D3888DA7-29F7-0D65-5097-920B57F0FFDA}"/>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sp>
        <p:nvSpPr>
          <p:cNvPr id="5" name="Google Shape;90;p1">
            <a:extLst>
              <a:ext uri="{FF2B5EF4-FFF2-40B4-BE49-F238E27FC236}">
                <a16:creationId xmlns:a16="http://schemas.microsoft.com/office/drawing/2014/main" id="{35DFAF0D-EC31-22F3-0004-AD83EE3689F3}"/>
              </a:ext>
            </a:extLst>
          </p:cNvPr>
          <p:cNvSpPr/>
          <p:nvPr/>
        </p:nvSpPr>
        <p:spPr>
          <a:xfrm>
            <a:off x="4905450" y="6882257"/>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6" name="Google Shape;347;p28">
            <a:extLst>
              <a:ext uri="{FF2B5EF4-FFF2-40B4-BE49-F238E27FC236}">
                <a16:creationId xmlns:a16="http://schemas.microsoft.com/office/drawing/2014/main" id="{677B9489-760B-2DDA-D60B-A975704E3714}"/>
              </a:ext>
            </a:extLst>
          </p:cNvPr>
          <p:cNvSpPr/>
          <p:nvPr/>
        </p:nvSpPr>
        <p:spPr>
          <a:xfrm>
            <a:off x="4852260" y="6412873"/>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5" name="Picture 17"/>
          <p:cNvPicPr/>
          <p:nvPr/>
        </p:nvPicPr>
        <p:blipFill>
          <a:blip r:embed="rId2"/>
          <a:stretch/>
        </p:blipFill>
        <p:spPr>
          <a:xfrm>
            <a:off x="819000" y="714240"/>
            <a:ext cx="12428640" cy="7104240"/>
          </a:xfrm>
          <a:prstGeom prst="rect">
            <a:avLst/>
          </a:prstGeom>
          <a:ln w="0">
            <a:noFill/>
          </a:ln>
        </p:spPr>
      </p:pic>
      <p:pic>
        <p:nvPicPr>
          <p:cNvPr id="496" name="Picture 19"/>
          <p:cNvPicPr/>
          <p:nvPr/>
        </p:nvPicPr>
        <p:blipFill>
          <a:blip r:embed="rId3"/>
          <a:srcRect l="10028" t="12536" r="10465" b="20264"/>
          <a:stretch/>
        </p:blipFill>
        <p:spPr>
          <a:xfrm>
            <a:off x="0" y="3240"/>
            <a:ext cx="14038560" cy="8455320"/>
          </a:xfrm>
          <a:prstGeom prst="rect">
            <a:avLst/>
          </a:prstGeom>
          <a:ln w="0">
            <a:noFill/>
          </a:ln>
        </p:spPr>
      </p:pic>
      <p:sp>
        <p:nvSpPr>
          <p:cNvPr id="497" name="TextBox 7"/>
          <p:cNvSpPr/>
          <p:nvPr/>
        </p:nvSpPr>
        <p:spPr>
          <a:xfrm>
            <a:off x="1668960" y="2526120"/>
            <a:ext cx="10736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AUSTRALIAN SPECIAL OPERATIONS TASKFORCE</a:t>
            </a:r>
            <a:endParaRPr lang="en-IN" sz="3600" b="0" strike="noStrike" spc="-1">
              <a:solidFill>
                <a:srgbClr val="000000"/>
              </a:solidFill>
              <a:latin typeface="Arial"/>
            </a:endParaRPr>
          </a:p>
        </p:txBody>
      </p:sp>
      <p:sp>
        <p:nvSpPr>
          <p:cNvPr id="498" name="TextBox 8"/>
          <p:cNvSpPr/>
          <p:nvPr/>
        </p:nvSpPr>
        <p:spPr>
          <a:xfrm>
            <a:off x="4094640" y="2918160"/>
            <a:ext cx="607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This is to certify that command has awarded the</a:t>
            </a:r>
            <a:r>
              <a:rPr lang="en-AU" sz="3600" b="0" strike="noStrike" spc="-1">
                <a:solidFill>
                  <a:srgbClr val="000000"/>
                </a:solidFill>
                <a:latin typeface="Times New Roman"/>
                <a:ea typeface="DejaVu Sans"/>
              </a:rPr>
              <a:t> </a:t>
            </a:r>
            <a:endParaRPr lang="en-IN" sz="3600" b="0" strike="noStrike" spc="-1">
              <a:solidFill>
                <a:srgbClr val="000000"/>
              </a:solidFill>
              <a:latin typeface="Arial"/>
            </a:endParaRPr>
          </a:p>
        </p:txBody>
      </p:sp>
      <p:sp>
        <p:nvSpPr>
          <p:cNvPr id="499" name="TextBox 9"/>
          <p:cNvSpPr/>
          <p:nvPr/>
        </p:nvSpPr>
        <p:spPr>
          <a:xfrm>
            <a:off x="5573160" y="4307400"/>
            <a:ext cx="29275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endParaRPr lang="en-IN" sz="1800" b="0" strike="noStrike" spc="-1">
              <a:solidFill>
                <a:srgbClr val="000000"/>
              </a:solidFill>
              <a:latin typeface="Arial"/>
            </a:endParaRPr>
          </a:p>
        </p:txBody>
      </p:sp>
      <p:sp>
        <p:nvSpPr>
          <p:cNvPr id="500" name="TextBox 11"/>
          <p:cNvSpPr/>
          <p:nvPr/>
        </p:nvSpPr>
        <p:spPr>
          <a:xfrm>
            <a:off x="6723360" y="3931920"/>
            <a:ext cx="5914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TO</a:t>
            </a:r>
            <a:endParaRPr lang="en-IN" sz="2400" b="0" strike="noStrike" spc="-1">
              <a:solidFill>
                <a:srgbClr val="000000"/>
              </a:solidFill>
              <a:latin typeface="Arial"/>
            </a:endParaRPr>
          </a:p>
        </p:txBody>
      </p:sp>
      <p:sp>
        <p:nvSpPr>
          <p:cNvPr id="501" name="TextBox 12"/>
          <p:cNvSpPr/>
          <p:nvPr/>
        </p:nvSpPr>
        <p:spPr>
          <a:xfrm>
            <a:off x="1611000" y="4975200"/>
            <a:ext cx="10816200" cy="1400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800" b="0" strike="noStrike" spc="-1">
                <a:solidFill>
                  <a:srgbClr val="000000"/>
                </a:solidFill>
                <a:latin typeface="Times New Roman"/>
                <a:ea typeface="DejaVu Sans"/>
              </a:rPr>
              <a:t>{name} has seen service with the Australian Special Operations Taskforce in multiple theatres of operations, successfully providing aid and conducting combat operations across the globe.</a:t>
            </a:r>
            <a:endParaRPr lang="en-IN" sz="1800" b="0" strike="noStrike" spc="-1">
              <a:solidFill>
                <a:srgbClr val="000000"/>
              </a:solidFill>
              <a:latin typeface="Arial"/>
            </a:endParaRPr>
          </a:p>
          <a:p>
            <a:pPr algn="ctr">
              <a:lnSpc>
                <a:spcPct val="100000"/>
              </a:lnSpc>
            </a:pPr>
            <a:r>
              <a:rPr lang="en-AU" sz="1800" b="0" strike="noStrike" spc="-1">
                <a:solidFill>
                  <a:srgbClr val="000000"/>
                </a:solidFill>
                <a:latin typeface="Times New Roman"/>
                <a:ea typeface="DejaVu Sans"/>
              </a:rPr>
              <a:t>They are characterised by their commitment to duty and peace.</a:t>
            </a:r>
            <a:endParaRPr lang="en-IN" sz="1800" b="0" strike="noStrike" spc="-1">
              <a:solidFill>
                <a:srgbClr val="000000"/>
              </a:solidFill>
              <a:latin typeface="Arial"/>
            </a:endParaRPr>
          </a:p>
          <a:p>
            <a:pPr>
              <a:lnSpc>
                <a:spcPct val="100000"/>
              </a:lnSpc>
            </a:pPr>
            <a:br>
              <a:rPr sz="1600"/>
            </a:br>
            <a:endParaRPr lang="en-IN" sz="1600" b="0" strike="noStrike" spc="-1">
              <a:solidFill>
                <a:srgbClr val="000000"/>
              </a:solidFill>
              <a:latin typeface="Arial"/>
            </a:endParaRPr>
          </a:p>
        </p:txBody>
      </p:sp>
      <p:cxnSp>
        <p:nvCxnSpPr>
          <p:cNvPr id="504" name="Straight Connector 31"/>
          <p:cNvCxnSpPr/>
          <p:nvPr/>
        </p:nvCxnSpPr>
        <p:spPr>
          <a:xfrm flipH="1">
            <a:off x="5849280" y="6918120"/>
            <a:ext cx="2452680" cy="1440"/>
          </a:xfrm>
          <a:prstGeom prst="straightConnector1">
            <a:avLst/>
          </a:prstGeom>
          <a:ln w="12700">
            <a:solidFill>
              <a:srgbClr val="000000"/>
            </a:solidFill>
            <a:round/>
          </a:ln>
        </p:spPr>
      </p:cxnSp>
      <p:sp>
        <p:nvSpPr>
          <p:cNvPr id="505" name="TextBox 32"/>
          <p:cNvSpPr/>
          <p:nvPr/>
        </p:nvSpPr>
        <p:spPr>
          <a:xfrm>
            <a:off x="2003760" y="5847480"/>
            <a:ext cx="1003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800" b="0" strike="noStrike" spc="-1">
                <a:solidFill>
                  <a:srgbClr val="000000"/>
                </a:solidFill>
                <a:latin typeface="Times New Roman"/>
                <a:ea typeface="DejaVu Sans"/>
              </a:rPr>
              <a:t>On today’s date,</a:t>
            </a:r>
            <a:r>
              <a:rPr lang="en-AU" sz="1800" b="0" i="1" strike="noStrike" spc="-1">
                <a:solidFill>
                  <a:srgbClr val="000000"/>
                </a:solidFill>
                <a:latin typeface="Times New Roman"/>
                <a:ea typeface="DejaVu Sans"/>
              </a:rPr>
              <a:t> {dateNumber}</a:t>
            </a:r>
            <a:r>
              <a:rPr lang="en-AU" sz="1800" b="0" i="1" strike="noStrike" spc="-1" baseline="30000">
                <a:solidFill>
                  <a:srgbClr val="000000"/>
                </a:solidFill>
                <a:latin typeface="Times New Roman"/>
                <a:ea typeface="DejaVu Sans"/>
              </a:rPr>
              <a:t>{suffix}</a:t>
            </a:r>
            <a:r>
              <a:rPr lang="en-AU" sz="1800" b="0" i="1" strike="noStrike" spc="-1">
                <a:solidFill>
                  <a:srgbClr val="000000"/>
                </a:solidFill>
                <a:latin typeface="Times New Roman"/>
                <a:ea typeface="DejaVu Sans"/>
              </a:rPr>
              <a:t> {date}</a:t>
            </a:r>
            <a:r>
              <a:rPr lang="en-AU" sz="1800" b="0" strike="noStrike" spc="-1">
                <a:solidFill>
                  <a:srgbClr val="000000"/>
                </a:solidFill>
                <a:latin typeface="Times New Roman"/>
                <a:ea typeface="DejaVu Sans"/>
              </a:rPr>
              <a:t>, {name} is therefore awarded the</a:t>
            </a:r>
            <a:endParaRPr lang="en-IN" sz="1800" b="0" strike="noStrike" spc="-1">
              <a:solidFill>
                <a:srgbClr val="000000"/>
              </a:solidFill>
              <a:latin typeface="Arial"/>
            </a:endParaRPr>
          </a:p>
          <a:p>
            <a:pPr algn="ctr">
              <a:lnSpc>
                <a:spcPct val="100000"/>
              </a:lnSpc>
            </a:pPr>
            <a:r>
              <a:rPr lang="en-AU" sz="1800" b="0" strike="noStrike" spc="-1">
                <a:solidFill>
                  <a:srgbClr val="000000"/>
                </a:solidFill>
                <a:latin typeface="Times New Roman"/>
                <a:ea typeface="DejaVu Sans"/>
              </a:rPr>
              <a:t>Campaign Medallion with second clasp.</a:t>
            </a:r>
            <a:endParaRPr lang="en-IN" sz="1800" b="0" strike="noStrike" spc="-1">
              <a:solidFill>
                <a:srgbClr val="000000"/>
              </a:solidFill>
              <a:latin typeface="Arial"/>
            </a:endParaRPr>
          </a:p>
        </p:txBody>
      </p:sp>
      <p:pic>
        <p:nvPicPr>
          <p:cNvPr id="506" name="Picture 2"/>
          <p:cNvPicPr/>
          <p:nvPr/>
        </p:nvPicPr>
        <p:blipFill>
          <a:blip r:embed="rId4"/>
          <a:stretch/>
        </p:blipFill>
        <p:spPr>
          <a:xfrm>
            <a:off x="10481400" y="6171480"/>
            <a:ext cx="1571040" cy="1370880"/>
          </a:xfrm>
          <a:prstGeom prst="rect">
            <a:avLst/>
          </a:prstGeom>
          <a:ln w="0">
            <a:noFill/>
          </a:ln>
        </p:spPr>
      </p:pic>
      <p:pic>
        <p:nvPicPr>
          <p:cNvPr id="507" name="Picture 4"/>
          <p:cNvPicPr/>
          <p:nvPr/>
        </p:nvPicPr>
        <p:blipFill>
          <a:blip r:embed="rId5"/>
          <a:stretch/>
        </p:blipFill>
        <p:spPr>
          <a:xfrm>
            <a:off x="1668960" y="6107760"/>
            <a:ext cx="1393560" cy="1441080"/>
          </a:xfrm>
          <a:prstGeom prst="rect">
            <a:avLst/>
          </a:prstGeom>
          <a:ln w="0">
            <a:noFill/>
          </a:ln>
        </p:spPr>
      </p:pic>
      <p:pic>
        <p:nvPicPr>
          <p:cNvPr id="508" name="Picture 4"/>
          <p:cNvPicPr/>
          <p:nvPr/>
        </p:nvPicPr>
        <p:blipFill>
          <a:blip r:embed="rId6"/>
          <a:stretch/>
        </p:blipFill>
        <p:spPr>
          <a:xfrm flipH="1">
            <a:off x="6593400" y="767880"/>
            <a:ext cx="854640" cy="1836720"/>
          </a:xfrm>
          <a:prstGeom prst="rect">
            <a:avLst/>
          </a:prstGeom>
          <a:ln w="0">
            <a:noFill/>
          </a:ln>
        </p:spPr>
      </p:pic>
      <p:pic>
        <p:nvPicPr>
          <p:cNvPr id="509" name="Picture 4"/>
          <p:cNvPicPr/>
          <p:nvPr/>
        </p:nvPicPr>
        <p:blipFill>
          <a:blip r:embed="rId7"/>
          <a:srcRect l="4119" t="31434" r="12380" b="62500"/>
          <a:stretch/>
        </p:blipFill>
        <p:spPr>
          <a:xfrm>
            <a:off x="6701760" y="1310040"/>
            <a:ext cx="726120" cy="111960"/>
          </a:xfrm>
          <a:prstGeom prst="rect">
            <a:avLst/>
          </a:prstGeom>
          <a:ln w="0">
            <a:noFill/>
          </a:ln>
        </p:spPr>
      </p:pic>
      <p:pic>
        <p:nvPicPr>
          <p:cNvPr id="510" name="Picture 4"/>
          <p:cNvPicPr/>
          <p:nvPr/>
        </p:nvPicPr>
        <p:blipFill>
          <a:blip r:embed="rId7"/>
          <a:srcRect l="4119" t="31434" r="12380" b="62500"/>
          <a:stretch/>
        </p:blipFill>
        <p:spPr>
          <a:xfrm>
            <a:off x="6701760" y="1191240"/>
            <a:ext cx="726120" cy="111960"/>
          </a:xfrm>
          <a:prstGeom prst="rect">
            <a:avLst/>
          </a:prstGeom>
          <a:ln w="0">
            <a:noFill/>
          </a:ln>
        </p:spPr>
      </p:pic>
      <p:sp>
        <p:nvSpPr>
          <p:cNvPr id="511" name="TextBox 13"/>
          <p:cNvSpPr/>
          <p:nvPr/>
        </p:nvSpPr>
        <p:spPr>
          <a:xfrm>
            <a:off x="3697200" y="3407760"/>
            <a:ext cx="68659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Campaign Medallion, Second Clasp</a:t>
            </a:r>
            <a:endParaRPr lang="en-IN" sz="3600" b="0" strike="noStrike" spc="-1">
              <a:solidFill>
                <a:srgbClr val="000000"/>
              </a:solidFill>
              <a:latin typeface="Arial"/>
            </a:endParaRPr>
          </a:p>
        </p:txBody>
      </p:sp>
      <p:sp>
        <p:nvSpPr>
          <p:cNvPr id="2" name="TextBox 33">
            <a:extLst>
              <a:ext uri="{FF2B5EF4-FFF2-40B4-BE49-F238E27FC236}">
                <a16:creationId xmlns:a16="http://schemas.microsoft.com/office/drawing/2014/main" id="{CE420347-15D1-111B-05F4-B7C4F1CFA5B7}"/>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sp>
        <p:nvSpPr>
          <p:cNvPr id="3" name="Google Shape;90;p1">
            <a:extLst>
              <a:ext uri="{FF2B5EF4-FFF2-40B4-BE49-F238E27FC236}">
                <a16:creationId xmlns:a16="http://schemas.microsoft.com/office/drawing/2014/main" id="{B24442A1-07FC-548F-0B22-91CE87652DEE}"/>
              </a:ext>
            </a:extLst>
          </p:cNvPr>
          <p:cNvSpPr/>
          <p:nvPr/>
        </p:nvSpPr>
        <p:spPr>
          <a:xfrm>
            <a:off x="4905450" y="6882257"/>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4" name="Google Shape;347;p28">
            <a:extLst>
              <a:ext uri="{FF2B5EF4-FFF2-40B4-BE49-F238E27FC236}">
                <a16:creationId xmlns:a16="http://schemas.microsoft.com/office/drawing/2014/main" id="{5B14193D-4E73-1957-30D5-DDD1EC8DC00B}"/>
              </a:ext>
            </a:extLst>
          </p:cNvPr>
          <p:cNvSpPr/>
          <p:nvPr/>
        </p:nvSpPr>
        <p:spPr>
          <a:xfrm>
            <a:off x="4852260" y="6412873"/>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3" name="Picture 17"/>
          <p:cNvPicPr/>
          <p:nvPr/>
        </p:nvPicPr>
        <p:blipFill>
          <a:blip r:embed="rId2"/>
          <a:stretch/>
        </p:blipFill>
        <p:spPr>
          <a:xfrm>
            <a:off x="819000" y="714240"/>
            <a:ext cx="12428640" cy="7104240"/>
          </a:xfrm>
          <a:prstGeom prst="rect">
            <a:avLst/>
          </a:prstGeom>
          <a:ln w="0">
            <a:noFill/>
          </a:ln>
        </p:spPr>
      </p:pic>
      <p:pic>
        <p:nvPicPr>
          <p:cNvPr id="514" name="Picture 19"/>
          <p:cNvPicPr/>
          <p:nvPr/>
        </p:nvPicPr>
        <p:blipFill>
          <a:blip r:embed="rId3"/>
          <a:srcRect l="10028" t="12536" r="10465" b="20264"/>
          <a:stretch/>
        </p:blipFill>
        <p:spPr>
          <a:xfrm>
            <a:off x="0" y="3240"/>
            <a:ext cx="14038560" cy="8455320"/>
          </a:xfrm>
          <a:prstGeom prst="rect">
            <a:avLst/>
          </a:prstGeom>
          <a:ln w="0">
            <a:noFill/>
          </a:ln>
        </p:spPr>
      </p:pic>
      <p:sp>
        <p:nvSpPr>
          <p:cNvPr id="515" name="TextBox 7"/>
          <p:cNvSpPr/>
          <p:nvPr/>
        </p:nvSpPr>
        <p:spPr>
          <a:xfrm>
            <a:off x="1668960" y="2526120"/>
            <a:ext cx="10736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AUSTRALIAN SPECIAL OPERATIONS TASKFORCE</a:t>
            </a:r>
            <a:endParaRPr lang="en-IN" sz="3600" b="0" strike="noStrike" spc="-1">
              <a:solidFill>
                <a:srgbClr val="000000"/>
              </a:solidFill>
              <a:latin typeface="Arial"/>
            </a:endParaRPr>
          </a:p>
        </p:txBody>
      </p:sp>
      <p:sp>
        <p:nvSpPr>
          <p:cNvPr id="516" name="TextBox 8"/>
          <p:cNvSpPr/>
          <p:nvPr/>
        </p:nvSpPr>
        <p:spPr>
          <a:xfrm>
            <a:off x="4094640" y="2918160"/>
            <a:ext cx="607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This is to certify that command has awarded the</a:t>
            </a:r>
            <a:r>
              <a:rPr lang="en-AU" sz="3600" b="0" strike="noStrike" spc="-1">
                <a:solidFill>
                  <a:srgbClr val="000000"/>
                </a:solidFill>
                <a:latin typeface="Times New Roman"/>
                <a:ea typeface="DejaVu Sans"/>
              </a:rPr>
              <a:t> </a:t>
            </a:r>
            <a:endParaRPr lang="en-IN" sz="3600" b="0" strike="noStrike" spc="-1">
              <a:solidFill>
                <a:srgbClr val="000000"/>
              </a:solidFill>
              <a:latin typeface="Arial"/>
            </a:endParaRPr>
          </a:p>
        </p:txBody>
      </p:sp>
      <p:sp>
        <p:nvSpPr>
          <p:cNvPr id="517" name="TextBox 9"/>
          <p:cNvSpPr/>
          <p:nvPr/>
        </p:nvSpPr>
        <p:spPr>
          <a:xfrm>
            <a:off x="5573160" y="4307400"/>
            <a:ext cx="29275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endParaRPr lang="en-IN" sz="1800" b="0" strike="noStrike" spc="-1">
              <a:solidFill>
                <a:srgbClr val="000000"/>
              </a:solidFill>
              <a:latin typeface="Arial"/>
            </a:endParaRPr>
          </a:p>
        </p:txBody>
      </p:sp>
      <p:sp>
        <p:nvSpPr>
          <p:cNvPr id="518" name="TextBox 11"/>
          <p:cNvSpPr/>
          <p:nvPr/>
        </p:nvSpPr>
        <p:spPr>
          <a:xfrm>
            <a:off x="6723360" y="3931920"/>
            <a:ext cx="5914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TO</a:t>
            </a:r>
            <a:endParaRPr lang="en-IN" sz="2400" b="0" strike="noStrike" spc="-1">
              <a:solidFill>
                <a:srgbClr val="000000"/>
              </a:solidFill>
              <a:latin typeface="Arial"/>
            </a:endParaRPr>
          </a:p>
        </p:txBody>
      </p:sp>
      <p:sp>
        <p:nvSpPr>
          <p:cNvPr id="519" name="TextBox 12"/>
          <p:cNvSpPr/>
          <p:nvPr/>
        </p:nvSpPr>
        <p:spPr>
          <a:xfrm>
            <a:off x="1611000" y="4975200"/>
            <a:ext cx="10816200" cy="1400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800" b="0" strike="noStrike" spc="-1">
                <a:solidFill>
                  <a:srgbClr val="000000"/>
                </a:solidFill>
                <a:latin typeface="Times New Roman"/>
                <a:ea typeface="DejaVu Sans"/>
              </a:rPr>
              <a:t>{name} has seen service with the Australian Special Operations Taskforce in multiple theatres of operations, successfully providing aid and conducting combat operations across the globe.</a:t>
            </a:r>
            <a:endParaRPr lang="en-IN" sz="1800" b="0" strike="noStrike" spc="-1">
              <a:solidFill>
                <a:srgbClr val="000000"/>
              </a:solidFill>
              <a:latin typeface="Arial"/>
            </a:endParaRPr>
          </a:p>
          <a:p>
            <a:pPr algn="ctr">
              <a:lnSpc>
                <a:spcPct val="100000"/>
              </a:lnSpc>
            </a:pPr>
            <a:r>
              <a:rPr lang="en-AU" sz="1800" b="0" strike="noStrike" spc="-1">
                <a:solidFill>
                  <a:srgbClr val="000000"/>
                </a:solidFill>
                <a:latin typeface="Times New Roman"/>
                <a:ea typeface="DejaVu Sans"/>
              </a:rPr>
              <a:t>They are characterised by their commitment to duty and peace.</a:t>
            </a:r>
            <a:endParaRPr lang="en-IN" sz="1800" b="0" strike="noStrike" spc="-1">
              <a:solidFill>
                <a:srgbClr val="000000"/>
              </a:solidFill>
              <a:latin typeface="Arial"/>
            </a:endParaRPr>
          </a:p>
          <a:p>
            <a:pPr>
              <a:lnSpc>
                <a:spcPct val="100000"/>
              </a:lnSpc>
            </a:pPr>
            <a:br>
              <a:rPr sz="1600"/>
            </a:br>
            <a:endParaRPr lang="en-IN" sz="1600" b="0" strike="noStrike" spc="-1">
              <a:solidFill>
                <a:srgbClr val="000000"/>
              </a:solidFill>
              <a:latin typeface="Arial"/>
            </a:endParaRPr>
          </a:p>
        </p:txBody>
      </p:sp>
      <p:cxnSp>
        <p:nvCxnSpPr>
          <p:cNvPr id="522" name="Straight Connector 31"/>
          <p:cNvCxnSpPr/>
          <p:nvPr/>
        </p:nvCxnSpPr>
        <p:spPr>
          <a:xfrm flipH="1">
            <a:off x="5849280" y="6918120"/>
            <a:ext cx="2452680" cy="1440"/>
          </a:xfrm>
          <a:prstGeom prst="straightConnector1">
            <a:avLst/>
          </a:prstGeom>
          <a:ln w="12700">
            <a:solidFill>
              <a:srgbClr val="000000"/>
            </a:solidFill>
            <a:round/>
          </a:ln>
        </p:spPr>
      </p:cxnSp>
      <p:sp>
        <p:nvSpPr>
          <p:cNvPr id="523" name="TextBox 32"/>
          <p:cNvSpPr/>
          <p:nvPr/>
        </p:nvSpPr>
        <p:spPr>
          <a:xfrm>
            <a:off x="2003760" y="5847480"/>
            <a:ext cx="1003068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800" b="0" strike="noStrike" spc="-1" dirty="0">
                <a:solidFill>
                  <a:srgbClr val="000000"/>
                </a:solidFill>
                <a:latin typeface="Times New Roman"/>
                <a:ea typeface="DejaVu Sans"/>
              </a:rPr>
              <a:t>On today’s date,</a:t>
            </a:r>
            <a:r>
              <a:rPr lang="en-AU" sz="1800" b="0" i="1" strike="noStrike" spc="-1" dirty="0">
                <a:solidFill>
                  <a:srgbClr val="000000"/>
                </a:solidFill>
                <a:latin typeface="Times New Roman"/>
                <a:ea typeface="DejaVu Sans"/>
              </a:rPr>
              <a:t> {</a:t>
            </a:r>
            <a:r>
              <a:rPr lang="en-AU" sz="1800" b="0" i="1" strike="noStrike" spc="-1" dirty="0" err="1">
                <a:solidFill>
                  <a:srgbClr val="000000"/>
                </a:solidFill>
                <a:latin typeface="Times New Roman"/>
                <a:ea typeface="DejaVu Sans"/>
              </a:rPr>
              <a:t>dateNumber</a:t>
            </a:r>
            <a:r>
              <a:rPr lang="en-AU" sz="1800" b="0" i="1" strike="noStrike" spc="-1" dirty="0">
                <a:solidFill>
                  <a:srgbClr val="000000"/>
                </a:solidFill>
                <a:latin typeface="Times New Roman"/>
                <a:ea typeface="DejaVu Sans"/>
              </a:rPr>
              <a:t>}</a:t>
            </a:r>
            <a:r>
              <a:rPr lang="en-AU" sz="1800" b="0" i="1" strike="noStrike" spc="-1" baseline="30000" dirty="0">
                <a:solidFill>
                  <a:srgbClr val="000000"/>
                </a:solidFill>
                <a:latin typeface="Times New Roman"/>
                <a:ea typeface="DejaVu Sans"/>
              </a:rPr>
              <a:t>{suffix}</a:t>
            </a:r>
            <a:r>
              <a:rPr lang="en-AU" sz="1800" b="0" i="1" strike="noStrike" spc="-1" dirty="0">
                <a:solidFill>
                  <a:srgbClr val="000000"/>
                </a:solidFill>
                <a:latin typeface="Times New Roman"/>
                <a:ea typeface="DejaVu Sans"/>
              </a:rPr>
              <a:t> {date}</a:t>
            </a:r>
            <a:r>
              <a:rPr lang="en-AU" sz="1800" b="0" strike="noStrike" spc="-1" dirty="0">
                <a:solidFill>
                  <a:srgbClr val="000000"/>
                </a:solidFill>
                <a:latin typeface="Times New Roman"/>
                <a:ea typeface="DejaVu Sans"/>
              </a:rPr>
              <a:t>, {name} is therefore awarded the</a:t>
            </a:r>
            <a:endParaRPr lang="en-IN" sz="1800" b="0" strike="noStrike" spc="-1" dirty="0">
              <a:solidFill>
                <a:srgbClr val="000000"/>
              </a:solidFill>
              <a:latin typeface="Arial"/>
            </a:endParaRPr>
          </a:p>
          <a:p>
            <a:pPr algn="ctr">
              <a:lnSpc>
                <a:spcPct val="100000"/>
              </a:lnSpc>
            </a:pPr>
            <a:r>
              <a:rPr lang="en-AU" sz="1800" b="0" strike="noStrike" spc="-1" dirty="0">
                <a:solidFill>
                  <a:srgbClr val="000000"/>
                </a:solidFill>
                <a:latin typeface="Times New Roman"/>
                <a:ea typeface="DejaVu Sans"/>
              </a:rPr>
              <a:t>Campaign Medallion with third clasp.</a:t>
            </a:r>
            <a:endParaRPr lang="en-IN" sz="1800" b="0" strike="noStrike" spc="-1" dirty="0">
              <a:solidFill>
                <a:srgbClr val="000000"/>
              </a:solidFill>
              <a:latin typeface="Arial"/>
            </a:endParaRPr>
          </a:p>
        </p:txBody>
      </p:sp>
      <p:pic>
        <p:nvPicPr>
          <p:cNvPr id="524" name="Picture 2"/>
          <p:cNvPicPr/>
          <p:nvPr/>
        </p:nvPicPr>
        <p:blipFill>
          <a:blip r:embed="rId4"/>
          <a:stretch/>
        </p:blipFill>
        <p:spPr>
          <a:xfrm>
            <a:off x="10481400" y="6171480"/>
            <a:ext cx="1571040" cy="1370880"/>
          </a:xfrm>
          <a:prstGeom prst="rect">
            <a:avLst/>
          </a:prstGeom>
          <a:ln w="0">
            <a:noFill/>
          </a:ln>
        </p:spPr>
      </p:pic>
      <p:pic>
        <p:nvPicPr>
          <p:cNvPr id="525" name="Picture 4"/>
          <p:cNvPicPr/>
          <p:nvPr/>
        </p:nvPicPr>
        <p:blipFill>
          <a:blip r:embed="rId5"/>
          <a:stretch/>
        </p:blipFill>
        <p:spPr>
          <a:xfrm>
            <a:off x="1668960" y="6107760"/>
            <a:ext cx="1393560" cy="1441080"/>
          </a:xfrm>
          <a:prstGeom prst="rect">
            <a:avLst/>
          </a:prstGeom>
          <a:ln w="0">
            <a:noFill/>
          </a:ln>
        </p:spPr>
      </p:pic>
      <p:pic>
        <p:nvPicPr>
          <p:cNvPr id="526" name="Picture 4"/>
          <p:cNvPicPr/>
          <p:nvPr/>
        </p:nvPicPr>
        <p:blipFill>
          <a:blip r:embed="rId6"/>
          <a:stretch/>
        </p:blipFill>
        <p:spPr>
          <a:xfrm flipH="1">
            <a:off x="6593400" y="767880"/>
            <a:ext cx="854640" cy="1836720"/>
          </a:xfrm>
          <a:prstGeom prst="rect">
            <a:avLst/>
          </a:prstGeom>
          <a:ln w="0">
            <a:noFill/>
          </a:ln>
        </p:spPr>
      </p:pic>
      <p:pic>
        <p:nvPicPr>
          <p:cNvPr id="527" name="Picture 4"/>
          <p:cNvPicPr/>
          <p:nvPr/>
        </p:nvPicPr>
        <p:blipFill>
          <a:blip r:embed="rId7"/>
          <a:srcRect l="4119" t="31434" r="12380" b="62500"/>
          <a:stretch/>
        </p:blipFill>
        <p:spPr>
          <a:xfrm>
            <a:off x="6701760" y="1310040"/>
            <a:ext cx="726120" cy="111960"/>
          </a:xfrm>
          <a:prstGeom prst="rect">
            <a:avLst/>
          </a:prstGeom>
          <a:ln w="0">
            <a:noFill/>
          </a:ln>
        </p:spPr>
      </p:pic>
      <p:pic>
        <p:nvPicPr>
          <p:cNvPr id="528" name="Picture 4"/>
          <p:cNvPicPr/>
          <p:nvPr/>
        </p:nvPicPr>
        <p:blipFill>
          <a:blip r:embed="rId7"/>
          <a:srcRect l="4119" t="31434" r="12380" b="62500"/>
          <a:stretch/>
        </p:blipFill>
        <p:spPr>
          <a:xfrm>
            <a:off x="6701760" y="1191240"/>
            <a:ext cx="726120" cy="111960"/>
          </a:xfrm>
          <a:prstGeom prst="rect">
            <a:avLst/>
          </a:prstGeom>
          <a:ln w="0">
            <a:noFill/>
          </a:ln>
        </p:spPr>
      </p:pic>
      <p:pic>
        <p:nvPicPr>
          <p:cNvPr id="529" name="Picture 4"/>
          <p:cNvPicPr/>
          <p:nvPr/>
        </p:nvPicPr>
        <p:blipFill>
          <a:blip r:embed="rId7"/>
          <a:srcRect l="4119" t="31434" r="12380" b="62500"/>
          <a:stretch/>
        </p:blipFill>
        <p:spPr>
          <a:xfrm>
            <a:off x="6701760" y="1058760"/>
            <a:ext cx="726120" cy="111960"/>
          </a:xfrm>
          <a:prstGeom prst="rect">
            <a:avLst/>
          </a:prstGeom>
          <a:ln w="0">
            <a:noFill/>
          </a:ln>
        </p:spPr>
      </p:pic>
      <p:sp>
        <p:nvSpPr>
          <p:cNvPr id="530" name="TextBox 13"/>
          <p:cNvSpPr/>
          <p:nvPr/>
        </p:nvSpPr>
        <p:spPr>
          <a:xfrm>
            <a:off x="3697200" y="3407760"/>
            <a:ext cx="68659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Campaign Medallion, Third Clasp</a:t>
            </a:r>
            <a:endParaRPr lang="en-IN" sz="3600" b="0" strike="noStrike" spc="-1">
              <a:solidFill>
                <a:srgbClr val="000000"/>
              </a:solidFill>
              <a:latin typeface="Arial"/>
            </a:endParaRPr>
          </a:p>
        </p:txBody>
      </p:sp>
      <p:sp>
        <p:nvSpPr>
          <p:cNvPr id="2" name="TextBox 33">
            <a:extLst>
              <a:ext uri="{FF2B5EF4-FFF2-40B4-BE49-F238E27FC236}">
                <a16:creationId xmlns:a16="http://schemas.microsoft.com/office/drawing/2014/main" id="{DE85FE61-920D-7696-153E-FD6364E7047B}"/>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sp>
        <p:nvSpPr>
          <p:cNvPr id="3" name="Google Shape;90;p1">
            <a:extLst>
              <a:ext uri="{FF2B5EF4-FFF2-40B4-BE49-F238E27FC236}">
                <a16:creationId xmlns:a16="http://schemas.microsoft.com/office/drawing/2014/main" id="{130DA69B-1B70-55D6-59FB-32A8815F8C95}"/>
              </a:ext>
            </a:extLst>
          </p:cNvPr>
          <p:cNvSpPr/>
          <p:nvPr/>
        </p:nvSpPr>
        <p:spPr>
          <a:xfrm>
            <a:off x="4905450" y="6882257"/>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4" name="Google Shape;347;p28">
            <a:extLst>
              <a:ext uri="{FF2B5EF4-FFF2-40B4-BE49-F238E27FC236}">
                <a16:creationId xmlns:a16="http://schemas.microsoft.com/office/drawing/2014/main" id="{97AAC4C5-1F4F-A9F2-9EFE-46F2466758B6}"/>
              </a:ext>
            </a:extLst>
          </p:cNvPr>
          <p:cNvSpPr/>
          <p:nvPr/>
        </p:nvSpPr>
        <p:spPr>
          <a:xfrm>
            <a:off x="4852260" y="6412873"/>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 name="Picture 17"/>
          <p:cNvPicPr/>
          <p:nvPr/>
        </p:nvPicPr>
        <p:blipFill>
          <a:blip r:embed="rId3"/>
          <a:stretch/>
        </p:blipFill>
        <p:spPr>
          <a:xfrm>
            <a:off x="819000" y="714240"/>
            <a:ext cx="12428640" cy="7104240"/>
          </a:xfrm>
          <a:prstGeom prst="rect">
            <a:avLst/>
          </a:prstGeom>
          <a:ln w="0">
            <a:noFill/>
          </a:ln>
        </p:spPr>
      </p:pic>
      <p:pic>
        <p:nvPicPr>
          <p:cNvPr id="533" name="Picture 19"/>
          <p:cNvPicPr/>
          <p:nvPr/>
        </p:nvPicPr>
        <p:blipFill>
          <a:blip r:embed="rId4"/>
          <a:srcRect l="10028" t="12536" r="10465" b="20264"/>
          <a:stretch/>
        </p:blipFill>
        <p:spPr>
          <a:xfrm>
            <a:off x="0" y="3240"/>
            <a:ext cx="14038560" cy="8455320"/>
          </a:xfrm>
          <a:prstGeom prst="rect">
            <a:avLst/>
          </a:prstGeom>
          <a:ln w="0">
            <a:noFill/>
          </a:ln>
        </p:spPr>
      </p:pic>
      <p:sp>
        <p:nvSpPr>
          <p:cNvPr id="534" name="TextBox 7"/>
          <p:cNvSpPr/>
          <p:nvPr/>
        </p:nvSpPr>
        <p:spPr>
          <a:xfrm>
            <a:off x="1668960" y="2526120"/>
            <a:ext cx="10736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AUSTRALIAN SPECIAL OPERATIONS TASKFORCE</a:t>
            </a:r>
            <a:endParaRPr lang="en-IN" sz="3600" b="0" strike="noStrike" spc="-1">
              <a:solidFill>
                <a:srgbClr val="000000"/>
              </a:solidFill>
              <a:latin typeface="Arial"/>
            </a:endParaRPr>
          </a:p>
        </p:txBody>
      </p:sp>
      <p:sp>
        <p:nvSpPr>
          <p:cNvPr id="535" name="TextBox 8"/>
          <p:cNvSpPr/>
          <p:nvPr/>
        </p:nvSpPr>
        <p:spPr>
          <a:xfrm>
            <a:off x="4094640" y="2918160"/>
            <a:ext cx="607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This is to certify that command has awarded the</a:t>
            </a:r>
            <a:r>
              <a:rPr lang="en-AU" sz="3600" b="0" strike="noStrike" spc="-1">
                <a:solidFill>
                  <a:srgbClr val="000000"/>
                </a:solidFill>
                <a:latin typeface="Times New Roman"/>
                <a:ea typeface="DejaVu Sans"/>
              </a:rPr>
              <a:t> </a:t>
            </a:r>
            <a:endParaRPr lang="en-IN" sz="3600" b="0" strike="noStrike" spc="-1">
              <a:solidFill>
                <a:srgbClr val="000000"/>
              </a:solidFill>
              <a:latin typeface="Arial"/>
            </a:endParaRPr>
          </a:p>
        </p:txBody>
      </p:sp>
      <p:sp>
        <p:nvSpPr>
          <p:cNvPr id="536" name="TextBox 9"/>
          <p:cNvSpPr/>
          <p:nvPr/>
        </p:nvSpPr>
        <p:spPr>
          <a:xfrm>
            <a:off x="5573160" y="4307400"/>
            <a:ext cx="29275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endParaRPr lang="en-IN" sz="1800" b="0" strike="noStrike" spc="-1">
              <a:solidFill>
                <a:srgbClr val="000000"/>
              </a:solidFill>
              <a:latin typeface="Arial"/>
            </a:endParaRPr>
          </a:p>
        </p:txBody>
      </p:sp>
      <p:sp>
        <p:nvSpPr>
          <p:cNvPr id="537" name="TextBox 11"/>
          <p:cNvSpPr/>
          <p:nvPr/>
        </p:nvSpPr>
        <p:spPr>
          <a:xfrm>
            <a:off x="6723360" y="3931920"/>
            <a:ext cx="59148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2400" b="0" strike="noStrike" spc="-1">
                <a:solidFill>
                  <a:srgbClr val="000000"/>
                </a:solidFill>
                <a:latin typeface="Times New Roman"/>
                <a:ea typeface="DejaVu Sans"/>
              </a:rPr>
              <a:t>TO</a:t>
            </a:r>
            <a:endParaRPr lang="en-IN" sz="2400" b="0" strike="noStrike" spc="-1">
              <a:solidFill>
                <a:srgbClr val="000000"/>
              </a:solidFill>
              <a:latin typeface="Arial"/>
            </a:endParaRPr>
          </a:p>
        </p:txBody>
      </p:sp>
      <p:sp>
        <p:nvSpPr>
          <p:cNvPr id="538" name="TextBox 12"/>
          <p:cNvSpPr/>
          <p:nvPr/>
        </p:nvSpPr>
        <p:spPr>
          <a:xfrm>
            <a:off x="1611000" y="4975200"/>
            <a:ext cx="10816200" cy="1400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800" b="0" strike="noStrike" spc="-1">
                <a:solidFill>
                  <a:srgbClr val="000000"/>
                </a:solidFill>
                <a:latin typeface="Times New Roman"/>
                <a:ea typeface="DejaVu Sans"/>
              </a:rPr>
              <a:t>{name} has seen service with the Australian Special Operations Taskforce in multiple theatres of operations, successfully providing aid and conducting combat operations across the globe.</a:t>
            </a:r>
            <a:endParaRPr lang="en-IN" sz="1800" b="0" strike="noStrike" spc="-1">
              <a:solidFill>
                <a:srgbClr val="000000"/>
              </a:solidFill>
              <a:latin typeface="Arial"/>
            </a:endParaRPr>
          </a:p>
          <a:p>
            <a:pPr algn="ctr">
              <a:lnSpc>
                <a:spcPct val="100000"/>
              </a:lnSpc>
            </a:pPr>
            <a:r>
              <a:rPr lang="en-AU" sz="1800" b="0" strike="noStrike" spc="-1">
                <a:solidFill>
                  <a:srgbClr val="000000"/>
                </a:solidFill>
                <a:latin typeface="Times New Roman"/>
                <a:ea typeface="DejaVu Sans"/>
              </a:rPr>
              <a:t>They are characterised by their commitment to duty and peace.</a:t>
            </a:r>
            <a:endParaRPr lang="en-IN" sz="1800" b="0" strike="noStrike" spc="-1">
              <a:solidFill>
                <a:srgbClr val="000000"/>
              </a:solidFill>
              <a:latin typeface="Arial"/>
            </a:endParaRPr>
          </a:p>
          <a:p>
            <a:pPr>
              <a:lnSpc>
                <a:spcPct val="100000"/>
              </a:lnSpc>
            </a:pPr>
            <a:br>
              <a:rPr sz="1600"/>
            </a:br>
            <a:endParaRPr lang="en-IN" sz="1600" b="0" strike="noStrike" spc="-1">
              <a:solidFill>
                <a:srgbClr val="000000"/>
              </a:solidFill>
              <a:latin typeface="Arial"/>
            </a:endParaRPr>
          </a:p>
        </p:txBody>
      </p:sp>
      <p:cxnSp>
        <p:nvCxnSpPr>
          <p:cNvPr id="541" name="Straight Connector 31"/>
          <p:cNvCxnSpPr/>
          <p:nvPr/>
        </p:nvCxnSpPr>
        <p:spPr>
          <a:xfrm flipH="1">
            <a:off x="5849280" y="6918120"/>
            <a:ext cx="2452680" cy="1440"/>
          </a:xfrm>
          <a:prstGeom prst="straightConnector1">
            <a:avLst/>
          </a:prstGeom>
          <a:ln w="12700">
            <a:solidFill>
              <a:srgbClr val="000000"/>
            </a:solidFill>
            <a:round/>
          </a:ln>
        </p:spPr>
      </p:cxnSp>
      <p:sp>
        <p:nvSpPr>
          <p:cNvPr id="542" name="TextBox 32"/>
          <p:cNvSpPr/>
          <p:nvPr/>
        </p:nvSpPr>
        <p:spPr>
          <a:xfrm>
            <a:off x="2003760" y="5847480"/>
            <a:ext cx="100306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1800" b="0" strike="noStrike" spc="-1" dirty="0">
                <a:solidFill>
                  <a:srgbClr val="000000"/>
                </a:solidFill>
                <a:latin typeface="Times New Roman"/>
                <a:ea typeface="DejaVu Sans"/>
              </a:rPr>
              <a:t>On today’s date, </a:t>
            </a:r>
            <a:r>
              <a:rPr lang="en-AU" sz="1800" b="0" i="1" strike="noStrike" spc="-1" dirty="0">
                <a:solidFill>
                  <a:srgbClr val="000000"/>
                </a:solidFill>
                <a:latin typeface="Times New Roman"/>
                <a:ea typeface="DejaVu Sans"/>
              </a:rPr>
              <a:t>{</a:t>
            </a:r>
            <a:r>
              <a:rPr lang="en-AU" sz="1800" b="0" i="1" strike="noStrike" spc="-1" dirty="0" err="1">
                <a:solidFill>
                  <a:srgbClr val="000000"/>
                </a:solidFill>
                <a:latin typeface="Times New Roman"/>
                <a:ea typeface="DejaVu Sans"/>
              </a:rPr>
              <a:t>dateNumber</a:t>
            </a:r>
            <a:r>
              <a:rPr lang="en-AU" sz="1800" b="0" i="1" strike="noStrike" spc="-1" dirty="0">
                <a:solidFill>
                  <a:srgbClr val="000000"/>
                </a:solidFill>
                <a:latin typeface="Times New Roman"/>
                <a:ea typeface="DejaVu Sans"/>
              </a:rPr>
              <a:t>}</a:t>
            </a:r>
            <a:r>
              <a:rPr lang="en-AU" sz="1800" b="0" i="1" strike="noStrike" spc="-1" baseline="30000" dirty="0">
                <a:solidFill>
                  <a:srgbClr val="000000"/>
                </a:solidFill>
                <a:latin typeface="Times New Roman"/>
                <a:ea typeface="DejaVu Sans"/>
              </a:rPr>
              <a:t>{suffix}</a:t>
            </a:r>
            <a:r>
              <a:rPr lang="en-AU" sz="1800" b="0" i="1" strike="noStrike" spc="-1" dirty="0">
                <a:solidFill>
                  <a:srgbClr val="000000"/>
                </a:solidFill>
                <a:latin typeface="Times New Roman"/>
                <a:ea typeface="DejaVu Sans"/>
              </a:rPr>
              <a:t> {date}</a:t>
            </a:r>
            <a:r>
              <a:rPr lang="en-AU" sz="1800" b="0" strike="noStrike" spc="-1" dirty="0">
                <a:solidFill>
                  <a:srgbClr val="000000"/>
                </a:solidFill>
                <a:latin typeface="Times New Roman"/>
                <a:ea typeface="DejaVu Sans"/>
              </a:rPr>
              <a:t>, {name} is therefore awarded the</a:t>
            </a:r>
            <a:endParaRPr lang="en-IN" sz="1800" b="0" strike="noStrike" spc="-1" dirty="0">
              <a:solidFill>
                <a:srgbClr val="000000"/>
              </a:solidFill>
              <a:latin typeface="Arial"/>
            </a:endParaRPr>
          </a:p>
          <a:p>
            <a:pPr algn="ctr">
              <a:lnSpc>
                <a:spcPct val="100000"/>
              </a:lnSpc>
            </a:pPr>
            <a:r>
              <a:rPr lang="en-AU" sz="1800" b="0" strike="noStrike" spc="-1" dirty="0">
                <a:solidFill>
                  <a:srgbClr val="000000"/>
                </a:solidFill>
                <a:latin typeface="Times New Roman"/>
                <a:ea typeface="DejaVu Sans"/>
              </a:rPr>
              <a:t>Campaign Medallion with fourth clasp</a:t>
            </a:r>
            <a:endParaRPr lang="en-IN" sz="1800" b="0" strike="noStrike" spc="-1" dirty="0">
              <a:solidFill>
                <a:srgbClr val="000000"/>
              </a:solidFill>
              <a:latin typeface="Arial"/>
            </a:endParaRPr>
          </a:p>
        </p:txBody>
      </p:sp>
      <p:pic>
        <p:nvPicPr>
          <p:cNvPr id="543" name="Picture 2"/>
          <p:cNvPicPr/>
          <p:nvPr/>
        </p:nvPicPr>
        <p:blipFill>
          <a:blip r:embed="rId5"/>
          <a:stretch/>
        </p:blipFill>
        <p:spPr>
          <a:xfrm>
            <a:off x="10481400" y="6171480"/>
            <a:ext cx="1571040" cy="1370880"/>
          </a:xfrm>
          <a:prstGeom prst="rect">
            <a:avLst/>
          </a:prstGeom>
          <a:ln w="0">
            <a:noFill/>
          </a:ln>
        </p:spPr>
      </p:pic>
      <p:pic>
        <p:nvPicPr>
          <p:cNvPr id="544" name="Picture 4"/>
          <p:cNvPicPr/>
          <p:nvPr/>
        </p:nvPicPr>
        <p:blipFill>
          <a:blip r:embed="rId6"/>
          <a:stretch/>
        </p:blipFill>
        <p:spPr>
          <a:xfrm>
            <a:off x="1668960" y="6107760"/>
            <a:ext cx="1393560" cy="1441080"/>
          </a:xfrm>
          <a:prstGeom prst="rect">
            <a:avLst/>
          </a:prstGeom>
          <a:ln w="0">
            <a:noFill/>
          </a:ln>
        </p:spPr>
      </p:pic>
      <p:pic>
        <p:nvPicPr>
          <p:cNvPr id="545" name="Picture 4"/>
          <p:cNvPicPr/>
          <p:nvPr/>
        </p:nvPicPr>
        <p:blipFill>
          <a:blip r:embed="rId7"/>
          <a:stretch/>
        </p:blipFill>
        <p:spPr>
          <a:xfrm flipH="1">
            <a:off x="6593400" y="767880"/>
            <a:ext cx="854640" cy="1836720"/>
          </a:xfrm>
          <a:prstGeom prst="rect">
            <a:avLst/>
          </a:prstGeom>
          <a:ln w="0">
            <a:noFill/>
          </a:ln>
        </p:spPr>
      </p:pic>
      <p:pic>
        <p:nvPicPr>
          <p:cNvPr id="546" name="Picture 4"/>
          <p:cNvPicPr/>
          <p:nvPr/>
        </p:nvPicPr>
        <p:blipFill>
          <a:blip r:embed="rId8"/>
          <a:srcRect l="4119" t="31434" r="12380" b="62500"/>
          <a:stretch/>
        </p:blipFill>
        <p:spPr>
          <a:xfrm>
            <a:off x="6701760" y="1310040"/>
            <a:ext cx="726120" cy="111960"/>
          </a:xfrm>
          <a:prstGeom prst="rect">
            <a:avLst/>
          </a:prstGeom>
          <a:ln w="0">
            <a:noFill/>
          </a:ln>
        </p:spPr>
      </p:pic>
      <p:pic>
        <p:nvPicPr>
          <p:cNvPr id="547" name="Picture 4"/>
          <p:cNvPicPr/>
          <p:nvPr/>
        </p:nvPicPr>
        <p:blipFill>
          <a:blip r:embed="rId8"/>
          <a:srcRect l="4119" t="31434" r="12380" b="62500"/>
          <a:stretch/>
        </p:blipFill>
        <p:spPr>
          <a:xfrm>
            <a:off x="6701760" y="1191240"/>
            <a:ext cx="726120" cy="111960"/>
          </a:xfrm>
          <a:prstGeom prst="rect">
            <a:avLst/>
          </a:prstGeom>
          <a:ln w="0">
            <a:noFill/>
          </a:ln>
        </p:spPr>
      </p:pic>
      <p:pic>
        <p:nvPicPr>
          <p:cNvPr id="548" name="Picture 4"/>
          <p:cNvPicPr/>
          <p:nvPr/>
        </p:nvPicPr>
        <p:blipFill>
          <a:blip r:embed="rId8"/>
          <a:srcRect l="4119" t="31434" r="12380" b="62500"/>
          <a:stretch/>
        </p:blipFill>
        <p:spPr>
          <a:xfrm>
            <a:off x="6701760" y="1058760"/>
            <a:ext cx="726120" cy="111960"/>
          </a:xfrm>
          <a:prstGeom prst="rect">
            <a:avLst/>
          </a:prstGeom>
          <a:ln w="0">
            <a:noFill/>
          </a:ln>
        </p:spPr>
      </p:pic>
      <p:pic>
        <p:nvPicPr>
          <p:cNvPr id="549" name="Picture 4"/>
          <p:cNvPicPr/>
          <p:nvPr/>
        </p:nvPicPr>
        <p:blipFill>
          <a:blip r:embed="rId8"/>
          <a:srcRect l="4119" t="31434" r="12380" b="62500"/>
          <a:stretch/>
        </p:blipFill>
        <p:spPr>
          <a:xfrm>
            <a:off x="6701760" y="939960"/>
            <a:ext cx="726120" cy="111960"/>
          </a:xfrm>
          <a:prstGeom prst="rect">
            <a:avLst/>
          </a:prstGeom>
          <a:ln w="0">
            <a:noFill/>
          </a:ln>
        </p:spPr>
      </p:pic>
      <p:sp>
        <p:nvSpPr>
          <p:cNvPr id="550" name="TextBox 13"/>
          <p:cNvSpPr/>
          <p:nvPr/>
        </p:nvSpPr>
        <p:spPr>
          <a:xfrm>
            <a:off x="3697200" y="3407760"/>
            <a:ext cx="686592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a:solidFill>
                  <a:srgbClr val="000000"/>
                </a:solidFill>
                <a:latin typeface="Times New Roman"/>
                <a:ea typeface="DejaVu Sans"/>
              </a:rPr>
              <a:t>Campaign Medallion, Fourth Clasp</a:t>
            </a:r>
            <a:endParaRPr lang="en-IN" sz="3600" b="0" strike="noStrike" spc="-1">
              <a:solidFill>
                <a:srgbClr val="000000"/>
              </a:solidFill>
              <a:latin typeface="Arial"/>
            </a:endParaRPr>
          </a:p>
        </p:txBody>
      </p:sp>
      <p:sp>
        <p:nvSpPr>
          <p:cNvPr id="2" name="TextBox 33">
            <a:extLst>
              <a:ext uri="{FF2B5EF4-FFF2-40B4-BE49-F238E27FC236}">
                <a16:creationId xmlns:a16="http://schemas.microsoft.com/office/drawing/2014/main" id="{2EDE42B9-DC97-D8BB-03A0-C49E0025EA72}"/>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sp>
        <p:nvSpPr>
          <p:cNvPr id="3" name="Google Shape;90;p1">
            <a:extLst>
              <a:ext uri="{FF2B5EF4-FFF2-40B4-BE49-F238E27FC236}">
                <a16:creationId xmlns:a16="http://schemas.microsoft.com/office/drawing/2014/main" id="{902DA6B7-A539-BD9D-94C4-6DDF2E5A2BC3}"/>
              </a:ext>
            </a:extLst>
          </p:cNvPr>
          <p:cNvSpPr/>
          <p:nvPr/>
        </p:nvSpPr>
        <p:spPr>
          <a:xfrm>
            <a:off x="4905450" y="6882257"/>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4" name="Google Shape;347;p28">
            <a:extLst>
              <a:ext uri="{FF2B5EF4-FFF2-40B4-BE49-F238E27FC236}">
                <a16:creationId xmlns:a16="http://schemas.microsoft.com/office/drawing/2014/main" id="{D96713ED-173E-72A3-1977-F4B2E26B0AF5}"/>
              </a:ext>
            </a:extLst>
          </p:cNvPr>
          <p:cNvSpPr/>
          <p:nvPr/>
        </p:nvSpPr>
        <p:spPr>
          <a:xfrm>
            <a:off x="4852260" y="6412873"/>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02F8D24D-B690-429A-B31A-EE075F591D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9151" y="714375"/>
            <a:ext cx="12430124" cy="7105650"/>
          </a:xfrm>
          <a:prstGeom prst="rect">
            <a:avLst/>
          </a:prstGeom>
        </p:spPr>
      </p:pic>
      <p:pic>
        <p:nvPicPr>
          <p:cNvPr id="20" name="Picture 19">
            <a:extLst>
              <a:ext uri="{FF2B5EF4-FFF2-40B4-BE49-F238E27FC236}">
                <a16:creationId xmlns:a16="http://schemas.microsoft.com/office/drawing/2014/main" id="{E93A7C25-E6EB-404F-B46D-2C23D8281883}"/>
              </a:ext>
            </a:extLst>
          </p:cNvPr>
          <p:cNvPicPr>
            <a:picLocks noChangeAspect="1"/>
          </p:cNvPicPr>
          <p:nvPr/>
        </p:nvPicPr>
        <p:blipFill rotWithShape="1">
          <a:blip r:embed="rId3">
            <a:extLst>
              <a:ext uri="{28A0092B-C50C-407E-A947-70E740481C1C}">
                <a14:useLocalDpi xmlns:a14="http://schemas.microsoft.com/office/drawing/2010/main" val="0"/>
              </a:ext>
            </a:extLst>
          </a:blip>
          <a:srcRect l="10028" t="12537" r="10465" b="20263"/>
          <a:stretch/>
        </p:blipFill>
        <p:spPr>
          <a:xfrm>
            <a:off x="0" y="3090"/>
            <a:ext cx="14039850" cy="8456697"/>
          </a:xfrm>
          <a:prstGeom prst="rect">
            <a:avLst/>
          </a:prstGeom>
        </p:spPr>
      </p:pic>
      <p:sp>
        <p:nvSpPr>
          <p:cNvPr id="8" name="TextBox 7">
            <a:extLst>
              <a:ext uri="{FF2B5EF4-FFF2-40B4-BE49-F238E27FC236}">
                <a16:creationId xmlns:a16="http://schemas.microsoft.com/office/drawing/2014/main" id="{D7E785A6-A2A0-41EA-A1D2-14E262272345}"/>
              </a:ext>
            </a:extLst>
          </p:cNvPr>
          <p:cNvSpPr txBox="1"/>
          <p:nvPr/>
        </p:nvSpPr>
        <p:spPr>
          <a:xfrm>
            <a:off x="1668886" y="2526227"/>
            <a:ext cx="10737849" cy="646203"/>
          </a:xfrm>
          <a:prstGeom prst="rect">
            <a:avLst/>
          </a:prstGeom>
          <a:noFill/>
        </p:spPr>
        <p:txBody>
          <a:bodyPr wrap="square" rtlCol="0">
            <a:spAutoFit/>
          </a:bodyPr>
          <a:lstStyle/>
          <a:p>
            <a:pPr algn="ctr"/>
            <a:r>
              <a:rPr lang="en-AU" sz="3599" dirty="0">
                <a:latin typeface="Times New Roman" panose="02020603050405020304" pitchFamily="18" charset="0"/>
                <a:cs typeface="Times New Roman" panose="02020603050405020304" pitchFamily="18" charset="0"/>
              </a:rPr>
              <a:t>AUSTRALIAN SPECIAL OPERATIONS TASKFORCE</a:t>
            </a:r>
          </a:p>
        </p:txBody>
      </p:sp>
      <p:sp>
        <p:nvSpPr>
          <p:cNvPr id="9" name="TextBox 8">
            <a:extLst>
              <a:ext uri="{FF2B5EF4-FFF2-40B4-BE49-F238E27FC236}">
                <a16:creationId xmlns:a16="http://schemas.microsoft.com/office/drawing/2014/main" id="{CEE68CE4-34AF-4ADF-B29B-D28BDCB22EE8}"/>
              </a:ext>
            </a:extLst>
          </p:cNvPr>
          <p:cNvSpPr txBox="1"/>
          <p:nvPr/>
        </p:nvSpPr>
        <p:spPr>
          <a:xfrm>
            <a:off x="4094814" y="2918089"/>
            <a:ext cx="6072189" cy="646203"/>
          </a:xfrm>
          <a:prstGeom prst="rect">
            <a:avLst/>
          </a:prstGeom>
          <a:noFill/>
        </p:spPr>
        <p:txBody>
          <a:bodyPr wrap="square" rtlCol="0">
            <a:spAutoFit/>
          </a:bodyPr>
          <a:lstStyle/>
          <a:p>
            <a:pPr algn="ctr"/>
            <a:r>
              <a:rPr lang="en-AU" sz="2400" dirty="0">
                <a:latin typeface="Times New Roman" panose="02020603050405020304" pitchFamily="18" charset="0"/>
                <a:cs typeface="Times New Roman" panose="02020603050405020304" pitchFamily="18" charset="0"/>
              </a:rPr>
              <a:t>This is to certify that command has awarded the</a:t>
            </a:r>
            <a:r>
              <a:rPr lang="en-AU" sz="3599" dirty="0">
                <a:latin typeface="Times New Roman" panose="02020603050405020304" pitchFamily="18" charset="0"/>
                <a:cs typeface="Times New Roman" panose="02020603050405020304" pitchFamily="18" charset="0"/>
              </a:rPr>
              <a:t> </a:t>
            </a:r>
          </a:p>
        </p:txBody>
      </p:sp>
      <p:sp>
        <p:nvSpPr>
          <p:cNvPr id="12" name="TextBox 11">
            <a:extLst>
              <a:ext uri="{FF2B5EF4-FFF2-40B4-BE49-F238E27FC236}">
                <a16:creationId xmlns:a16="http://schemas.microsoft.com/office/drawing/2014/main" id="{66251F15-5C9B-4076-9AC4-A7542F35F809}"/>
              </a:ext>
            </a:extLst>
          </p:cNvPr>
          <p:cNvSpPr txBox="1"/>
          <p:nvPr/>
        </p:nvSpPr>
        <p:spPr>
          <a:xfrm>
            <a:off x="6723495" y="3932030"/>
            <a:ext cx="592891" cy="461665"/>
          </a:xfrm>
          <a:prstGeom prst="rect">
            <a:avLst/>
          </a:prstGeom>
          <a:noFill/>
        </p:spPr>
        <p:txBody>
          <a:bodyPr wrap="square" rtlCol="0">
            <a:spAutoFit/>
          </a:bodyPr>
          <a:lstStyle/>
          <a:p>
            <a:pPr algn="ctr"/>
            <a:r>
              <a:rPr lang="en-AU" sz="2400" dirty="0">
                <a:latin typeface="Times New Roman" panose="02020603050405020304" pitchFamily="18" charset="0"/>
                <a:cs typeface="Times New Roman" panose="02020603050405020304" pitchFamily="18" charset="0"/>
              </a:rPr>
              <a:t>TO</a:t>
            </a:r>
          </a:p>
        </p:txBody>
      </p:sp>
      <p:pic>
        <p:nvPicPr>
          <p:cNvPr id="3" name="Picture 2">
            <a:extLst>
              <a:ext uri="{FF2B5EF4-FFF2-40B4-BE49-F238E27FC236}">
                <a16:creationId xmlns:a16="http://schemas.microsoft.com/office/drawing/2014/main" id="{60284F50-8D17-4ED6-AFBB-6246451EE4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81551" y="6171659"/>
            <a:ext cx="1572386" cy="1372265"/>
          </a:xfrm>
          <a:prstGeom prst="rect">
            <a:avLst/>
          </a:prstGeom>
        </p:spPr>
      </p:pic>
      <p:pic>
        <p:nvPicPr>
          <p:cNvPr id="5" name="Picture 4">
            <a:extLst>
              <a:ext uri="{FF2B5EF4-FFF2-40B4-BE49-F238E27FC236}">
                <a16:creationId xmlns:a16="http://schemas.microsoft.com/office/drawing/2014/main" id="{2AAA12D2-3373-46F3-9023-5E737A57AC8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68892" y="6107880"/>
            <a:ext cx="1394987" cy="1442544"/>
          </a:xfrm>
          <a:prstGeom prst="rect">
            <a:avLst/>
          </a:prstGeom>
        </p:spPr>
      </p:pic>
      <p:pic>
        <p:nvPicPr>
          <p:cNvPr id="2" name="Picture 4">
            <a:extLst>
              <a:ext uri="{FF2B5EF4-FFF2-40B4-BE49-F238E27FC236}">
                <a16:creationId xmlns:a16="http://schemas.microsoft.com/office/drawing/2014/main" id="{A78975FF-8156-B462-1724-EFBA3E34C69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flipH="1">
            <a:off x="6591836" y="767721"/>
            <a:ext cx="856178" cy="183826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155323D8-D046-15DD-45BA-C45930525130}"/>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4118" t="31435" r="12379" b="62499"/>
          <a:stretch/>
        </p:blipFill>
        <p:spPr bwMode="auto">
          <a:xfrm>
            <a:off x="6701929" y="1310002"/>
            <a:ext cx="727571" cy="113463"/>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0DBB7150-9B2C-C26D-3305-A7DB02A80770}"/>
              </a:ext>
            </a:extLst>
          </p:cNvPr>
          <p:cNvSpPr txBox="1"/>
          <p:nvPr/>
        </p:nvSpPr>
        <p:spPr>
          <a:xfrm>
            <a:off x="3057649" y="3393331"/>
            <a:ext cx="7924552" cy="646203"/>
          </a:xfrm>
          <a:prstGeom prst="rect">
            <a:avLst/>
          </a:prstGeom>
          <a:noFill/>
        </p:spPr>
        <p:txBody>
          <a:bodyPr wrap="square" rtlCol="0">
            <a:spAutoFit/>
          </a:bodyPr>
          <a:lstStyle/>
          <a:p>
            <a:pPr algn="ctr"/>
            <a:r>
              <a:rPr lang="en-AU" sz="3599" dirty="0">
                <a:latin typeface="Times New Roman" panose="02020603050405020304" pitchFamily="18" charset="0"/>
                <a:cs typeface="Times New Roman" panose="02020603050405020304" pitchFamily="18" charset="0"/>
              </a:rPr>
              <a:t>Campaign Medallion Tier 2 First Clasp</a:t>
            </a:r>
          </a:p>
        </p:txBody>
      </p:sp>
      <p:sp>
        <p:nvSpPr>
          <p:cNvPr id="4" name="TextBox 3">
            <a:extLst>
              <a:ext uri="{FF2B5EF4-FFF2-40B4-BE49-F238E27FC236}">
                <a16:creationId xmlns:a16="http://schemas.microsoft.com/office/drawing/2014/main" id="{AD3D0B76-8537-0116-E409-90D47BA45611}"/>
              </a:ext>
            </a:extLst>
          </p:cNvPr>
          <p:cNvSpPr txBox="1"/>
          <p:nvPr/>
        </p:nvSpPr>
        <p:spPr>
          <a:xfrm>
            <a:off x="1611043" y="4975159"/>
            <a:ext cx="10817764" cy="1415772"/>
          </a:xfrm>
          <a:prstGeom prst="rect">
            <a:avLst/>
          </a:prstGeom>
          <a:noFill/>
        </p:spPr>
        <p:txBody>
          <a:bodyPr wrap="square" rtlCol="0">
            <a:spAutoFit/>
          </a:bodyPr>
          <a:lstStyle/>
          <a:p>
            <a:pPr algn="ctr" rtl="0">
              <a:spcBef>
                <a:spcPts val="0"/>
              </a:spcBef>
              <a:spcAft>
                <a:spcPts val="0"/>
              </a:spcAft>
            </a:pPr>
            <a:r>
              <a:rPr lang="en-AU" sz="1800" dirty="0">
                <a:solidFill>
                  <a:srgbClr val="000000"/>
                </a:solidFill>
                <a:latin typeface="Times New Roman" panose="02020603050405020304" pitchFamily="18" charset="0"/>
                <a:cs typeface="Times New Roman" panose="02020603050405020304" pitchFamily="18" charset="0"/>
              </a:rPr>
              <a:t>{name} </a:t>
            </a:r>
            <a:r>
              <a:rPr lang="en-AU" sz="1800" b="0" i="0" u="none" strike="noStrike" dirty="0">
                <a:solidFill>
                  <a:srgbClr val="000000"/>
                </a:solidFill>
                <a:effectLst/>
                <a:latin typeface="Times New Roman" panose="02020603050405020304" pitchFamily="18" charset="0"/>
              </a:rPr>
              <a:t>has seen service with the Australian Special Operations Taskforce in multiple theatres of operations, successfully providing aid and conducting combat operations across the globe.</a:t>
            </a:r>
            <a:endParaRPr lang="en-AU" sz="1600" b="0" dirty="0">
              <a:effectLst/>
            </a:endParaRPr>
          </a:p>
          <a:p>
            <a:pPr algn="ctr" rtl="0">
              <a:spcBef>
                <a:spcPts val="0"/>
              </a:spcBef>
              <a:spcAft>
                <a:spcPts val="0"/>
              </a:spcAft>
            </a:pPr>
            <a:r>
              <a:rPr lang="en-AU" sz="1800" b="0" i="0" u="none" strike="noStrike" dirty="0">
                <a:solidFill>
                  <a:srgbClr val="000000"/>
                </a:solidFill>
                <a:effectLst/>
                <a:latin typeface="Times New Roman" panose="02020603050405020304" pitchFamily="18" charset="0"/>
              </a:rPr>
              <a:t>They are characterised by their commitment to duty and peace.</a:t>
            </a:r>
            <a:endParaRPr lang="en-AU" sz="1600" b="0" dirty="0">
              <a:effectLst/>
            </a:endParaRPr>
          </a:p>
          <a:p>
            <a:br>
              <a:rPr lang="en-AU" sz="1600" dirty="0"/>
            </a:br>
            <a:endParaRPr lang="en-AU" sz="1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718E15B-7258-714F-DC79-C32D439E9315}"/>
              </a:ext>
            </a:extLst>
          </p:cNvPr>
          <p:cNvSpPr txBox="1"/>
          <p:nvPr/>
        </p:nvSpPr>
        <p:spPr>
          <a:xfrm>
            <a:off x="2003790" y="5847649"/>
            <a:ext cx="10032270" cy="646331"/>
          </a:xfrm>
          <a:prstGeom prst="rect">
            <a:avLst/>
          </a:prstGeom>
          <a:noFill/>
        </p:spPr>
        <p:txBody>
          <a:bodyPr wrap="square" rtlCol="0">
            <a:spAutoFit/>
          </a:bodyPr>
          <a:lstStyle/>
          <a:p>
            <a:pPr algn="ctr"/>
            <a:r>
              <a:rPr lang="en-AU" dirty="0">
                <a:latin typeface="Times New Roman" panose="02020603050405020304" pitchFamily="18" charset="0"/>
                <a:cs typeface="Times New Roman" panose="02020603050405020304" pitchFamily="18" charset="0"/>
              </a:rPr>
              <a:t>On today’s date, </a:t>
            </a:r>
            <a:r>
              <a:rPr lang="en-AU" i="1" dirty="0">
                <a:latin typeface="Times New Roman" panose="02020603050405020304" pitchFamily="18" charset="0"/>
                <a:cs typeface="Times New Roman" panose="02020603050405020304" pitchFamily="18" charset="0"/>
              </a:rPr>
              <a:t>{</a:t>
            </a:r>
            <a:r>
              <a:rPr lang="en-AU" i="1" dirty="0" err="1">
                <a:latin typeface="Times New Roman" panose="02020603050405020304" pitchFamily="18" charset="0"/>
                <a:cs typeface="Times New Roman" panose="02020603050405020304" pitchFamily="18" charset="0"/>
              </a:rPr>
              <a:t>dateNumber</a:t>
            </a:r>
            <a:r>
              <a:rPr lang="en-AU" sz="1800" b="0" i="1" strike="noStrike" spc="-1" dirty="0">
                <a:solidFill>
                  <a:srgbClr val="000000"/>
                </a:solidFill>
                <a:latin typeface="Times New Roman"/>
                <a:ea typeface="DejaVu Sans"/>
              </a:rPr>
              <a:t>}</a:t>
            </a:r>
            <a:r>
              <a:rPr lang="en-AU" sz="1800" b="0" i="1" strike="noStrike" spc="-1" baseline="30000" dirty="0">
                <a:solidFill>
                  <a:srgbClr val="000000"/>
                </a:solidFill>
                <a:latin typeface="Times New Roman"/>
                <a:ea typeface="DejaVu Sans"/>
              </a:rPr>
              <a:t>{suffix}</a:t>
            </a:r>
            <a:r>
              <a:rPr lang="en-AU" sz="1800" b="0" i="1" strike="noStrike" spc="-1" dirty="0">
                <a:solidFill>
                  <a:srgbClr val="000000"/>
                </a:solidFill>
                <a:latin typeface="Times New Roman"/>
                <a:ea typeface="DejaVu Sans"/>
              </a:rPr>
              <a:t> </a:t>
            </a:r>
            <a:r>
              <a:rPr lang="en-AU" i="1" dirty="0">
                <a:latin typeface="Times New Roman" panose="02020603050405020304" pitchFamily="18" charset="0"/>
                <a:cs typeface="Times New Roman" panose="02020603050405020304" pitchFamily="18" charset="0"/>
              </a:rPr>
              <a:t>{date}</a:t>
            </a:r>
            <a:r>
              <a:rPr lang="en-AU" dirty="0">
                <a:latin typeface="Times New Roman" panose="02020603050405020304" pitchFamily="18" charset="0"/>
                <a:cs typeface="Times New Roman" panose="02020603050405020304" pitchFamily="18" charset="0"/>
              </a:rPr>
              <a:t>, </a:t>
            </a:r>
            <a:r>
              <a:rPr lang="en-AU" sz="1800" dirty="0">
                <a:solidFill>
                  <a:srgbClr val="000000"/>
                </a:solidFill>
                <a:latin typeface="Times New Roman" panose="02020603050405020304" pitchFamily="18" charset="0"/>
                <a:cs typeface="Times New Roman" panose="02020603050405020304" pitchFamily="18" charset="0"/>
              </a:rPr>
              <a:t>{name} </a:t>
            </a:r>
            <a:r>
              <a:rPr lang="en-AU" dirty="0">
                <a:latin typeface="Times New Roman" panose="02020603050405020304" pitchFamily="18" charset="0"/>
                <a:cs typeface="Times New Roman" panose="02020603050405020304" pitchFamily="18" charset="0"/>
              </a:rPr>
              <a:t>is therefore awarded the</a:t>
            </a:r>
          </a:p>
          <a:p>
            <a:pPr algn="ctr"/>
            <a:r>
              <a:rPr lang="en-AU" sz="1800" dirty="0">
                <a:latin typeface="Times New Roman" panose="02020603050405020304" pitchFamily="18" charset="0"/>
                <a:cs typeface="Times New Roman" panose="02020603050405020304" pitchFamily="18" charset="0"/>
              </a:rPr>
              <a:t>Campaign Medallion Tier 2 with first clasp</a:t>
            </a:r>
            <a:r>
              <a:rPr lang="en-AU" dirty="0">
                <a:latin typeface="Times New Roman" panose="02020603050405020304" pitchFamily="18" charset="0"/>
                <a:cs typeface="Times New Roman" panose="02020603050405020304" pitchFamily="18" charset="0"/>
              </a:rPr>
              <a:t>.</a:t>
            </a:r>
          </a:p>
        </p:txBody>
      </p:sp>
      <p:pic>
        <p:nvPicPr>
          <p:cNvPr id="53" name="Picture 52">
            <a:extLst>
              <a:ext uri="{FF2B5EF4-FFF2-40B4-BE49-F238E27FC236}">
                <a16:creationId xmlns:a16="http://schemas.microsoft.com/office/drawing/2014/main" id="{DB066789-2D13-DF62-EE5B-31C075607F7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674002" y="778460"/>
            <a:ext cx="856179" cy="1838266"/>
          </a:xfrm>
          <a:prstGeom prst="rect">
            <a:avLst/>
          </a:prstGeom>
        </p:spPr>
      </p:pic>
      <p:sp>
        <p:nvSpPr>
          <p:cNvPr id="13" name="TextBox 33">
            <a:extLst>
              <a:ext uri="{FF2B5EF4-FFF2-40B4-BE49-F238E27FC236}">
                <a16:creationId xmlns:a16="http://schemas.microsoft.com/office/drawing/2014/main" id="{B6F7FC88-B04E-9ECA-0883-B9014BFB9975}"/>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cxnSp>
        <p:nvCxnSpPr>
          <p:cNvPr id="23" name="Straight Connector 31">
            <a:extLst>
              <a:ext uri="{FF2B5EF4-FFF2-40B4-BE49-F238E27FC236}">
                <a16:creationId xmlns:a16="http://schemas.microsoft.com/office/drawing/2014/main" id="{33A991E5-9F95-A910-A1A5-9AD0855C9761}"/>
              </a:ext>
            </a:extLst>
          </p:cNvPr>
          <p:cNvCxnSpPr/>
          <p:nvPr/>
        </p:nvCxnSpPr>
        <p:spPr>
          <a:xfrm flipH="1">
            <a:off x="5849280" y="6918120"/>
            <a:ext cx="2452680" cy="1440"/>
          </a:xfrm>
          <a:prstGeom prst="straightConnector1">
            <a:avLst/>
          </a:prstGeom>
          <a:ln w="12700">
            <a:solidFill>
              <a:srgbClr val="000000"/>
            </a:solidFill>
            <a:round/>
          </a:ln>
        </p:spPr>
      </p:cxnSp>
      <p:sp>
        <p:nvSpPr>
          <p:cNvPr id="7" name="Google Shape;90;p1">
            <a:extLst>
              <a:ext uri="{FF2B5EF4-FFF2-40B4-BE49-F238E27FC236}">
                <a16:creationId xmlns:a16="http://schemas.microsoft.com/office/drawing/2014/main" id="{C7C72BDC-D4E4-208F-D3C5-AE64A6BF4A3E}"/>
              </a:ext>
            </a:extLst>
          </p:cNvPr>
          <p:cNvSpPr/>
          <p:nvPr/>
        </p:nvSpPr>
        <p:spPr>
          <a:xfrm>
            <a:off x="4905450" y="6882257"/>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10" name="Google Shape;347;p28">
            <a:extLst>
              <a:ext uri="{FF2B5EF4-FFF2-40B4-BE49-F238E27FC236}">
                <a16:creationId xmlns:a16="http://schemas.microsoft.com/office/drawing/2014/main" id="{5EA84A6E-2283-0E56-7D05-4142E3748F56}"/>
              </a:ext>
            </a:extLst>
          </p:cNvPr>
          <p:cNvSpPr/>
          <p:nvPr/>
        </p:nvSpPr>
        <p:spPr>
          <a:xfrm>
            <a:off x="4852260" y="6412873"/>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extLst>
      <p:ext uri="{BB962C8B-B14F-4D97-AF65-F5344CB8AC3E}">
        <p14:creationId xmlns:p14="http://schemas.microsoft.com/office/powerpoint/2010/main" val="25747236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02F8D24D-B690-429A-B31A-EE075F591D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9151" y="714375"/>
            <a:ext cx="12430124" cy="7105650"/>
          </a:xfrm>
          <a:prstGeom prst="rect">
            <a:avLst/>
          </a:prstGeom>
        </p:spPr>
      </p:pic>
      <p:pic>
        <p:nvPicPr>
          <p:cNvPr id="20" name="Picture 19">
            <a:extLst>
              <a:ext uri="{FF2B5EF4-FFF2-40B4-BE49-F238E27FC236}">
                <a16:creationId xmlns:a16="http://schemas.microsoft.com/office/drawing/2014/main" id="{E93A7C25-E6EB-404F-B46D-2C23D8281883}"/>
              </a:ext>
            </a:extLst>
          </p:cNvPr>
          <p:cNvPicPr>
            <a:picLocks noChangeAspect="1"/>
          </p:cNvPicPr>
          <p:nvPr/>
        </p:nvPicPr>
        <p:blipFill rotWithShape="1">
          <a:blip r:embed="rId3">
            <a:extLst>
              <a:ext uri="{28A0092B-C50C-407E-A947-70E740481C1C}">
                <a14:useLocalDpi xmlns:a14="http://schemas.microsoft.com/office/drawing/2010/main" val="0"/>
              </a:ext>
            </a:extLst>
          </a:blip>
          <a:srcRect l="10028" t="12537" r="10465" b="20263"/>
          <a:stretch/>
        </p:blipFill>
        <p:spPr>
          <a:xfrm>
            <a:off x="0" y="3090"/>
            <a:ext cx="14039850" cy="8456697"/>
          </a:xfrm>
          <a:prstGeom prst="rect">
            <a:avLst/>
          </a:prstGeom>
        </p:spPr>
      </p:pic>
      <p:sp>
        <p:nvSpPr>
          <p:cNvPr id="8" name="TextBox 7">
            <a:extLst>
              <a:ext uri="{FF2B5EF4-FFF2-40B4-BE49-F238E27FC236}">
                <a16:creationId xmlns:a16="http://schemas.microsoft.com/office/drawing/2014/main" id="{D7E785A6-A2A0-41EA-A1D2-14E262272345}"/>
              </a:ext>
            </a:extLst>
          </p:cNvPr>
          <p:cNvSpPr txBox="1"/>
          <p:nvPr/>
        </p:nvSpPr>
        <p:spPr>
          <a:xfrm>
            <a:off x="1668886" y="2526227"/>
            <a:ext cx="10737849" cy="646203"/>
          </a:xfrm>
          <a:prstGeom prst="rect">
            <a:avLst/>
          </a:prstGeom>
          <a:noFill/>
        </p:spPr>
        <p:txBody>
          <a:bodyPr wrap="square" rtlCol="0">
            <a:spAutoFit/>
          </a:bodyPr>
          <a:lstStyle/>
          <a:p>
            <a:pPr algn="ctr"/>
            <a:r>
              <a:rPr lang="en-AU" sz="3599" dirty="0">
                <a:latin typeface="Times New Roman" panose="02020603050405020304" pitchFamily="18" charset="0"/>
                <a:cs typeface="Times New Roman" panose="02020603050405020304" pitchFamily="18" charset="0"/>
              </a:rPr>
              <a:t>AUSTRALIAN SPECIAL OPERATIONS TASKFORCE</a:t>
            </a:r>
          </a:p>
        </p:txBody>
      </p:sp>
      <p:sp>
        <p:nvSpPr>
          <p:cNvPr id="9" name="TextBox 8">
            <a:extLst>
              <a:ext uri="{FF2B5EF4-FFF2-40B4-BE49-F238E27FC236}">
                <a16:creationId xmlns:a16="http://schemas.microsoft.com/office/drawing/2014/main" id="{CEE68CE4-34AF-4ADF-B29B-D28BDCB22EE8}"/>
              </a:ext>
            </a:extLst>
          </p:cNvPr>
          <p:cNvSpPr txBox="1"/>
          <p:nvPr/>
        </p:nvSpPr>
        <p:spPr>
          <a:xfrm>
            <a:off x="4094814" y="2918089"/>
            <a:ext cx="6072189" cy="646203"/>
          </a:xfrm>
          <a:prstGeom prst="rect">
            <a:avLst/>
          </a:prstGeom>
          <a:noFill/>
        </p:spPr>
        <p:txBody>
          <a:bodyPr wrap="square" rtlCol="0">
            <a:spAutoFit/>
          </a:bodyPr>
          <a:lstStyle/>
          <a:p>
            <a:pPr algn="ctr"/>
            <a:r>
              <a:rPr lang="en-AU" sz="2400" dirty="0">
                <a:latin typeface="Times New Roman" panose="02020603050405020304" pitchFamily="18" charset="0"/>
                <a:cs typeface="Times New Roman" panose="02020603050405020304" pitchFamily="18" charset="0"/>
              </a:rPr>
              <a:t>This is to certify that command has awarded the</a:t>
            </a:r>
            <a:r>
              <a:rPr lang="en-AU" sz="3599" dirty="0">
                <a:latin typeface="Times New Roman" panose="02020603050405020304" pitchFamily="18" charset="0"/>
                <a:cs typeface="Times New Roman" panose="02020603050405020304" pitchFamily="18" charset="0"/>
              </a:rPr>
              <a:t> </a:t>
            </a:r>
          </a:p>
        </p:txBody>
      </p:sp>
      <p:sp>
        <p:nvSpPr>
          <p:cNvPr id="12" name="TextBox 11">
            <a:extLst>
              <a:ext uri="{FF2B5EF4-FFF2-40B4-BE49-F238E27FC236}">
                <a16:creationId xmlns:a16="http://schemas.microsoft.com/office/drawing/2014/main" id="{66251F15-5C9B-4076-9AC4-A7542F35F809}"/>
              </a:ext>
            </a:extLst>
          </p:cNvPr>
          <p:cNvSpPr txBox="1"/>
          <p:nvPr/>
        </p:nvSpPr>
        <p:spPr>
          <a:xfrm>
            <a:off x="6723495" y="3932030"/>
            <a:ext cx="592891" cy="461665"/>
          </a:xfrm>
          <a:prstGeom prst="rect">
            <a:avLst/>
          </a:prstGeom>
          <a:noFill/>
        </p:spPr>
        <p:txBody>
          <a:bodyPr wrap="square" rtlCol="0">
            <a:spAutoFit/>
          </a:bodyPr>
          <a:lstStyle/>
          <a:p>
            <a:pPr algn="ctr"/>
            <a:r>
              <a:rPr lang="en-AU" sz="2400" dirty="0">
                <a:latin typeface="Times New Roman" panose="02020603050405020304" pitchFamily="18" charset="0"/>
                <a:cs typeface="Times New Roman" panose="02020603050405020304" pitchFamily="18" charset="0"/>
              </a:rPr>
              <a:t>TO</a:t>
            </a:r>
          </a:p>
        </p:txBody>
      </p:sp>
      <p:pic>
        <p:nvPicPr>
          <p:cNvPr id="3" name="Picture 2">
            <a:extLst>
              <a:ext uri="{FF2B5EF4-FFF2-40B4-BE49-F238E27FC236}">
                <a16:creationId xmlns:a16="http://schemas.microsoft.com/office/drawing/2014/main" id="{60284F50-8D17-4ED6-AFBB-6246451EE4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81551" y="6171659"/>
            <a:ext cx="1572386" cy="1372265"/>
          </a:xfrm>
          <a:prstGeom prst="rect">
            <a:avLst/>
          </a:prstGeom>
        </p:spPr>
      </p:pic>
      <p:pic>
        <p:nvPicPr>
          <p:cNvPr id="5" name="Picture 4">
            <a:extLst>
              <a:ext uri="{FF2B5EF4-FFF2-40B4-BE49-F238E27FC236}">
                <a16:creationId xmlns:a16="http://schemas.microsoft.com/office/drawing/2014/main" id="{2AAA12D2-3373-46F3-9023-5E737A57AC8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68892" y="6107880"/>
            <a:ext cx="1394987" cy="1442544"/>
          </a:xfrm>
          <a:prstGeom prst="rect">
            <a:avLst/>
          </a:prstGeom>
        </p:spPr>
      </p:pic>
      <p:sp>
        <p:nvSpPr>
          <p:cNvPr id="15" name="TextBox 14">
            <a:extLst>
              <a:ext uri="{FF2B5EF4-FFF2-40B4-BE49-F238E27FC236}">
                <a16:creationId xmlns:a16="http://schemas.microsoft.com/office/drawing/2014/main" id="{0DBB7150-9B2C-C26D-3305-A7DB02A80770}"/>
              </a:ext>
            </a:extLst>
          </p:cNvPr>
          <p:cNvSpPr txBox="1"/>
          <p:nvPr/>
        </p:nvSpPr>
        <p:spPr>
          <a:xfrm>
            <a:off x="2890374" y="3418013"/>
            <a:ext cx="8287677" cy="646203"/>
          </a:xfrm>
          <a:prstGeom prst="rect">
            <a:avLst/>
          </a:prstGeom>
          <a:noFill/>
        </p:spPr>
        <p:txBody>
          <a:bodyPr wrap="square" rtlCol="0">
            <a:spAutoFit/>
          </a:bodyPr>
          <a:lstStyle/>
          <a:p>
            <a:pPr algn="ctr"/>
            <a:r>
              <a:rPr lang="en-AU" sz="3599" dirty="0">
                <a:latin typeface="Times New Roman" panose="02020603050405020304" pitchFamily="18" charset="0"/>
                <a:cs typeface="Times New Roman" panose="02020603050405020304" pitchFamily="18" charset="0"/>
              </a:rPr>
              <a:t>Campaign Medallion Tier 2 Second Clasp</a:t>
            </a:r>
          </a:p>
        </p:txBody>
      </p:sp>
      <p:sp>
        <p:nvSpPr>
          <p:cNvPr id="4" name="TextBox 3">
            <a:extLst>
              <a:ext uri="{FF2B5EF4-FFF2-40B4-BE49-F238E27FC236}">
                <a16:creationId xmlns:a16="http://schemas.microsoft.com/office/drawing/2014/main" id="{AD3D0B76-8537-0116-E409-90D47BA45611}"/>
              </a:ext>
            </a:extLst>
          </p:cNvPr>
          <p:cNvSpPr txBox="1"/>
          <p:nvPr/>
        </p:nvSpPr>
        <p:spPr>
          <a:xfrm>
            <a:off x="1611043" y="4975159"/>
            <a:ext cx="10817764" cy="1415772"/>
          </a:xfrm>
          <a:prstGeom prst="rect">
            <a:avLst/>
          </a:prstGeom>
          <a:noFill/>
        </p:spPr>
        <p:txBody>
          <a:bodyPr wrap="square" rtlCol="0">
            <a:spAutoFit/>
          </a:bodyPr>
          <a:lstStyle/>
          <a:p>
            <a:pPr algn="ctr" rtl="0">
              <a:spcBef>
                <a:spcPts val="0"/>
              </a:spcBef>
              <a:spcAft>
                <a:spcPts val="0"/>
              </a:spcAft>
            </a:pPr>
            <a:r>
              <a:rPr lang="en-AU" sz="1800" dirty="0">
                <a:solidFill>
                  <a:srgbClr val="000000"/>
                </a:solidFill>
                <a:latin typeface="Times New Roman" panose="02020603050405020304" pitchFamily="18" charset="0"/>
                <a:cs typeface="Times New Roman" panose="02020603050405020304" pitchFamily="18" charset="0"/>
              </a:rPr>
              <a:t>{name} </a:t>
            </a:r>
            <a:r>
              <a:rPr lang="en-AU" sz="1800" b="0" i="0" u="none" strike="noStrike" dirty="0">
                <a:solidFill>
                  <a:srgbClr val="000000"/>
                </a:solidFill>
                <a:effectLst/>
                <a:latin typeface="Times New Roman" panose="02020603050405020304" pitchFamily="18" charset="0"/>
              </a:rPr>
              <a:t>has seen service with the Australian Special Operations Taskforce in multiple theatres of operations, successfully providing aid and conducting combat operations across the globe.</a:t>
            </a:r>
            <a:endParaRPr lang="en-AU" sz="1600" b="0" dirty="0">
              <a:effectLst/>
            </a:endParaRPr>
          </a:p>
          <a:p>
            <a:pPr algn="ctr" rtl="0">
              <a:spcBef>
                <a:spcPts val="0"/>
              </a:spcBef>
              <a:spcAft>
                <a:spcPts val="0"/>
              </a:spcAft>
            </a:pPr>
            <a:r>
              <a:rPr lang="en-AU" sz="1800" b="0" i="0" u="none" strike="noStrike" dirty="0">
                <a:solidFill>
                  <a:srgbClr val="000000"/>
                </a:solidFill>
                <a:effectLst/>
                <a:latin typeface="Times New Roman" panose="02020603050405020304" pitchFamily="18" charset="0"/>
              </a:rPr>
              <a:t>They are characterised by their commitment to duty and peace.</a:t>
            </a:r>
            <a:endParaRPr lang="en-AU" sz="1600" b="0" dirty="0">
              <a:effectLst/>
            </a:endParaRPr>
          </a:p>
          <a:p>
            <a:br>
              <a:rPr lang="en-AU" sz="1600" dirty="0"/>
            </a:br>
            <a:endParaRPr lang="en-AU" sz="1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718E15B-7258-714F-DC79-C32D439E9315}"/>
              </a:ext>
            </a:extLst>
          </p:cNvPr>
          <p:cNvSpPr txBox="1"/>
          <p:nvPr/>
        </p:nvSpPr>
        <p:spPr>
          <a:xfrm>
            <a:off x="2003790" y="5847649"/>
            <a:ext cx="10032270" cy="646331"/>
          </a:xfrm>
          <a:prstGeom prst="rect">
            <a:avLst/>
          </a:prstGeom>
          <a:noFill/>
        </p:spPr>
        <p:txBody>
          <a:bodyPr wrap="square" rtlCol="0">
            <a:spAutoFit/>
          </a:bodyPr>
          <a:lstStyle/>
          <a:p>
            <a:pPr algn="ctr"/>
            <a:r>
              <a:rPr lang="en-AU" dirty="0">
                <a:latin typeface="Times New Roman" panose="02020603050405020304" pitchFamily="18" charset="0"/>
                <a:cs typeface="Times New Roman" panose="02020603050405020304" pitchFamily="18" charset="0"/>
              </a:rPr>
              <a:t>On today’s date, </a:t>
            </a:r>
            <a:r>
              <a:rPr lang="en-AU" i="1" dirty="0">
                <a:latin typeface="Times New Roman" panose="02020603050405020304" pitchFamily="18" charset="0"/>
                <a:cs typeface="Times New Roman" panose="02020603050405020304" pitchFamily="18" charset="0"/>
              </a:rPr>
              <a:t>{</a:t>
            </a:r>
            <a:r>
              <a:rPr lang="en-AU" i="1" dirty="0" err="1">
                <a:latin typeface="Times New Roman" panose="02020603050405020304" pitchFamily="18" charset="0"/>
                <a:cs typeface="Times New Roman" panose="02020603050405020304" pitchFamily="18" charset="0"/>
              </a:rPr>
              <a:t>dateNumber</a:t>
            </a:r>
            <a:r>
              <a:rPr lang="en-AU" sz="1800" b="0" i="1" strike="noStrike" spc="-1" dirty="0">
                <a:solidFill>
                  <a:srgbClr val="000000"/>
                </a:solidFill>
                <a:latin typeface="Times New Roman"/>
                <a:ea typeface="DejaVu Sans"/>
              </a:rPr>
              <a:t>}</a:t>
            </a:r>
            <a:r>
              <a:rPr lang="en-AU" sz="1800" b="0" i="1" strike="noStrike" spc="-1" baseline="30000" dirty="0">
                <a:solidFill>
                  <a:srgbClr val="000000"/>
                </a:solidFill>
                <a:latin typeface="Times New Roman"/>
                <a:ea typeface="DejaVu Sans"/>
              </a:rPr>
              <a:t>{suffix}</a:t>
            </a:r>
            <a:r>
              <a:rPr lang="en-AU" sz="1800" b="0" i="1" strike="noStrike" spc="-1" dirty="0">
                <a:solidFill>
                  <a:srgbClr val="000000"/>
                </a:solidFill>
                <a:latin typeface="Times New Roman"/>
                <a:ea typeface="DejaVu Sans"/>
              </a:rPr>
              <a:t> </a:t>
            </a:r>
            <a:r>
              <a:rPr lang="en-AU" i="1" dirty="0">
                <a:latin typeface="Times New Roman" panose="02020603050405020304" pitchFamily="18" charset="0"/>
                <a:cs typeface="Times New Roman" panose="02020603050405020304" pitchFamily="18" charset="0"/>
              </a:rPr>
              <a:t>{date}</a:t>
            </a:r>
            <a:r>
              <a:rPr lang="en-AU" dirty="0">
                <a:latin typeface="Times New Roman" panose="02020603050405020304" pitchFamily="18" charset="0"/>
                <a:cs typeface="Times New Roman" panose="02020603050405020304" pitchFamily="18" charset="0"/>
              </a:rPr>
              <a:t>, </a:t>
            </a:r>
            <a:r>
              <a:rPr lang="en-AU" sz="1800" dirty="0">
                <a:solidFill>
                  <a:srgbClr val="000000"/>
                </a:solidFill>
                <a:latin typeface="Times New Roman" panose="02020603050405020304" pitchFamily="18" charset="0"/>
                <a:cs typeface="Times New Roman" panose="02020603050405020304" pitchFamily="18" charset="0"/>
              </a:rPr>
              <a:t>{name} </a:t>
            </a:r>
            <a:r>
              <a:rPr lang="en-AU" dirty="0">
                <a:latin typeface="Times New Roman" panose="02020603050405020304" pitchFamily="18" charset="0"/>
                <a:cs typeface="Times New Roman" panose="02020603050405020304" pitchFamily="18" charset="0"/>
              </a:rPr>
              <a:t>is therefore awarded the</a:t>
            </a:r>
          </a:p>
          <a:p>
            <a:pPr algn="ctr"/>
            <a:r>
              <a:rPr lang="en-AU" sz="1800" dirty="0">
                <a:latin typeface="Times New Roman" panose="02020603050405020304" pitchFamily="18" charset="0"/>
                <a:cs typeface="Times New Roman" panose="02020603050405020304" pitchFamily="18" charset="0"/>
              </a:rPr>
              <a:t>Campaign Medallion Tier 2 with </a:t>
            </a:r>
            <a:r>
              <a:rPr lang="en-AU" dirty="0">
                <a:latin typeface="Times New Roman" panose="02020603050405020304" pitchFamily="18" charset="0"/>
                <a:cs typeface="Times New Roman" panose="02020603050405020304" pitchFamily="18" charset="0"/>
              </a:rPr>
              <a:t>second</a:t>
            </a:r>
            <a:r>
              <a:rPr lang="en-AU" sz="1800" dirty="0">
                <a:latin typeface="Times New Roman" panose="02020603050405020304" pitchFamily="18" charset="0"/>
                <a:cs typeface="Times New Roman" panose="02020603050405020304" pitchFamily="18" charset="0"/>
              </a:rPr>
              <a:t> clasp</a:t>
            </a:r>
            <a:r>
              <a:rPr lang="en-AU" dirty="0">
                <a:latin typeface="Times New Roman" panose="02020603050405020304" pitchFamily="18" charset="0"/>
                <a:cs typeface="Times New Roman" panose="02020603050405020304" pitchFamily="18" charset="0"/>
              </a:rPr>
              <a:t>.</a:t>
            </a:r>
          </a:p>
        </p:txBody>
      </p:sp>
      <p:pic>
        <p:nvPicPr>
          <p:cNvPr id="13" name="Picture 12">
            <a:extLst>
              <a:ext uri="{FF2B5EF4-FFF2-40B4-BE49-F238E27FC236}">
                <a16:creationId xmlns:a16="http://schemas.microsoft.com/office/drawing/2014/main" id="{35F93019-370E-D57B-24F1-4ABF6A4D197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67183" y="789201"/>
            <a:ext cx="856179" cy="1838266"/>
          </a:xfrm>
          <a:prstGeom prst="rect">
            <a:avLst/>
          </a:prstGeom>
        </p:spPr>
      </p:pic>
      <p:sp>
        <p:nvSpPr>
          <p:cNvPr id="10" name="TextBox 33">
            <a:extLst>
              <a:ext uri="{FF2B5EF4-FFF2-40B4-BE49-F238E27FC236}">
                <a16:creationId xmlns:a16="http://schemas.microsoft.com/office/drawing/2014/main" id="{2DCEDE6A-E8D5-D8EF-CE3C-63D409027C66}"/>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cxnSp>
        <p:nvCxnSpPr>
          <p:cNvPr id="21" name="Straight Connector 31">
            <a:extLst>
              <a:ext uri="{FF2B5EF4-FFF2-40B4-BE49-F238E27FC236}">
                <a16:creationId xmlns:a16="http://schemas.microsoft.com/office/drawing/2014/main" id="{A1B8F36E-1986-8CDD-A1B4-637FF260CDCB}"/>
              </a:ext>
            </a:extLst>
          </p:cNvPr>
          <p:cNvCxnSpPr/>
          <p:nvPr/>
        </p:nvCxnSpPr>
        <p:spPr>
          <a:xfrm flipH="1">
            <a:off x="5849280" y="6918120"/>
            <a:ext cx="2452680" cy="1440"/>
          </a:xfrm>
          <a:prstGeom prst="straightConnector1">
            <a:avLst/>
          </a:prstGeom>
          <a:ln w="12700">
            <a:solidFill>
              <a:srgbClr val="000000"/>
            </a:solidFill>
            <a:round/>
          </a:ln>
        </p:spPr>
      </p:cxnSp>
      <p:sp>
        <p:nvSpPr>
          <p:cNvPr id="2" name="Google Shape;90;p1">
            <a:extLst>
              <a:ext uri="{FF2B5EF4-FFF2-40B4-BE49-F238E27FC236}">
                <a16:creationId xmlns:a16="http://schemas.microsoft.com/office/drawing/2014/main" id="{671C2AD0-A784-0F3F-E640-41CC8A8EC41F}"/>
              </a:ext>
            </a:extLst>
          </p:cNvPr>
          <p:cNvSpPr/>
          <p:nvPr/>
        </p:nvSpPr>
        <p:spPr>
          <a:xfrm>
            <a:off x="4905450" y="6882257"/>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7" name="Google Shape;347;p28">
            <a:extLst>
              <a:ext uri="{FF2B5EF4-FFF2-40B4-BE49-F238E27FC236}">
                <a16:creationId xmlns:a16="http://schemas.microsoft.com/office/drawing/2014/main" id="{33C48DA6-0665-5D83-1DFC-23E73F674D84}"/>
              </a:ext>
            </a:extLst>
          </p:cNvPr>
          <p:cNvSpPr/>
          <p:nvPr/>
        </p:nvSpPr>
        <p:spPr>
          <a:xfrm>
            <a:off x="4852260" y="6412873"/>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extLst>
      <p:ext uri="{BB962C8B-B14F-4D97-AF65-F5344CB8AC3E}">
        <p14:creationId xmlns:p14="http://schemas.microsoft.com/office/powerpoint/2010/main" val="16014130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02F8D24D-B690-429A-B31A-EE075F591D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9151" y="714375"/>
            <a:ext cx="12430124" cy="7105650"/>
          </a:xfrm>
          <a:prstGeom prst="rect">
            <a:avLst/>
          </a:prstGeom>
        </p:spPr>
      </p:pic>
      <p:pic>
        <p:nvPicPr>
          <p:cNvPr id="20" name="Picture 19">
            <a:extLst>
              <a:ext uri="{FF2B5EF4-FFF2-40B4-BE49-F238E27FC236}">
                <a16:creationId xmlns:a16="http://schemas.microsoft.com/office/drawing/2014/main" id="{E93A7C25-E6EB-404F-B46D-2C23D8281883}"/>
              </a:ext>
            </a:extLst>
          </p:cNvPr>
          <p:cNvPicPr>
            <a:picLocks noChangeAspect="1"/>
          </p:cNvPicPr>
          <p:nvPr/>
        </p:nvPicPr>
        <p:blipFill rotWithShape="1">
          <a:blip r:embed="rId3">
            <a:extLst>
              <a:ext uri="{28A0092B-C50C-407E-A947-70E740481C1C}">
                <a14:useLocalDpi xmlns:a14="http://schemas.microsoft.com/office/drawing/2010/main" val="0"/>
              </a:ext>
            </a:extLst>
          </a:blip>
          <a:srcRect l="10028" t="12537" r="10465" b="20263"/>
          <a:stretch/>
        </p:blipFill>
        <p:spPr>
          <a:xfrm>
            <a:off x="0" y="3090"/>
            <a:ext cx="14039850" cy="8456697"/>
          </a:xfrm>
          <a:prstGeom prst="rect">
            <a:avLst/>
          </a:prstGeom>
        </p:spPr>
      </p:pic>
      <p:sp>
        <p:nvSpPr>
          <p:cNvPr id="8" name="TextBox 7">
            <a:extLst>
              <a:ext uri="{FF2B5EF4-FFF2-40B4-BE49-F238E27FC236}">
                <a16:creationId xmlns:a16="http://schemas.microsoft.com/office/drawing/2014/main" id="{D7E785A6-A2A0-41EA-A1D2-14E262272345}"/>
              </a:ext>
            </a:extLst>
          </p:cNvPr>
          <p:cNvSpPr txBox="1"/>
          <p:nvPr/>
        </p:nvSpPr>
        <p:spPr>
          <a:xfrm>
            <a:off x="1668886" y="2526227"/>
            <a:ext cx="10737849" cy="646203"/>
          </a:xfrm>
          <a:prstGeom prst="rect">
            <a:avLst/>
          </a:prstGeom>
          <a:noFill/>
        </p:spPr>
        <p:txBody>
          <a:bodyPr wrap="square" rtlCol="0">
            <a:spAutoFit/>
          </a:bodyPr>
          <a:lstStyle/>
          <a:p>
            <a:pPr algn="ctr"/>
            <a:r>
              <a:rPr lang="en-AU" sz="3599" dirty="0">
                <a:latin typeface="Times New Roman" panose="02020603050405020304" pitchFamily="18" charset="0"/>
                <a:cs typeface="Times New Roman" panose="02020603050405020304" pitchFamily="18" charset="0"/>
              </a:rPr>
              <a:t>AUSTRALIAN SPECIAL OPERATIONS TASKFORCE</a:t>
            </a:r>
          </a:p>
        </p:txBody>
      </p:sp>
      <p:sp>
        <p:nvSpPr>
          <p:cNvPr id="9" name="TextBox 8">
            <a:extLst>
              <a:ext uri="{FF2B5EF4-FFF2-40B4-BE49-F238E27FC236}">
                <a16:creationId xmlns:a16="http://schemas.microsoft.com/office/drawing/2014/main" id="{CEE68CE4-34AF-4ADF-B29B-D28BDCB22EE8}"/>
              </a:ext>
            </a:extLst>
          </p:cNvPr>
          <p:cNvSpPr txBox="1"/>
          <p:nvPr/>
        </p:nvSpPr>
        <p:spPr>
          <a:xfrm>
            <a:off x="4094814" y="2918089"/>
            <a:ext cx="6072189" cy="646203"/>
          </a:xfrm>
          <a:prstGeom prst="rect">
            <a:avLst/>
          </a:prstGeom>
          <a:noFill/>
        </p:spPr>
        <p:txBody>
          <a:bodyPr wrap="square" rtlCol="0">
            <a:spAutoFit/>
          </a:bodyPr>
          <a:lstStyle/>
          <a:p>
            <a:pPr algn="ctr"/>
            <a:r>
              <a:rPr lang="en-AU" sz="2400" dirty="0">
                <a:latin typeface="Times New Roman" panose="02020603050405020304" pitchFamily="18" charset="0"/>
                <a:cs typeface="Times New Roman" panose="02020603050405020304" pitchFamily="18" charset="0"/>
              </a:rPr>
              <a:t>This is to certify that command has awarded the</a:t>
            </a:r>
            <a:r>
              <a:rPr lang="en-AU" sz="3599" dirty="0">
                <a:latin typeface="Times New Roman" panose="02020603050405020304" pitchFamily="18" charset="0"/>
                <a:cs typeface="Times New Roman" panose="02020603050405020304" pitchFamily="18" charset="0"/>
              </a:rPr>
              <a:t> </a:t>
            </a:r>
          </a:p>
        </p:txBody>
      </p:sp>
      <p:sp>
        <p:nvSpPr>
          <p:cNvPr id="12" name="TextBox 11">
            <a:extLst>
              <a:ext uri="{FF2B5EF4-FFF2-40B4-BE49-F238E27FC236}">
                <a16:creationId xmlns:a16="http://schemas.microsoft.com/office/drawing/2014/main" id="{66251F15-5C9B-4076-9AC4-A7542F35F809}"/>
              </a:ext>
            </a:extLst>
          </p:cNvPr>
          <p:cNvSpPr txBox="1"/>
          <p:nvPr/>
        </p:nvSpPr>
        <p:spPr>
          <a:xfrm>
            <a:off x="6723495" y="3932030"/>
            <a:ext cx="592891" cy="461665"/>
          </a:xfrm>
          <a:prstGeom prst="rect">
            <a:avLst/>
          </a:prstGeom>
          <a:noFill/>
        </p:spPr>
        <p:txBody>
          <a:bodyPr wrap="square" rtlCol="0">
            <a:spAutoFit/>
          </a:bodyPr>
          <a:lstStyle/>
          <a:p>
            <a:pPr algn="ctr"/>
            <a:r>
              <a:rPr lang="en-AU" sz="2400" dirty="0">
                <a:latin typeface="Times New Roman" panose="02020603050405020304" pitchFamily="18" charset="0"/>
                <a:cs typeface="Times New Roman" panose="02020603050405020304" pitchFamily="18" charset="0"/>
              </a:rPr>
              <a:t>TO</a:t>
            </a:r>
          </a:p>
        </p:txBody>
      </p:sp>
      <p:pic>
        <p:nvPicPr>
          <p:cNvPr id="3" name="Picture 2">
            <a:extLst>
              <a:ext uri="{FF2B5EF4-FFF2-40B4-BE49-F238E27FC236}">
                <a16:creationId xmlns:a16="http://schemas.microsoft.com/office/drawing/2014/main" id="{60284F50-8D17-4ED6-AFBB-6246451EE4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81551" y="6171659"/>
            <a:ext cx="1572386" cy="1372265"/>
          </a:xfrm>
          <a:prstGeom prst="rect">
            <a:avLst/>
          </a:prstGeom>
        </p:spPr>
      </p:pic>
      <p:pic>
        <p:nvPicPr>
          <p:cNvPr id="5" name="Picture 4">
            <a:extLst>
              <a:ext uri="{FF2B5EF4-FFF2-40B4-BE49-F238E27FC236}">
                <a16:creationId xmlns:a16="http://schemas.microsoft.com/office/drawing/2014/main" id="{2AAA12D2-3373-46F3-9023-5E737A57AC8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68892" y="6107880"/>
            <a:ext cx="1394987" cy="1442544"/>
          </a:xfrm>
          <a:prstGeom prst="rect">
            <a:avLst/>
          </a:prstGeom>
        </p:spPr>
      </p:pic>
      <p:sp>
        <p:nvSpPr>
          <p:cNvPr id="15" name="TextBox 14">
            <a:extLst>
              <a:ext uri="{FF2B5EF4-FFF2-40B4-BE49-F238E27FC236}">
                <a16:creationId xmlns:a16="http://schemas.microsoft.com/office/drawing/2014/main" id="{0DBB7150-9B2C-C26D-3305-A7DB02A80770}"/>
              </a:ext>
            </a:extLst>
          </p:cNvPr>
          <p:cNvSpPr txBox="1"/>
          <p:nvPr/>
        </p:nvSpPr>
        <p:spPr>
          <a:xfrm>
            <a:off x="2890374" y="3418013"/>
            <a:ext cx="8287677" cy="646203"/>
          </a:xfrm>
          <a:prstGeom prst="rect">
            <a:avLst/>
          </a:prstGeom>
          <a:noFill/>
        </p:spPr>
        <p:txBody>
          <a:bodyPr wrap="square" rtlCol="0">
            <a:spAutoFit/>
          </a:bodyPr>
          <a:lstStyle/>
          <a:p>
            <a:pPr algn="ctr"/>
            <a:r>
              <a:rPr lang="en-AU" sz="3599" dirty="0">
                <a:latin typeface="Times New Roman" panose="02020603050405020304" pitchFamily="18" charset="0"/>
                <a:cs typeface="Times New Roman" panose="02020603050405020304" pitchFamily="18" charset="0"/>
              </a:rPr>
              <a:t>Campaign Medallion Tier 2 Third Clasp</a:t>
            </a:r>
          </a:p>
        </p:txBody>
      </p:sp>
      <p:sp>
        <p:nvSpPr>
          <p:cNvPr id="4" name="TextBox 3">
            <a:extLst>
              <a:ext uri="{FF2B5EF4-FFF2-40B4-BE49-F238E27FC236}">
                <a16:creationId xmlns:a16="http://schemas.microsoft.com/office/drawing/2014/main" id="{AD3D0B76-8537-0116-E409-90D47BA45611}"/>
              </a:ext>
            </a:extLst>
          </p:cNvPr>
          <p:cNvSpPr txBox="1"/>
          <p:nvPr/>
        </p:nvSpPr>
        <p:spPr>
          <a:xfrm>
            <a:off x="1611043" y="4975159"/>
            <a:ext cx="10817764" cy="1415772"/>
          </a:xfrm>
          <a:prstGeom prst="rect">
            <a:avLst/>
          </a:prstGeom>
          <a:noFill/>
        </p:spPr>
        <p:txBody>
          <a:bodyPr wrap="square" rtlCol="0">
            <a:spAutoFit/>
          </a:bodyPr>
          <a:lstStyle/>
          <a:p>
            <a:pPr algn="ctr" rtl="0">
              <a:spcBef>
                <a:spcPts val="0"/>
              </a:spcBef>
              <a:spcAft>
                <a:spcPts val="0"/>
              </a:spcAft>
            </a:pPr>
            <a:r>
              <a:rPr lang="en-AU" sz="1800" dirty="0">
                <a:solidFill>
                  <a:srgbClr val="000000"/>
                </a:solidFill>
                <a:latin typeface="Times New Roman" panose="02020603050405020304" pitchFamily="18" charset="0"/>
                <a:cs typeface="Times New Roman" panose="02020603050405020304" pitchFamily="18" charset="0"/>
              </a:rPr>
              <a:t>{name} </a:t>
            </a:r>
            <a:r>
              <a:rPr lang="en-AU" sz="1800" b="0" i="0" u="none" strike="noStrike" dirty="0">
                <a:solidFill>
                  <a:srgbClr val="000000"/>
                </a:solidFill>
                <a:effectLst/>
                <a:latin typeface="Times New Roman" panose="02020603050405020304" pitchFamily="18" charset="0"/>
              </a:rPr>
              <a:t>has seen service with the Australian Special Operations Taskforce in multiple theatres of operations, successfully providing aid and conducting combat operations across the globe.</a:t>
            </a:r>
            <a:endParaRPr lang="en-AU" sz="1600" b="0" dirty="0">
              <a:effectLst/>
            </a:endParaRPr>
          </a:p>
          <a:p>
            <a:pPr algn="ctr" rtl="0">
              <a:spcBef>
                <a:spcPts val="0"/>
              </a:spcBef>
              <a:spcAft>
                <a:spcPts val="0"/>
              </a:spcAft>
            </a:pPr>
            <a:r>
              <a:rPr lang="en-AU" sz="1800" b="0" i="0" u="none" strike="noStrike" dirty="0">
                <a:solidFill>
                  <a:srgbClr val="000000"/>
                </a:solidFill>
                <a:effectLst/>
                <a:latin typeface="Times New Roman" panose="02020603050405020304" pitchFamily="18" charset="0"/>
              </a:rPr>
              <a:t>They are characterised by their commitment to duty and peace.</a:t>
            </a:r>
            <a:endParaRPr lang="en-AU" sz="1600" b="0" dirty="0">
              <a:effectLst/>
            </a:endParaRPr>
          </a:p>
          <a:p>
            <a:br>
              <a:rPr lang="en-AU" sz="1600" dirty="0"/>
            </a:br>
            <a:endParaRPr lang="en-AU" sz="1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718E15B-7258-714F-DC79-C32D439E9315}"/>
              </a:ext>
            </a:extLst>
          </p:cNvPr>
          <p:cNvSpPr txBox="1"/>
          <p:nvPr/>
        </p:nvSpPr>
        <p:spPr>
          <a:xfrm>
            <a:off x="2003790" y="5847649"/>
            <a:ext cx="10032270" cy="646331"/>
          </a:xfrm>
          <a:prstGeom prst="rect">
            <a:avLst/>
          </a:prstGeom>
          <a:noFill/>
        </p:spPr>
        <p:txBody>
          <a:bodyPr wrap="square" rtlCol="0">
            <a:spAutoFit/>
          </a:bodyPr>
          <a:lstStyle/>
          <a:p>
            <a:pPr algn="ctr"/>
            <a:r>
              <a:rPr lang="en-AU" dirty="0">
                <a:latin typeface="Times New Roman" panose="02020603050405020304" pitchFamily="18" charset="0"/>
                <a:cs typeface="Times New Roman" panose="02020603050405020304" pitchFamily="18" charset="0"/>
              </a:rPr>
              <a:t>On today’s date, </a:t>
            </a:r>
            <a:r>
              <a:rPr lang="en-AU" i="1" dirty="0">
                <a:latin typeface="Times New Roman" panose="02020603050405020304" pitchFamily="18" charset="0"/>
                <a:cs typeface="Times New Roman" panose="02020603050405020304" pitchFamily="18" charset="0"/>
              </a:rPr>
              <a:t>{</a:t>
            </a:r>
            <a:r>
              <a:rPr lang="en-AU" i="1" dirty="0" err="1">
                <a:latin typeface="Times New Roman" panose="02020603050405020304" pitchFamily="18" charset="0"/>
                <a:cs typeface="Times New Roman" panose="02020603050405020304" pitchFamily="18" charset="0"/>
              </a:rPr>
              <a:t>dateNumber</a:t>
            </a:r>
            <a:r>
              <a:rPr lang="en-AU" sz="1800" b="0" i="1" strike="noStrike" spc="-1" dirty="0">
                <a:solidFill>
                  <a:srgbClr val="000000"/>
                </a:solidFill>
                <a:latin typeface="Times New Roman"/>
                <a:ea typeface="DejaVu Sans"/>
              </a:rPr>
              <a:t>}</a:t>
            </a:r>
            <a:r>
              <a:rPr lang="en-AU" sz="1800" b="0" i="1" strike="noStrike" spc="-1" baseline="30000" dirty="0">
                <a:solidFill>
                  <a:srgbClr val="000000"/>
                </a:solidFill>
                <a:latin typeface="Times New Roman"/>
                <a:ea typeface="DejaVu Sans"/>
              </a:rPr>
              <a:t>{suffix}</a:t>
            </a:r>
            <a:r>
              <a:rPr lang="en-AU" sz="1800" b="0" i="1" strike="noStrike" spc="-1" dirty="0">
                <a:solidFill>
                  <a:srgbClr val="000000"/>
                </a:solidFill>
                <a:latin typeface="Times New Roman"/>
                <a:ea typeface="DejaVu Sans"/>
              </a:rPr>
              <a:t> </a:t>
            </a:r>
            <a:r>
              <a:rPr lang="en-AU" i="1" dirty="0">
                <a:latin typeface="Times New Roman" panose="02020603050405020304" pitchFamily="18" charset="0"/>
                <a:cs typeface="Times New Roman" panose="02020603050405020304" pitchFamily="18" charset="0"/>
              </a:rPr>
              <a:t>{date}</a:t>
            </a:r>
            <a:r>
              <a:rPr lang="en-AU" dirty="0">
                <a:latin typeface="Times New Roman" panose="02020603050405020304" pitchFamily="18" charset="0"/>
                <a:cs typeface="Times New Roman" panose="02020603050405020304" pitchFamily="18" charset="0"/>
              </a:rPr>
              <a:t>, </a:t>
            </a:r>
            <a:r>
              <a:rPr lang="en-AU" sz="1800" dirty="0">
                <a:solidFill>
                  <a:srgbClr val="000000"/>
                </a:solidFill>
                <a:latin typeface="Times New Roman" panose="02020603050405020304" pitchFamily="18" charset="0"/>
                <a:cs typeface="Times New Roman" panose="02020603050405020304" pitchFamily="18" charset="0"/>
              </a:rPr>
              <a:t>{name} </a:t>
            </a:r>
            <a:r>
              <a:rPr lang="en-AU" dirty="0">
                <a:latin typeface="Times New Roman" panose="02020603050405020304" pitchFamily="18" charset="0"/>
                <a:cs typeface="Times New Roman" panose="02020603050405020304" pitchFamily="18" charset="0"/>
              </a:rPr>
              <a:t>is therefore awarded the</a:t>
            </a:r>
          </a:p>
          <a:p>
            <a:pPr algn="ctr"/>
            <a:r>
              <a:rPr lang="en-AU" sz="1800" dirty="0">
                <a:latin typeface="Times New Roman" panose="02020603050405020304" pitchFamily="18" charset="0"/>
                <a:cs typeface="Times New Roman" panose="02020603050405020304" pitchFamily="18" charset="0"/>
              </a:rPr>
              <a:t>Campaign Medallion Tier 2 with t</a:t>
            </a:r>
            <a:r>
              <a:rPr lang="en-AU" dirty="0">
                <a:latin typeface="Times New Roman" panose="02020603050405020304" pitchFamily="18" charset="0"/>
                <a:cs typeface="Times New Roman" panose="02020603050405020304" pitchFamily="18" charset="0"/>
              </a:rPr>
              <a:t>hird</a:t>
            </a:r>
            <a:r>
              <a:rPr lang="en-AU" sz="1800" dirty="0">
                <a:latin typeface="Times New Roman" panose="02020603050405020304" pitchFamily="18" charset="0"/>
                <a:cs typeface="Times New Roman" panose="02020603050405020304" pitchFamily="18" charset="0"/>
              </a:rPr>
              <a:t> clasp</a:t>
            </a:r>
            <a:r>
              <a:rPr lang="en-AU" dirty="0">
                <a:latin typeface="Times New Roman" panose="02020603050405020304" pitchFamily="18" charset="0"/>
                <a:cs typeface="Times New Roman" panose="02020603050405020304" pitchFamily="18" charset="0"/>
              </a:rPr>
              <a:t>.</a:t>
            </a:r>
          </a:p>
        </p:txBody>
      </p:sp>
      <p:pic>
        <p:nvPicPr>
          <p:cNvPr id="10" name="Picture 9">
            <a:extLst>
              <a:ext uri="{FF2B5EF4-FFF2-40B4-BE49-F238E27FC236}">
                <a16:creationId xmlns:a16="http://schemas.microsoft.com/office/drawing/2014/main" id="{27BDE3E0-966A-DADC-A5FD-56C75EA5FD6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74002" y="789201"/>
            <a:ext cx="856179" cy="1838266"/>
          </a:xfrm>
          <a:prstGeom prst="rect">
            <a:avLst/>
          </a:prstGeom>
        </p:spPr>
      </p:pic>
      <p:sp>
        <p:nvSpPr>
          <p:cNvPr id="13" name="TextBox 33">
            <a:extLst>
              <a:ext uri="{FF2B5EF4-FFF2-40B4-BE49-F238E27FC236}">
                <a16:creationId xmlns:a16="http://schemas.microsoft.com/office/drawing/2014/main" id="{B9E0B154-F590-16A3-4A3D-49FD4ADB14DF}"/>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cxnSp>
        <p:nvCxnSpPr>
          <p:cNvPr id="19" name="Straight Connector 31">
            <a:extLst>
              <a:ext uri="{FF2B5EF4-FFF2-40B4-BE49-F238E27FC236}">
                <a16:creationId xmlns:a16="http://schemas.microsoft.com/office/drawing/2014/main" id="{104CAF61-6235-BA57-7667-567721BB3A1C}"/>
              </a:ext>
            </a:extLst>
          </p:cNvPr>
          <p:cNvCxnSpPr/>
          <p:nvPr/>
        </p:nvCxnSpPr>
        <p:spPr>
          <a:xfrm flipH="1">
            <a:off x="5849280" y="6918120"/>
            <a:ext cx="2452680" cy="1440"/>
          </a:xfrm>
          <a:prstGeom prst="straightConnector1">
            <a:avLst/>
          </a:prstGeom>
          <a:ln w="12700">
            <a:solidFill>
              <a:srgbClr val="000000"/>
            </a:solidFill>
            <a:round/>
          </a:ln>
        </p:spPr>
      </p:cxnSp>
      <p:sp>
        <p:nvSpPr>
          <p:cNvPr id="2" name="Google Shape;90;p1">
            <a:extLst>
              <a:ext uri="{FF2B5EF4-FFF2-40B4-BE49-F238E27FC236}">
                <a16:creationId xmlns:a16="http://schemas.microsoft.com/office/drawing/2014/main" id="{D0654254-A017-0E35-7AEB-310F3605FD50}"/>
              </a:ext>
            </a:extLst>
          </p:cNvPr>
          <p:cNvSpPr/>
          <p:nvPr/>
        </p:nvSpPr>
        <p:spPr>
          <a:xfrm>
            <a:off x="4905450" y="6882257"/>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7" name="Google Shape;347;p28">
            <a:extLst>
              <a:ext uri="{FF2B5EF4-FFF2-40B4-BE49-F238E27FC236}">
                <a16:creationId xmlns:a16="http://schemas.microsoft.com/office/drawing/2014/main" id="{D5CCA120-0D5C-D5D2-320F-5AABE067522A}"/>
              </a:ext>
            </a:extLst>
          </p:cNvPr>
          <p:cNvSpPr/>
          <p:nvPr/>
        </p:nvSpPr>
        <p:spPr>
          <a:xfrm>
            <a:off x="4852260" y="6412873"/>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extLst>
      <p:ext uri="{BB962C8B-B14F-4D97-AF65-F5344CB8AC3E}">
        <p14:creationId xmlns:p14="http://schemas.microsoft.com/office/powerpoint/2010/main" val="25812106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02F8D24D-B690-429A-B31A-EE075F591D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9151" y="714375"/>
            <a:ext cx="12430124" cy="7105650"/>
          </a:xfrm>
          <a:prstGeom prst="rect">
            <a:avLst/>
          </a:prstGeom>
        </p:spPr>
      </p:pic>
      <p:pic>
        <p:nvPicPr>
          <p:cNvPr id="20" name="Picture 19">
            <a:extLst>
              <a:ext uri="{FF2B5EF4-FFF2-40B4-BE49-F238E27FC236}">
                <a16:creationId xmlns:a16="http://schemas.microsoft.com/office/drawing/2014/main" id="{E93A7C25-E6EB-404F-B46D-2C23D8281883}"/>
              </a:ext>
            </a:extLst>
          </p:cNvPr>
          <p:cNvPicPr>
            <a:picLocks noChangeAspect="1"/>
          </p:cNvPicPr>
          <p:nvPr/>
        </p:nvPicPr>
        <p:blipFill rotWithShape="1">
          <a:blip r:embed="rId3">
            <a:extLst>
              <a:ext uri="{28A0092B-C50C-407E-A947-70E740481C1C}">
                <a14:useLocalDpi xmlns:a14="http://schemas.microsoft.com/office/drawing/2010/main" val="0"/>
              </a:ext>
            </a:extLst>
          </a:blip>
          <a:srcRect l="10028" t="12537" r="10465" b="20263"/>
          <a:stretch/>
        </p:blipFill>
        <p:spPr>
          <a:xfrm>
            <a:off x="0" y="3090"/>
            <a:ext cx="14039850" cy="8456697"/>
          </a:xfrm>
          <a:prstGeom prst="rect">
            <a:avLst/>
          </a:prstGeom>
        </p:spPr>
      </p:pic>
      <p:sp>
        <p:nvSpPr>
          <p:cNvPr id="8" name="TextBox 7">
            <a:extLst>
              <a:ext uri="{FF2B5EF4-FFF2-40B4-BE49-F238E27FC236}">
                <a16:creationId xmlns:a16="http://schemas.microsoft.com/office/drawing/2014/main" id="{D7E785A6-A2A0-41EA-A1D2-14E262272345}"/>
              </a:ext>
            </a:extLst>
          </p:cNvPr>
          <p:cNvSpPr txBox="1"/>
          <p:nvPr/>
        </p:nvSpPr>
        <p:spPr>
          <a:xfrm>
            <a:off x="1668886" y="2526227"/>
            <a:ext cx="10737849" cy="646203"/>
          </a:xfrm>
          <a:prstGeom prst="rect">
            <a:avLst/>
          </a:prstGeom>
          <a:noFill/>
        </p:spPr>
        <p:txBody>
          <a:bodyPr wrap="square" rtlCol="0">
            <a:spAutoFit/>
          </a:bodyPr>
          <a:lstStyle/>
          <a:p>
            <a:pPr algn="ctr"/>
            <a:r>
              <a:rPr lang="en-AU" sz="3599" dirty="0">
                <a:latin typeface="Times New Roman" panose="02020603050405020304" pitchFamily="18" charset="0"/>
                <a:cs typeface="Times New Roman" panose="02020603050405020304" pitchFamily="18" charset="0"/>
              </a:rPr>
              <a:t>AUSTRALIAN SPECIAL OPERATIONS TASKFORCE</a:t>
            </a:r>
          </a:p>
        </p:txBody>
      </p:sp>
      <p:sp>
        <p:nvSpPr>
          <p:cNvPr id="9" name="TextBox 8">
            <a:extLst>
              <a:ext uri="{FF2B5EF4-FFF2-40B4-BE49-F238E27FC236}">
                <a16:creationId xmlns:a16="http://schemas.microsoft.com/office/drawing/2014/main" id="{CEE68CE4-34AF-4ADF-B29B-D28BDCB22EE8}"/>
              </a:ext>
            </a:extLst>
          </p:cNvPr>
          <p:cNvSpPr txBox="1"/>
          <p:nvPr/>
        </p:nvSpPr>
        <p:spPr>
          <a:xfrm>
            <a:off x="4094814" y="2918089"/>
            <a:ext cx="6072189" cy="646203"/>
          </a:xfrm>
          <a:prstGeom prst="rect">
            <a:avLst/>
          </a:prstGeom>
          <a:noFill/>
        </p:spPr>
        <p:txBody>
          <a:bodyPr wrap="square" rtlCol="0">
            <a:spAutoFit/>
          </a:bodyPr>
          <a:lstStyle/>
          <a:p>
            <a:pPr algn="ctr"/>
            <a:r>
              <a:rPr lang="en-AU" sz="2400" dirty="0">
                <a:latin typeface="Times New Roman" panose="02020603050405020304" pitchFamily="18" charset="0"/>
                <a:cs typeface="Times New Roman" panose="02020603050405020304" pitchFamily="18" charset="0"/>
              </a:rPr>
              <a:t>This is to certify that command has awarded the</a:t>
            </a:r>
            <a:r>
              <a:rPr lang="en-AU" sz="3599" dirty="0">
                <a:latin typeface="Times New Roman" panose="02020603050405020304" pitchFamily="18" charset="0"/>
                <a:cs typeface="Times New Roman" panose="02020603050405020304" pitchFamily="18" charset="0"/>
              </a:rPr>
              <a:t> </a:t>
            </a:r>
          </a:p>
        </p:txBody>
      </p:sp>
      <p:sp>
        <p:nvSpPr>
          <p:cNvPr id="12" name="TextBox 11">
            <a:extLst>
              <a:ext uri="{FF2B5EF4-FFF2-40B4-BE49-F238E27FC236}">
                <a16:creationId xmlns:a16="http://schemas.microsoft.com/office/drawing/2014/main" id="{66251F15-5C9B-4076-9AC4-A7542F35F809}"/>
              </a:ext>
            </a:extLst>
          </p:cNvPr>
          <p:cNvSpPr txBox="1"/>
          <p:nvPr/>
        </p:nvSpPr>
        <p:spPr>
          <a:xfrm>
            <a:off x="6723495" y="3932030"/>
            <a:ext cx="592891" cy="461665"/>
          </a:xfrm>
          <a:prstGeom prst="rect">
            <a:avLst/>
          </a:prstGeom>
          <a:noFill/>
        </p:spPr>
        <p:txBody>
          <a:bodyPr wrap="square" rtlCol="0">
            <a:spAutoFit/>
          </a:bodyPr>
          <a:lstStyle/>
          <a:p>
            <a:pPr algn="ctr"/>
            <a:r>
              <a:rPr lang="en-AU" sz="2400" dirty="0">
                <a:latin typeface="Times New Roman" panose="02020603050405020304" pitchFamily="18" charset="0"/>
                <a:cs typeface="Times New Roman" panose="02020603050405020304" pitchFamily="18" charset="0"/>
              </a:rPr>
              <a:t>TO</a:t>
            </a:r>
          </a:p>
        </p:txBody>
      </p:sp>
      <p:pic>
        <p:nvPicPr>
          <p:cNvPr id="3" name="Picture 2">
            <a:extLst>
              <a:ext uri="{FF2B5EF4-FFF2-40B4-BE49-F238E27FC236}">
                <a16:creationId xmlns:a16="http://schemas.microsoft.com/office/drawing/2014/main" id="{60284F50-8D17-4ED6-AFBB-6246451EE4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81551" y="6171659"/>
            <a:ext cx="1572386" cy="1372265"/>
          </a:xfrm>
          <a:prstGeom prst="rect">
            <a:avLst/>
          </a:prstGeom>
        </p:spPr>
      </p:pic>
      <p:pic>
        <p:nvPicPr>
          <p:cNvPr id="5" name="Picture 4">
            <a:extLst>
              <a:ext uri="{FF2B5EF4-FFF2-40B4-BE49-F238E27FC236}">
                <a16:creationId xmlns:a16="http://schemas.microsoft.com/office/drawing/2014/main" id="{2AAA12D2-3373-46F3-9023-5E737A57AC8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68892" y="6107880"/>
            <a:ext cx="1394987" cy="1442544"/>
          </a:xfrm>
          <a:prstGeom prst="rect">
            <a:avLst/>
          </a:prstGeom>
        </p:spPr>
      </p:pic>
      <p:sp>
        <p:nvSpPr>
          <p:cNvPr id="15" name="TextBox 14">
            <a:extLst>
              <a:ext uri="{FF2B5EF4-FFF2-40B4-BE49-F238E27FC236}">
                <a16:creationId xmlns:a16="http://schemas.microsoft.com/office/drawing/2014/main" id="{0DBB7150-9B2C-C26D-3305-A7DB02A80770}"/>
              </a:ext>
            </a:extLst>
          </p:cNvPr>
          <p:cNvSpPr txBox="1"/>
          <p:nvPr/>
        </p:nvSpPr>
        <p:spPr>
          <a:xfrm>
            <a:off x="2890374" y="3418013"/>
            <a:ext cx="8287677" cy="646203"/>
          </a:xfrm>
          <a:prstGeom prst="rect">
            <a:avLst/>
          </a:prstGeom>
          <a:noFill/>
        </p:spPr>
        <p:txBody>
          <a:bodyPr wrap="square" rtlCol="0">
            <a:spAutoFit/>
          </a:bodyPr>
          <a:lstStyle/>
          <a:p>
            <a:pPr algn="ctr"/>
            <a:r>
              <a:rPr lang="en-AU" sz="3599" dirty="0">
                <a:latin typeface="Times New Roman" panose="02020603050405020304" pitchFamily="18" charset="0"/>
                <a:cs typeface="Times New Roman" panose="02020603050405020304" pitchFamily="18" charset="0"/>
              </a:rPr>
              <a:t>Campaign Medallion Tier 2 Fourth Clasp</a:t>
            </a:r>
          </a:p>
        </p:txBody>
      </p:sp>
      <p:sp>
        <p:nvSpPr>
          <p:cNvPr id="4" name="TextBox 3">
            <a:extLst>
              <a:ext uri="{FF2B5EF4-FFF2-40B4-BE49-F238E27FC236}">
                <a16:creationId xmlns:a16="http://schemas.microsoft.com/office/drawing/2014/main" id="{AD3D0B76-8537-0116-E409-90D47BA45611}"/>
              </a:ext>
            </a:extLst>
          </p:cNvPr>
          <p:cNvSpPr txBox="1"/>
          <p:nvPr/>
        </p:nvSpPr>
        <p:spPr>
          <a:xfrm>
            <a:off x="1611043" y="4975159"/>
            <a:ext cx="10817764" cy="1415772"/>
          </a:xfrm>
          <a:prstGeom prst="rect">
            <a:avLst/>
          </a:prstGeom>
          <a:noFill/>
        </p:spPr>
        <p:txBody>
          <a:bodyPr wrap="square" rtlCol="0">
            <a:spAutoFit/>
          </a:bodyPr>
          <a:lstStyle/>
          <a:p>
            <a:pPr algn="ctr" rtl="0">
              <a:spcBef>
                <a:spcPts val="0"/>
              </a:spcBef>
              <a:spcAft>
                <a:spcPts val="0"/>
              </a:spcAft>
            </a:pPr>
            <a:r>
              <a:rPr lang="en-AU" sz="1800" dirty="0">
                <a:solidFill>
                  <a:srgbClr val="000000"/>
                </a:solidFill>
                <a:latin typeface="Times New Roman" panose="02020603050405020304" pitchFamily="18" charset="0"/>
                <a:cs typeface="Times New Roman" panose="02020603050405020304" pitchFamily="18" charset="0"/>
              </a:rPr>
              <a:t>{name} </a:t>
            </a:r>
            <a:r>
              <a:rPr lang="en-AU" sz="1800" b="0" i="0" u="none" strike="noStrike" dirty="0">
                <a:solidFill>
                  <a:srgbClr val="000000"/>
                </a:solidFill>
                <a:effectLst/>
                <a:latin typeface="Times New Roman" panose="02020603050405020304" pitchFamily="18" charset="0"/>
              </a:rPr>
              <a:t>has seen service with the Australian Special Operations Taskforce in multiple theatres of operations, successfully providing aid and conducting combat operations across the globe.</a:t>
            </a:r>
            <a:endParaRPr lang="en-AU" sz="1600" b="0" dirty="0">
              <a:effectLst/>
            </a:endParaRPr>
          </a:p>
          <a:p>
            <a:pPr algn="ctr" rtl="0">
              <a:spcBef>
                <a:spcPts val="0"/>
              </a:spcBef>
              <a:spcAft>
                <a:spcPts val="0"/>
              </a:spcAft>
            </a:pPr>
            <a:r>
              <a:rPr lang="en-AU" sz="1800" b="0" i="0" u="none" strike="noStrike" dirty="0">
                <a:solidFill>
                  <a:srgbClr val="000000"/>
                </a:solidFill>
                <a:effectLst/>
                <a:latin typeface="Times New Roman" panose="02020603050405020304" pitchFamily="18" charset="0"/>
              </a:rPr>
              <a:t>They are characterised by their commitment to duty and peace.</a:t>
            </a:r>
            <a:endParaRPr lang="en-AU" sz="1600" b="0" dirty="0">
              <a:effectLst/>
            </a:endParaRPr>
          </a:p>
          <a:p>
            <a:br>
              <a:rPr lang="en-AU" sz="1600" dirty="0"/>
            </a:br>
            <a:endParaRPr lang="en-AU" sz="1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718E15B-7258-714F-DC79-C32D439E9315}"/>
              </a:ext>
            </a:extLst>
          </p:cNvPr>
          <p:cNvSpPr txBox="1"/>
          <p:nvPr/>
        </p:nvSpPr>
        <p:spPr>
          <a:xfrm>
            <a:off x="2003790" y="5847649"/>
            <a:ext cx="10032270" cy="646331"/>
          </a:xfrm>
          <a:prstGeom prst="rect">
            <a:avLst/>
          </a:prstGeom>
          <a:noFill/>
        </p:spPr>
        <p:txBody>
          <a:bodyPr wrap="square" rtlCol="0">
            <a:spAutoFit/>
          </a:bodyPr>
          <a:lstStyle/>
          <a:p>
            <a:pPr algn="ctr"/>
            <a:r>
              <a:rPr lang="en-AU" dirty="0">
                <a:latin typeface="Times New Roman" panose="02020603050405020304" pitchFamily="18" charset="0"/>
                <a:cs typeface="Times New Roman" panose="02020603050405020304" pitchFamily="18" charset="0"/>
              </a:rPr>
              <a:t>On today’s date, </a:t>
            </a:r>
            <a:r>
              <a:rPr lang="en-AU" i="1" dirty="0">
                <a:latin typeface="Times New Roman" panose="02020603050405020304" pitchFamily="18" charset="0"/>
                <a:cs typeface="Times New Roman" panose="02020603050405020304" pitchFamily="18" charset="0"/>
              </a:rPr>
              <a:t>{</a:t>
            </a:r>
            <a:r>
              <a:rPr lang="en-AU" i="1" dirty="0" err="1">
                <a:latin typeface="Times New Roman" panose="02020603050405020304" pitchFamily="18" charset="0"/>
                <a:cs typeface="Times New Roman" panose="02020603050405020304" pitchFamily="18" charset="0"/>
              </a:rPr>
              <a:t>dateNumber</a:t>
            </a:r>
            <a:r>
              <a:rPr lang="en-AU" sz="1800" b="0" i="1" strike="noStrike" spc="-1" dirty="0">
                <a:solidFill>
                  <a:srgbClr val="000000"/>
                </a:solidFill>
                <a:latin typeface="Times New Roman"/>
                <a:ea typeface="DejaVu Sans"/>
              </a:rPr>
              <a:t>}</a:t>
            </a:r>
            <a:r>
              <a:rPr lang="en-AU" sz="1800" b="0" i="1" strike="noStrike" spc="-1" baseline="30000" dirty="0">
                <a:solidFill>
                  <a:srgbClr val="000000"/>
                </a:solidFill>
                <a:latin typeface="Times New Roman"/>
                <a:ea typeface="DejaVu Sans"/>
              </a:rPr>
              <a:t>{suffix}</a:t>
            </a:r>
            <a:r>
              <a:rPr lang="en-AU" sz="1800" b="0" i="1" strike="noStrike" spc="-1" dirty="0">
                <a:solidFill>
                  <a:srgbClr val="000000"/>
                </a:solidFill>
                <a:latin typeface="Times New Roman"/>
                <a:ea typeface="DejaVu Sans"/>
              </a:rPr>
              <a:t> </a:t>
            </a:r>
            <a:r>
              <a:rPr lang="en-AU" i="1" dirty="0">
                <a:latin typeface="Times New Roman" panose="02020603050405020304" pitchFamily="18" charset="0"/>
                <a:cs typeface="Times New Roman" panose="02020603050405020304" pitchFamily="18" charset="0"/>
              </a:rPr>
              <a:t>{date}</a:t>
            </a:r>
            <a:r>
              <a:rPr lang="en-AU" dirty="0">
                <a:latin typeface="Times New Roman" panose="02020603050405020304" pitchFamily="18" charset="0"/>
                <a:cs typeface="Times New Roman" panose="02020603050405020304" pitchFamily="18" charset="0"/>
              </a:rPr>
              <a:t>, </a:t>
            </a:r>
            <a:r>
              <a:rPr lang="en-AU" sz="1800" dirty="0">
                <a:solidFill>
                  <a:srgbClr val="000000"/>
                </a:solidFill>
                <a:latin typeface="Times New Roman" panose="02020603050405020304" pitchFamily="18" charset="0"/>
                <a:cs typeface="Times New Roman" panose="02020603050405020304" pitchFamily="18" charset="0"/>
              </a:rPr>
              <a:t>{name} </a:t>
            </a:r>
            <a:r>
              <a:rPr lang="en-AU" dirty="0">
                <a:latin typeface="Times New Roman" panose="02020603050405020304" pitchFamily="18" charset="0"/>
                <a:cs typeface="Times New Roman" panose="02020603050405020304" pitchFamily="18" charset="0"/>
              </a:rPr>
              <a:t>is therefore awarded the</a:t>
            </a:r>
          </a:p>
          <a:p>
            <a:pPr algn="ctr"/>
            <a:r>
              <a:rPr lang="en-AU" sz="1800" dirty="0">
                <a:latin typeface="Times New Roman" panose="02020603050405020304" pitchFamily="18" charset="0"/>
                <a:cs typeface="Times New Roman" panose="02020603050405020304" pitchFamily="18" charset="0"/>
              </a:rPr>
              <a:t>Campaign Medallion Tier 2 with f</a:t>
            </a:r>
            <a:r>
              <a:rPr lang="en-AU" dirty="0">
                <a:latin typeface="Times New Roman" panose="02020603050405020304" pitchFamily="18" charset="0"/>
                <a:cs typeface="Times New Roman" panose="02020603050405020304" pitchFamily="18" charset="0"/>
              </a:rPr>
              <a:t>ourth</a:t>
            </a:r>
            <a:r>
              <a:rPr lang="en-AU" sz="1800" dirty="0">
                <a:latin typeface="Times New Roman" panose="02020603050405020304" pitchFamily="18" charset="0"/>
                <a:cs typeface="Times New Roman" panose="02020603050405020304" pitchFamily="18" charset="0"/>
              </a:rPr>
              <a:t> clasp</a:t>
            </a:r>
            <a:r>
              <a:rPr lang="en-AU" dirty="0">
                <a:latin typeface="Times New Roman" panose="02020603050405020304" pitchFamily="18" charset="0"/>
                <a:cs typeface="Times New Roman" panose="02020603050405020304" pitchFamily="18" charset="0"/>
              </a:rPr>
              <a:t>.</a:t>
            </a:r>
          </a:p>
        </p:txBody>
      </p:sp>
      <p:pic>
        <p:nvPicPr>
          <p:cNvPr id="2" name="Picture 1">
            <a:extLst>
              <a:ext uri="{FF2B5EF4-FFF2-40B4-BE49-F238E27FC236}">
                <a16:creationId xmlns:a16="http://schemas.microsoft.com/office/drawing/2014/main" id="{A5B98742-BCD0-5C53-E5AC-75A1779C85A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74002" y="789201"/>
            <a:ext cx="856179" cy="1838266"/>
          </a:xfrm>
          <a:prstGeom prst="rect">
            <a:avLst/>
          </a:prstGeom>
        </p:spPr>
      </p:pic>
      <p:sp>
        <p:nvSpPr>
          <p:cNvPr id="10" name="TextBox 33">
            <a:extLst>
              <a:ext uri="{FF2B5EF4-FFF2-40B4-BE49-F238E27FC236}">
                <a16:creationId xmlns:a16="http://schemas.microsoft.com/office/drawing/2014/main" id="{DECE636E-4976-4843-7876-AAAC4455C1B7}"/>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cxnSp>
        <p:nvCxnSpPr>
          <p:cNvPr id="17" name="Straight Connector 31">
            <a:extLst>
              <a:ext uri="{FF2B5EF4-FFF2-40B4-BE49-F238E27FC236}">
                <a16:creationId xmlns:a16="http://schemas.microsoft.com/office/drawing/2014/main" id="{1E2C6187-EC72-C5B3-979F-1E072C102375}"/>
              </a:ext>
            </a:extLst>
          </p:cNvPr>
          <p:cNvCxnSpPr/>
          <p:nvPr/>
        </p:nvCxnSpPr>
        <p:spPr>
          <a:xfrm flipH="1">
            <a:off x="5849280" y="6918120"/>
            <a:ext cx="2452680" cy="1440"/>
          </a:xfrm>
          <a:prstGeom prst="straightConnector1">
            <a:avLst/>
          </a:prstGeom>
          <a:ln w="12700">
            <a:solidFill>
              <a:srgbClr val="000000"/>
            </a:solidFill>
            <a:round/>
          </a:ln>
        </p:spPr>
      </p:cxnSp>
      <p:sp>
        <p:nvSpPr>
          <p:cNvPr id="14" name="Google Shape;90;p1">
            <a:extLst>
              <a:ext uri="{FF2B5EF4-FFF2-40B4-BE49-F238E27FC236}">
                <a16:creationId xmlns:a16="http://schemas.microsoft.com/office/drawing/2014/main" id="{56EAF3BF-5CC9-1CDE-0D1A-A886F7A9C4D8}"/>
              </a:ext>
            </a:extLst>
          </p:cNvPr>
          <p:cNvSpPr/>
          <p:nvPr/>
        </p:nvSpPr>
        <p:spPr>
          <a:xfrm>
            <a:off x="4905450" y="6882257"/>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19" name="Google Shape;347;p28">
            <a:extLst>
              <a:ext uri="{FF2B5EF4-FFF2-40B4-BE49-F238E27FC236}">
                <a16:creationId xmlns:a16="http://schemas.microsoft.com/office/drawing/2014/main" id="{82204863-FBC6-0BEE-5FD3-D54B32B68700}"/>
              </a:ext>
            </a:extLst>
          </p:cNvPr>
          <p:cNvSpPr/>
          <p:nvPr/>
        </p:nvSpPr>
        <p:spPr>
          <a:xfrm>
            <a:off x="4852260" y="6412873"/>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extLst>
      <p:ext uri="{BB962C8B-B14F-4D97-AF65-F5344CB8AC3E}">
        <p14:creationId xmlns:p14="http://schemas.microsoft.com/office/powerpoint/2010/main" val="23489078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02F8D24D-B690-429A-B31A-EE075F591D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9151" y="714375"/>
            <a:ext cx="12430124" cy="7105650"/>
          </a:xfrm>
          <a:prstGeom prst="rect">
            <a:avLst/>
          </a:prstGeom>
        </p:spPr>
      </p:pic>
      <p:pic>
        <p:nvPicPr>
          <p:cNvPr id="20" name="Picture 19">
            <a:extLst>
              <a:ext uri="{FF2B5EF4-FFF2-40B4-BE49-F238E27FC236}">
                <a16:creationId xmlns:a16="http://schemas.microsoft.com/office/drawing/2014/main" id="{E93A7C25-E6EB-404F-B46D-2C23D8281883}"/>
              </a:ext>
            </a:extLst>
          </p:cNvPr>
          <p:cNvPicPr>
            <a:picLocks noChangeAspect="1"/>
          </p:cNvPicPr>
          <p:nvPr/>
        </p:nvPicPr>
        <p:blipFill rotWithShape="1">
          <a:blip r:embed="rId3">
            <a:extLst>
              <a:ext uri="{28A0092B-C50C-407E-A947-70E740481C1C}">
                <a14:useLocalDpi xmlns:a14="http://schemas.microsoft.com/office/drawing/2010/main" val="0"/>
              </a:ext>
            </a:extLst>
          </a:blip>
          <a:srcRect l="10028" t="12537" r="10465" b="20263"/>
          <a:stretch/>
        </p:blipFill>
        <p:spPr>
          <a:xfrm>
            <a:off x="0" y="3090"/>
            <a:ext cx="14039850" cy="8456697"/>
          </a:xfrm>
          <a:prstGeom prst="rect">
            <a:avLst/>
          </a:prstGeom>
        </p:spPr>
      </p:pic>
      <p:sp>
        <p:nvSpPr>
          <p:cNvPr id="8" name="TextBox 7">
            <a:extLst>
              <a:ext uri="{FF2B5EF4-FFF2-40B4-BE49-F238E27FC236}">
                <a16:creationId xmlns:a16="http://schemas.microsoft.com/office/drawing/2014/main" id="{D7E785A6-A2A0-41EA-A1D2-14E262272345}"/>
              </a:ext>
            </a:extLst>
          </p:cNvPr>
          <p:cNvSpPr txBox="1"/>
          <p:nvPr/>
        </p:nvSpPr>
        <p:spPr>
          <a:xfrm>
            <a:off x="1668886" y="2526227"/>
            <a:ext cx="10737849" cy="646203"/>
          </a:xfrm>
          <a:prstGeom prst="rect">
            <a:avLst/>
          </a:prstGeom>
          <a:noFill/>
        </p:spPr>
        <p:txBody>
          <a:bodyPr wrap="square" rtlCol="0">
            <a:spAutoFit/>
          </a:bodyPr>
          <a:lstStyle/>
          <a:p>
            <a:pPr algn="ctr"/>
            <a:r>
              <a:rPr lang="en-AU" sz="3599" dirty="0">
                <a:latin typeface="Times New Roman" panose="02020603050405020304" pitchFamily="18" charset="0"/>
                <a:cs typeface="Times New Roman" panose="02020603050405020304" pitchFamily="18" charset="0"/>
              </a:rPr>
              <a:t>AUSTRALIAN SPECIAL OPERATIONS TASKFORCE</a:t>
            </a:r>
          </a:p>
        </p:txBody>
      </p:sp>
      <p:sp>
        <p:nvSpPr>
          <p:cNvPr id="9" name="TextBox 8">
            <a:extLst>
              <a:ext uri="{FF2B5EF4-FFF2-40B4-BE49-F238E27FC236}">
                <a16:creationId xmlns:a16="http://schemas.microsoft.com/office/drawing/2014/main" id="{CEE68CE4-34AF-4ADF-B29B-D28BDCB22EE8}"/>
              </a:ext>
            </a:extLst>
          </p:cNvPr>
          <p:cNvSpPr txBox="1"/>
          <p:nvPr/>
        </p:nvSpPr>
        <p:spPr>
          <a:xfrm>
            <a:off x="4094814" y="2918089"/>
            <a:ext cx="6072189" cy="646203"/>
          </a:xfrm>
          <a:prstGeom prst="rect">
            <a:avLst/>
          </a:prstGeom>
          <a:noFill/>
        </p:spPr>
        <p:txBody>
          <a:bodyPr wrap="square" rtlCol="0">
            <a:spAutoFit/>
          </a:bodyPr>
          <a:lstStyle/>
          <a:p>
            <a:pPr algn="ctr"/>
            <a:r>
              <a:rPr lang="en-AU" sz="2400" dirty="0">
                <a:latin typeface="Times New Roman" panose="02020603050405020304" pitchFamily="18" charset="0"/>
                <a:cs typeface="Times New Roman" panose="02020603050405020304" pitchFamily="18" charset="0"/>
              </a:rPr>
              <a:t>This is to certify that command has awarded the</a:t>
            </a:r>
            <a:r>
              <a:rPr lang="en-AU" sz="3599" dirty="0">
                <a:latin typeface="Times New Roman" panose="02020603050405020304" pitchFamily="18" charset="0"/>
                <a:cs typeface="Times New Roman" panose="02020603050405020304" pitchFamily="18" charset="0"/>
              </a:rPr>
              <a:t> </a:t>
            </a:r>
          </a:p>
        </p:txBody>
      </p:sp>
      <p:sp>
        <p:nvSpPr>
          <p:cNvPr id="12" name="TextBox 11">
            <a:extLst>
              <a:ext uri="{FF2B5EF4-FFF2-40B4-BE49-F238E27FC236}">
                <a16:creationId xmlns:a16="http://schemas.microsoft.com/office/drawing/2014/main" id="{66251F15-5C9B-4076-9AC4-A7542F35F809}"/>
              </a:ext>
            </a:extLst>
          </p:cNvPr>
          <p:cNvSpPr txBox="1"/>
          <p:nvPr/>
        </p:nvSpPr>
        <p:spPr>
          <a:xfrm>
            <a:off x="6723495" y="3932030"/>
            <a:ext cx="592891" cy="461665"/>
          </a:xfrm>
          <a:prstGeom prst="rect">
            <a:avLst/>
          </a:prstGeom>
          <a:noFill/>
        </p:spPr>
        <p:txBody>
          <a:bodyPr wrap="square" rtlCol="0">
            <a:spAutoFit/>
          </a:bodyPr>
          <a:lstStyle/>
          <a:p>
            <a:pPr algn="ctr"/>
            <a:r>
              <a:rPr lang="en-AU" sz="2400" dirty="0">
                <a:latin typeface="Times New Roman" panose="02020603050405020304" pitchFamily="18" charset="0"/>
                <a:cs typeface="Times New Roman" panose="02020603050405020304" pitchFamily="18" charset="0"/>
              </a:rPr>
              <a:t>TO</a:t>
            </a:r>
          </a:p>
        </p:txBody>
      </p:sp>
      <p:pic>
        <p:nvPicPr>
          <p:cNvPr id="3" name="Picture 2">
            <a:extLst>
              <a:ext uri="{FF2B5EF4-FFF2-40B4-BE49-F238E27FC236}">
                <a16:creationId xmlns:a16="http://schemas.microsoft.com/office/drawing/2014/main" id="{60284F50-8D17-4ED6-AFBB-6246451EE4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81551" y="6171659"/>
            <a:ext cx="1572386" cy="1372265"/>
          </a:xfrm>
          <a:prstGeom prst="rect">
            <a:avLst/>
          </a:prstGeom>
        </p:spPr>
      </p:pic>
      <p:pic>
        <p:nvPicPr>
          <p:cNvPr id="5" name="Picture 4">
            <a:extLst>
              <a:ext uri="{FF2B5EF4-FFF2-40B4-BE49-F238E27FC236}">
                <a16:creationId xmlns:a16="http://schemas.microsoft.com/office/drawing/2014/main" id="{2AAA12D2-3373-46F3-9023-5E737A57AC8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68892" y="6107880"/>
            <a:ext cx="1394987" cy="1442544"/>
          </a:xfrm>
          <a:prstGeom prst="rect">
            <a:avLst/>
          </a:prstGeom>
        </p:spPr>
      </p:pic>
      <p:sp>
        <p:nvSpPr>
          <p:cNvPr id="15" name="TextBox 14">
            <a:extLst>
              <a:ext uri="{FF2B5EF4-FFF2-40B4-BE49-F238E27FC236}">
                <a16:creationId xmlns:a16="http://schemas.microsoft.com/office/drawing/2014/main" id="{0DBB7150-9B2C-C26D-3305-A7DB02A80770}"/>
              </a:ext>
            </a:extLst>
          </p:cNvPr>
          <p:cNvSpPr txBox="1"/>
          <p:nvPr/>
        </p:nvSpPr>
        <p:spPr>
          <a:xfrm>
            <a:off x="2890374" y="3418013"/>
            <a:ext cx="8287677" cy="646203"/>
          </a:xfrm>
          <a:prstGeom prst="rect">
            <a:avLst/>
          </a:prstGeom>
          <a:noFill/>
        </p:spPr>
        <p:txBody>
          <a:bodyPr wrap="square" rtlCol="0">
            <a:spAutoFit/>
          </a:bodyPr>
          <a:lstStyle/>
          <a:p>
            <a:pPr algn="ctr"/>
            <a:r>
              <a:rPr lang="en-AU" sz="3599" dirty="0">
                <a:latin typeface="Times New Roman" panose="02020603050405020304" pitchFamily="18" charset="0"/>
                <a:cs typeface="Times New Roman" panose="02020603050405020304" pitchFamily="18" charset="0"/>
              </a:rPr>
              <a:t>Campaign Medallion Tier 3 First Clasp</a:t>
            </a:r>
          </a:p>
        </p:txBody>
      </p:sp>
      <p:sp>
        <p:nvSpPr>
          <p:cNvPr id="4" name="TextBox 3">
            <a:extLst>
              <a:ext uri="{FF2B5EF4-FFF2-40B4-BE49-F238E27FC236}">
                <a16:creationId xmlns:a16="http://schemas.microsoft.com/office/drawing/2014/main" id="{AD3D0B76-8537-0116-E409-90D47BA45611}"/>
              </a:ext>
            </a:extLst>
          </p:cNvPr>
          <p:cNvSpPr txBox="1"/>
          <p:nvPr/>
        </p:nvSpPr>
        <p:spPr>
          <a:xfrm>
            <a:off x="1611043" y="4975159"/>
            <a:ext cx="10817764" cy="1415772"/>
          </a:xfrm>
          <a:prstGeom prst="rect">
            <a:avLst/>
          </a:prstGeom>
          <a:noFill/>
        </p:spPr>
        <p:txBody>
          <a:bodyPr wrap="square" rtlCol="0">
            <a:spAutoFit/>
          </a:bodyPr>
          <a:lstStyle/>
          <a:p>
            <a:pPr algn="ctr" rtl="0">
              <a:spcBef>
                <a:spcPts val="0"/>
              </a:spcBef>
              <a:spcAft>
                <a:spcPts val="0"/>
              </a:spcAft>
            </a:pPr>
            <a:r>
              <a:rPr lang="en-AU" sz="1800" dirty="0">
                <a:solidFill>
                  <a:srgbClr val="000000"/>
                </a:solidFill>
                <a:latin typeface="Times New Roman" panose="02020603050405020304" pitchFamily="18" charset="0"/>
                <a:cs typeface="Times New Roman" panose="02020603050405020304" pitchFamily="18" charset="0"/>
              </a:rPr>
              <a:t>{name} </a:t>
            </a:r>
            <a:r>
              <a:rPr lang="en-AU" sz="1800" b="0" i="0" u="none" strike="noStrike" dirty="0">
                <a:solidFill>
                  <a:srgbClr val="000000"/>
                </a:solidFill>
                <a:effectLst/>
                <a:latin typeface="Times New Roman" panose="02020603050405020304" pitchFamily="18" charset="0"/>
              </a:rPr>
              <a:t>has seen service with the Australian Special Operations Taskforce in multiple theatres of operations, successfully providing aid and conducting combat operations across the globe.</a:t>
            </a:r>
            <a:endParaRPr lang="en-AU" sz="1600" b="0" dirty="0">
              <a:effectLst/>
            </a:endParaRPr>
          </a:p>
          <a:p>
            <a:pPr algn="ctr" rtl="0">
              <a:spcBef>
                <a:spcPts val="0"/>
              </a:spcBef>
              <a:spcAft>
                <a:spcPts val="0"/>
              </a:spcAft>
            </a:pPr>
            <a:r>
              <a:rPr lang="en-AU" sz="1800" b="0" i="0" u="none" strike="noStrike" dirty="0">
                <a:solidFill>
                  <a:srgbClr val="000000"/>
                </a:solidFill>
                <a:effectLst/>
                <a:latin typeface="Times New Roman" panose="02020603050405020304" pitchFamily="18" charset="0"/>
              </a:rPr>
              <a:t>They are characterised by their commitment to duty and peace.</a:t>
            </a:r>
            <a:endParaRPr lang="en-AU" sz="1600" b="0" dirty="0">
              <a:effectLst/>
            </a:endParaRPr>
          </a:p>
          <a:p>
            <a:br>
              <a:rPr lang="en-AU" sz="1600" dirty="0"/>
            </a:br>
            <a:endParaRPr lang="en-AU" sz="1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718E15B-7258-714F-DC79-C32D439E9315}"/>
              </a:ext>
            </a:extLst>
          </p:cNvPr>
          <p:cNvSpPr txBox="1"/>
          <p:nvPr/>
        </p:nvSpPr>
        <p:spPr>
          <a:xfrm>
            <a:off x="2003790" y="5847649"/>
            <a:ext cx="10032270" cy="646331"/>
          </a:xfrm>
          <a:prstGeom prst="rect">
            <a:avLst/>
          </a:prstGeom>
          <a:noFill/>
        </p:spPr>
        <p:txBody>
          <a:bodyPr wrap="square" rtlCol="0">
            <a:spAutoFit/>
          </a:bodyPr>
          <a:lstStyle/>
          <a:p>
            <a:pPr algn="ctr"/>
            <a:r>
              <a:rPr lang="en-AU" dirty="0">
                <a:latin typeface="Times New Roman" panose="02020603050405020304" pitchFamily="18" charset="0"/>
                <a:cs typeface="Times New Roman" panose="02020603050405020304" pitchFamily="18" charset="0"/>
              </a:rPr>
              <a:t>On today’s date, </a:t>
            </a:r>
            <a:r>
              <a:rPr lang="en-AU" i="1" dirty="0">
                <a:latin typeface="Times New Roman" panose="02020603050405020304" pitchFamily="18" charset="0"/>
                <a:cs typeface="Times New Roman" panose="02020603050405020304" pitchFamily="18" charset="0"/>
              </a:rPr>
              <a:t>{</a:t>
            </a:r>
            <a:r>
              <a:rPr lang="en-AU" i="1" dirty="0" err="1">
                <a:latin typeface="Times New Roman" panose="02020603050405020304" pitchFamily="18" charset="0"/>
                <a:cs typeface="Times New Roman" panose="02020603050405020304" pitchFamily="18" charset="0"/>
              </a:rPr>
              <a:t>dateNumber</a:t>
            </a:r>
            <a:r>
              <a:rPr lang="en-AU" sz="1800" b="0" i="1" strike="noStrike" spc="-1" dirty="0">
                <a:solidFill>
                  <a:srgbClr val="000000"/>
                </a:solidFill>
                <a:latin typeface="Times New Roman"/>
                <a:ea typeface="DejaVu Sans"/>
              </a:rPr>
              <a:t>}</a:t>
            </a:r>
            <a:r>
              <a:rPr lang="en-AU" sz="1800" b="0" i="1" strike="noStrike" spc="-1" baseline="30000" dirty="0">
                <a:solidFill>
                  <a:srgbClr val="000000"/>
                </a:solidFill>
                <a:latin typeface="Times New Roman"/>
                <a:ea typeface="DejaVu Sans"/>
              </a:rPr>
              <a:t>{suffix}</a:t>
            </a:r>
            <a:r>
              <a:rPr lang="en-AU" sz="1800" b="0" i="1" strike="noStrike" spc="-1" dirty="0">
                <a:solidFill>
                  <a:srgbClr val="000000"/>
                </a:solidFill>
                <a:latin typeface="Times New Roman"/>
                <a:ea typeface="DejaVu Sans"/>
              </a:rPr>
              <a:t> </a:t>
            </a:r>
            <a:r>
              <a:rPr lang="en-AU" i="1" dirty="0">
                <a:latin typeface="Times New Roman" panose="02020603050405020304" pitchFamily="18" charset="0"/>
                <a:cs typeface="Times New Roman" panose="02020603050405020304" pitchFamily="18" charset="0"/>
              </a:rPr>
              <a:t>{date}</a:t>
            </a:r>
            <a:r>
              <a:rPr lang="en-AU" dirty="0">
                <a:latin typeface="Times New Roman" panose="02020603050405020304" pitchFamily="18" charset="0"/>
                <a:cs typeface="Times New Roman" panose="02020603050405020304" pitchFamily="18" charset="0"/>
              </a:rPr>
              <a:t>, </a:t>
            </a:r>
            <a:r>
              <a:rPr lang="en-AU" sz="1800" dirty="0">
                <a:solidFill>
                  <a:srgbClr val="000000"/>
                </a:solidFill>
                <a:latin typeface="Times New Roman" panose="02020603050405020304" pitchFamily="18" charset="0"/>
                <a:cs typeface="Times New Roman" panose="02020603050405020304" pitchFamily="18" charset="0"/>
              </a:rPr>
              <a:t>{name} </a:t>
            </a:r>
            <a:r>
              <a:rPr lang="en-AU" dirty="0">
                <a:latin typeface="Times New Roman" panose="02020603050405020304" pitchFamily="18" charset="0"/>
                <a:cs typeface="Times New Roman" panose="02020603050405020304" pitchFamily="18" charset="0"/>
              </a:rPr>
              <a:t>is therefore awarded the</a:t>
            </a:r>
          </a:p>
          <a:p>
            <a:pPr algn="ctr"/>
            <a:r>
              <a:rPr lang="en-AU" sz="1800" dirty="0">
                <a:latin typeface="Times New Roman" panose="02020603050405020304" pitchFamily="18" charset="0"/>
                <a:cs typeface="Times New Roman" panose="02020603050405020304" pitchFamily="18" charset="0"/>
              </a:rPr>
              <a:t>Campaign Medallion Tier 3 with first clasp</a:t>
            </a:r>
            <a:r>
              <a:rPr lang="en-AU" dirty="0">
                <a:latin typeface="Times New Roman" panose="02020603050405020304" pitchFamily="18" charset="0"/>
                <a:cs typeface="Times New Roman" panose="02020603050405020304" pitchFamily="18" charset="0"/>
              </a:rPr>
              <a:t>.</a:t>
            </a:r>
          </a:p>
        </p:txBody>
      </p:sp>
      <p:pic>
        <p:nvPicPr>
          <p:cNvPr id="16" name="Picture 15">
            <a:extLst>
              <a:ext uri="{FF2B5EF4-FFF2-40B4-BE49-F238E27FC236}">
                <a16:creationId xmlns:a16="http://schemas.microsoft.com/office/drawing/2014/main" id="{2E20A93A-3449-0DA0-391E-C2FA9EA2256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67183" y="795892"/>
            <a:ext cx="856179" cy="1838266"/>
          </a:xfrm>
          <a:prstGeom prst="rect">
            <a:avLst/>
          </a:prstGeom>
        </p:spPr>
      </p:pic>
      <p:sp>
        <p:nvSpPr>
          <p:cNvPr id="2" name="TextBox 33">
            <a:extLst>
              <a:ext uri="{FF2B5EF4-FFF2-40B4-BE49-F238E27FC236}">
                <a16:creationId xmlns:a16="http://schemas.microsoft.com/office/drawing/2014/main" id="{91AD6301-70F9-4D48-DFF1-82A25164E29E}"/>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cxnSp>
        <p:nvCxnSpPr>
          <p:cNvPr id="17" name="Straight Connector 31">
            <a:extLst>
              <a:ext uri="{FF2B5EF4-FFF2-40B4-BE49-F238E27FC236}">
                <a16:creationId xmlns:a16="http://schemas.microsoft.com/office/drawing/2014/main" id="{E1743E44-7E48-04B5-E686-7EFAAE5C321A}"/>
              </a:ext>
            </a:extLst>
          </p:cNvPr>
          <p:cNvCxnSpPr/>
          <p:nvPr/>
        </p:nvCxnSpPr>
        <p:spPr>
          <a:xfrm flipH="1">
            <a:off x="5849280" y="6918120"/>
            <a:ext cx="2452680" cy="1440"/>
          </a:xfrm>
          <a:prstGeom prst="straightConnector1">
            <a:avLst/>
          </a:prstGeom>
          <a:ln w="12700">
            <a:solidFill>
              <a:srgbClr val="000000"/>
            </a:solidFill>
            <a:round/>
          </a:ln>
        </p:spPr>
      </p:cxnSp>
      <p:sp>
        <p:nvSpPr>
          <p:cNvPr id="7" name="Google Shape;90;p1">
            <a:extLst>
              <a:ext uri="{FF2B5EF4-FFF2-40B4-BE49-F238E27FC236}">
                <a16:creationId xmlns:a16="http://schemas.microsoft.com/office/drawing/2014/main" id="{1556A008-2F97-33D7-125E-CEF5ED7B813B}"/>
              </a:ext>
            </a:extLst>
          </p:cNvPr>
          <p:cNvSpPr/>
          <p:nvPr/>
        </p:nvSpPr>
        <p:spPr>
          <a:xfrm>
            <a:off x="4905450" y="6882257"/>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11" name="Google Shape;347;p28">
            <a:extLst>
              <a:ext uri="{FF2B5EF4-FFF2-40B4-BE49-F238E27FC236}">
                <a16:creationId xmlns:a16="http://schemas.microsoft.com/office/drawing/2014/main" id="{49944FB1-5C7F-6EB9-80BF-FA5082B18B35}"/>
              </a:ext>
            </a:extLst>
          </p:cNvPr>
          <p:cNvSpPr/>
          <p:nvPr/>
        </p:nvSpPr>
        <p:spPr>
          <a:xfrm>
            <a:off x="4852260" y="6412873"/>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extLst>
      <p:ext uri="{BB962C8B-B14F-4D97-AF65-F5344CB8AC3E}">
        <p14:creationId xmlns:p14="http://schemas.microsoft.com/office/powerpoint/2010/main" val="13365689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02F8D24D-B690-429A-B31A-EE075F591D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9151" y="714375"/>
            <a:ext cx="12430124" cy="7105650"/>
          </a:xfrm>
          <a:prstGeom prst="rect">
            <a:avLst/>
          </a:prstGeom>
        </p:spPr>
      </p:pic>
      <p:pic>
        <p:nvPicPr>
          <p:cNvPr id="20" name="Picture 19">
            <a:extLst>
              <a:ext uri="{FF2B5EF4-FFF2-40B4-BE49-F238E27FC236}">
                <a16:creationId xmlns:a16="http://schemas.microsoft.com/office/drawing/2014/main" id="{E93A7C25-E6EB-404F-B46D-2C23D8281883}"/>
              </a:ext>
            </a:extLst>
          </p:cNvPr>
          <p:cNvPicPr>
            <a:picLocks noChangeAspect="1"/>
          </p:cNvPicPr>
          <p:nvPr/>
        </p:nvPicPr>
        <p:blipFill rotWithShape="1">
          <a:blip r:embed="rId3">
            <a:extLst>
              <a:ext uri="{28A0092B-C50C-407E-A947-70E740481C1C}">
                <a14:useLocalDpi xmlns:a14="http://schemas.microsoft.com/office/drawing/2010/main" val="0"/>
              </a:ext>
            </a:extLst>
          </a:blip>
          <a:srcRect l="10028" t="12537" r="10465" b="20263"/>
          <a:stretch/>
        </p:blipFill>
        <p:spPr>
          <a:xfrm>
            <a:off x="0" y="3090"/>
            <a:ext cx="14039850" cy="8456697"/>
          </a:xfrm>
          <a:prstGeom prst="rect">
            <a:avLst/>
          </a:prstGeom>
        </p:spPr>
      </p:pic>
      <p:sp>
        <p:nvSpPr>
          <p:cNvPr id="8" name="TextBox 7">
            <a:extLst>
              <a:ext uri="{FF2B5EF4-FFF2-40B4-BE49-F238E27FC236}">
                <a16:creationId xmlns:a16="http://schemas.microsoft.com/office/drawing/2014/main" id="{D7E785A6-A2A0-41EA-A1D2-14E262272345}"/>
              </a:ext>
            </a:extLst>
          </p:cNvPr>
          <p:cNvSpPr txBox="1"/>
          <p:nvPr/>
        </p:nvSpPr>
        <p:spPr>
          <a:xfrm>
            <a:off x="1668886" y="2526227"/>
            <a:ext cx="10737849" cy="646203"/>
          </a:xfrm>
          <a:prstGeom prst="rect">
            <a:avLst/>
          </a:prstGeom>
          <a:noFill/>
        </p:spPr>
        <p:txBody>
          <a:bodyPr wrap="square" rtlCol="0">
            <a:spAutoFit/>
          </a:bodyPr>
          <a:lstStyle/>
          <a:p>
            <a:pPr algn="ctr"/>
            <a:r>
              <a:rPr lang="en-AU" sz="3599" dirty="0">
                <a:latin typeface="Times New Roman" panose="02020603050405020304" pitchFamily="18" charset="0"/>
                <a:cs typeface="Times New Roman" panose="02020603050405020304" pitchFamily="18" charset="0"/>
              </a:rPr>
              <a:t>AUSTRALIAN SPECIAL OPERATIONS TASKFORCE</a:t>
            </a:r>
          </a:p>
        </p:txBody>
      </p:sp>
      <p:sp>
        <p:nvSpPr>
          <p:cNvPr id="9" name="TextBox 8">
            <a:extLst>
              <a:ext uri="{FF2B5EF4-FFF2-40B4-BE49-F238E27FC236}">
                <a16:creationId xmlns:a16="http://schemas.microsoft.com/office/drawing/2014/main" id="{CEE68CE4-34AF-4ADF-B29B-D28BDCB22EE8}"/>
              </a:ext>
            </a:extLst>
          </p:cNvPr>
          <p:cNvSpPr txBox="1"/>
          <p:nvPr/>
        </p:nvSpPr>
        <p:spPr>
          <a:xfrm>
            <a:off x="4094814" y="2918089"/>
            <a:ext cx="6072189" cy="646203"/>
          </a:xfrm>
          <a:prstGeom prst="rect">
            <a:avLst/>
          </a:prstGeom>
          <a:noFill/>
        </p:spPr>
        <p:txBody>
          <a:bodyPr wrap="square" rtlCol="0">
            <a:spAutoFit/>
          </a:bodyPr>
          <a:lstStyle/>
          <a:p>
            <a:pPr algn="ctr"/>
            <a:r>
              <a:rPr lang="en-AU" sz="2400" dirty="0">
                <a:latin typeface="Times New Roman" panose="02020603050405020304" pitchFamily="18" charset="0"/>
                <a:cs typeface="Times New Roman" panose="02020603050405020304" pitchFamily="18" charset="0"/>
              </a:rPr>
              <a:t>This is to certify that command has awarded the</a:t>
            </a:r>
            <a:r>
              <a:rPr lang="en-AU" sz="3599" dirty="0">
                <a:latin typeface="Times New Roman" panose="02020603050405020304" pitchFamily="18" charset="0"/>
                <a:cs typeface="Times New Roman" panose="02020603050405020304" pitchFamily="18" charset="0"/>
              </a:rPr>
              <a:t> </a:t>
            </a:r>
          </a:p>
        </p:txBody>
      </p:sp>
      <p:sp>
        <p:nvSpPr>
          <p:cNvPr id="12" name="TextBox 11">
            <a:extLst>
              <a:ext uri="{FF2B5EF4-FFF2-40B4-BE49-F238E27FC236}">
                <a16:creationId xmlns:a16="http://schemas.microsoft.com/office/drawing/2014/main" id="{66251F15-5C9B-4076-9AC4-A7542F35F809}"/>
              </a:ext>
            </a:extLst>
          </p:cNvPr>
          <p:cNvSpPr txBox="1"/>
          <p:nvPr/>
        </p:nvSpPr>
        <p:spPr>
          <a:xfrm>
            <a:off x="6723495" y="3932030"/>
            <a:ext cx="592891" cy="461665"/>
          </a:xfrm>
          <a:prstGeom prst="rect">
            <a:avLst/>
          </a:prstGeom>
          <a:noFill/>
        </p:spPr>
        <p:txBody>
          <a:bodyPr wrap="square" rtlCol="0">
            <a:spAutoFit/>
          </a:bodyPr>
          <a:lstStyle/>
          <a:p>
            <a:pPr algn="ctr"/>
            <a:r>
              <a:rPr lang="en-AU" sz="2400" dirty="0">
                <a:latin typeface="Times New Roman" panose="02020603050405020304" pitchFamily="18" charset="0"/>
                <a:cs typeface="Times New Roman" panose="02020603050405020304" pitchFamily="18" charset="0"/>
              </a:rPr>
              <a:t>TO</a:t>
            </a:r>
          </a:p>
        </p:txBody>
      </p:sp>
      <p:pic>
        <p:nvPicPr>
          <p:cNvPr id="3" name="Picture 2">
            <a:extLst>
              <a:ext uri="{FF2B5EF4-FFF2-40B4-BE49-F238E27FC236}">
                <a16:creationId xmlns:a16="http://schemas.microsoft.com/office/drawing/2014/main" id="{60284F50-8D17-4ED6-AFBB-6246451EE4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81551" y="6171659"/>
            <a:ext cx="1572386" cy="1372265"/>
          </a:xfrm>
          <a:prstGeom prst="rect">
            <a:avLst/>
          </a:prstGeom>
        </p:spPr>
      </p:pic>
      <p:pic>
        <p:nvPicPr>
          <p:cNvPr id="5" name="Picture 4">
            <a:extLst>
              <a:ext uri="{FF2B5EF4-FFF2-40B4-BE49-F238E27FC236}">
                <a16:creationId xmlns:a16="http://schemas.microsoft.com/office/drawing/2014/main" id="{2AAA12D2-3373-46F3-9023-5E737A57AC8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68892" y="6107880"/>
            <a:ext cx="1394987" cy="1442544"/>
          </a:xfrm>
          <a:prstGeom prst="rect">
            <a:avLst/>
          </a:prstGeom>
        </p:spPr>
      </p:pic>
      <p:sp>
        <p:nvSpPr>
          <p:cNvPr id="15" name="TextBox 14">
            <a:extLst>
              <a:ext uri="{FF2B5EF4-FFF2-40B4-BE49-F238E27FC236}">
                <a16:creationId xmlns:a16="http://schemas.microsoft.com/office/drawing/2014/main" id="{0DBB7150-9B2C-C26D-3305-A7DB02A80770}"/>
              </a:ext>
            </a:extLst>
          </p:cNvPr>
          <p:cNvSpPr txBox="1"/>
          <p:nvPr/>
        </p:nvSpPr>
        <p:spPr>
          <a:xfrm>
            <a:off x="2890374" y="3418013"/>
            <a:ext cx="8287677" cy="646203"/>
          </a:xfrm>
          <a:prstGeom prst="rect">
            <a:avLst/>
          </a:prstGeom>
          <a:noFill/>
        </p:spPr>
        <p:txBody>
          <a:bodyPr wrap="square" rtlCol="0">
            <a:spAutoFit/>
          </a:bodyPr>
          <a:lstStyle/>
          <a:p>
            <a:pPr algn="ctr"/>
            <a:r>
              <a:rPr lang="en-AU" sz="3599" dirty="0">
                <a:latin typeface="Times New Roman" panose="02020603050405020304" pitchFamily="18" charset="0"/>
                <a:cs typeface="Times New Roman" panose="02020603050405020304" pitchFamily="18" charset="0"/>
              </a:rPr>
              <a:t>Campaign Medallion Tier 3 Second Clasp</a:t>
            </a:r>
          </a:p>
        </p:txBody>
      </p:sp>
      <p:sp>
        <p:nvSpPr>
          <p:cNvPr id="4" name="TextBox 3">
            <a:extLst>
              <a:ext uri="{FF2B5EF4-FFF2-40B4-BE49-F238E27FC236}">
                <a16:creationId xmlns:a16="http://schemas.microsoft.com/office/drawing/2014/main" id="{AD3D0B76-8537-0116-E409-90D47BA45611}"/>
              </a:ext>
            </a:extLst>
          </p:cNvPr>
          <p:cNvSpPr txBox="1"/>
          <p:nvPr/>
        </p:nvSpPr>
        <p:spPr>
          <a:xfrm>
            <a:off x="1611043" y="4975159"/>
            <a:ext cx="10817764" cy="1415772"/>
          </a:xfrm>
          <a:prstGeom prst="rect">
            <a:avLst/>
          </a:prstGeom>
          <a:noFill/>
        </p:spPr>
        <p:txBody>
          <a:bodyPr wrap="square" rtlCol="0">
            <a:spAutoFit/>
          </a:bodyPr>
          <a:lstStyle/>
          <a:p>
            <a:pPr algn="ctr" rtl="0">
              <a:spcBef>
                <a:spcPts val="0"/>
              </a:spcBef>
              <a:spcAft>
                <a:spcPts val="0"/>
              </a:spcAft>
            </a:pPr>
            <a:r>
              <a:rPr lang="en-AU" sz="1800" dirty="0">
                <a:solidFill>
                  <a:srgbClr val="000000"/>
                </a:solidFill>
                <a:latin typeface="Times New Roman" panose="02020603050405020304" pitchFamily="18" charset="0"/>
                <a:cs typeface="Times New Roman" panose="02020603050405020304" pitchFamily="18" charset="0"/>
              </a:rPr>
              <a:t>{name} </a:t>
            </a:r>
            <a:r>
              <a:rPr lang="en-AU" sz="1800" b="0" i="0" u="none" strike="noStrike" dirty="0">
                <a:solidFill>
                  <a:srgbClr val="000000"/>
                </a:solidFill>
                <a:effectLst/>
                <a:latin typeface="Times New Roman" panose="02020603050405020304" pitchFamily="18" charset="0"/>
              </a:rPr>
              <a:t>has seen service with the Australian Special Operations Taskforce in multiple theatres of operations, successfully providing aid and conducting combat operations across the globe.</a:t>
            </a:r>
            <a:endParaRPr lang="en-AU" sz="1600" b="0" dirty="0">
              <a:effectLst/>
            </a:endParaRPr>
          </a:p>
          <a:p>
            <a:pPr algn="ctr" rtl="0">
              <a:spcBef>
                <a:spcPts val="0"/>
              </a:spcBef>
              <a:spcAft>
                <a:spcPts val="0"/>
              </a:spcAft>
            </a:pPr>
            <a:r>
              <a:rPr lang="en-AU" sz="1800" b="0" i="0" u="none" strike="noStrike" dirty="0">
                <a:solidFill>
                  <a:srgbClr val="000000"/>
                </a:solidFill>
                <a:effectLst/>
                <a:latin typeface="Times New Roman" panose="02020603050405020304" pitchFamily="18" charset="0"/>
              </a:rPr>
              <a:t>They are characterised by their commitment to duty and peace.</a:t>
            </a:r>
            <a:endParaRPr lang="en-AU" sz="1600" b="0" dirty="0">
              <a:effectLst/>
            </a:endParaRPr>
          </a:p>
          <a:p>
            <a:br>
              <a:rPr lang="en-AU" sz="1600" dirty="0"/>
            </a:br>
            <a:endParaRPr lang="en-AU" sz="1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718E15B-7258-714F-DC79-C32D439E9315}"/>
              </a:ext>
            </a:extLst>
          </p:cNvPr>
          <p:cNvSpPr txBox="1"/>
          <p:nvPr/>
        </p:nvSpPr>
        <p:spPr>
          <a:xfrm>
            <a:off x="2003790" y="5847649"/>
            <a:ext cx="10032270" cy="646331"/>
          </a:xfrm>
          <a:prstGeom prst="rect">
            <a:avLst/>
          </a:prstGeom>
          <a:noFill/>
        </p:spPr>
        <p:txBody>
          <a:bodyPr wrap="square" rtlCol="0">
            <a:spAutoFit/>
          </a:bodyPr>
          <a:lstStyle/>
          <a:p>
            <a:pPr algn="ctr"/>
            <a:r>
              <a:rPr lang="en-AU" dirty="0">
                <a:latin typeface="Times New Roman" panose="02020603050405020304" pitchFamily="18" charset="0"/>
                <a:cs typeface="Times New Roman" panose="02020603050405020304" pitchFamily="18" charset="0"/>
              </a:rPr>
              <a:t>On today’s date, </a:t>
            </a:r>
            <a:r>
              <a:rPr lang="en-AU" i="1" dirty="0">
                <a:latin typeface="Times New Roman" panose="02020603050405020304" pitchFamily="18" charset="0"/>
                <a:cs typeface="Times New Roman" panose="02020603050405020304" pitchFamily="18" charset="0"/>
              </a:rPr>
              <a:t>{</a:t>
            </a:r>
            <a:r>
              <a:rPr lang="en-AU" i="1" dirty="0" err="1">
                <a:latin typeface="Times New Roman" panose="02020603050405020304" pitchFamily="18" charset="0"/>
                <a:cs typeface="Times New Roman" panose="02020603050405020304" pitchFamily="18" charset="0"/>
              </a:rPr>
              <a:t>dateNumber</a:t>
            </a:r>
            <a:r>
              <a:rPr lang="en-AU" sz="1800" b="0" i="1" strike="noStrike" spc="-1" dirty="0">
                <a:solidFill>
                  <a:srgbClr val="000000"/>
                </a:solidFill>
                <a:latin typeface="Times New Roman"/>
                <a:ea typeface="DejaVu Sans"/>
              </a:rPr>
              <a:t>}</a:t>
            </a:r>
            <a:r>
              <a:rPr lang="en-AU" sz="1800" b="0" i="1" strike="noStrike" spc="-1" baseline="30000" dirty="0">
                <a:solidFill>
                  <a:srgbClr val="000000"/>
                </a:solidFill>
                <a:latin typeface="Times New Roman"/>
                <a:ea typeface="DejaVu Sans"/>
              </a:rPr>
              <a:t>{suffix}</a:t>
            </a:r>
            <a:r>
              <a:rPr lang="en-AU" sz="1800" b="0" i="1" strike="noStrike" spc="-1" dirty="0">
                <a:solidFill>
                  <a:srgbClr val="000000"/>
                </a:solidFill>
                <a:latin typeface="Times New Roman"/>
                <a:ea typeface="DejaVu Sans"/>
              </a:rPr>
              <a:t> </a:t>
            </a:r>
            <a:r>
              <a:rPr lang="en-AU" i="1" dirty="0">
                <a:latin typeface="Times New Roman" panose="02020603050405020304" pitchFamily="18" charset="0"/>
                <a:cs typeface="Times New Roman" panose="02020603050405020304" pitchFamily="18" charset="0"/>
              </a:rPr>
              <a:t>{date}</a:t>
            </a:r>
            <a:r>
              <a:rPr lang="en-AU" dirty="0">
                <a:latin typeface="Times New Roman" panose="02020603050405020304" pitchFamily="18" charset="0"/>
                <a:cs typeface="Times New Roman" panose="02020603050405020304" pitchFamily="18" charset="0"/>
              </a:rPr>
              <a:t>, </a:t>
            </a:r>
            <a:r>
              <a:rPr lang="en-AU" sz="1800" dirty="0">
                <a:solidFill>
                  <a:srgbClr val="000000"/>
                </a:solidFill>
                <a:latin typeface="Times New Roman" panose="02020603050405020304" pitchFamily="18" charset="0"/>
                <a:cs typeface="Times New Roman" panose="02020603050405020304" pitchFamily="18" charset="0"/>
              </a:rPr>
              <a:t>{name} </a:t>
            </a:r>
            <a:r>
              <a:rPr lang="en-AU" dirty="0">
                <a:latin typeface="Times New Roman" panose="02020603050405020304" pitchFamily="18" charset="0"/>
                <a:cs typeface="Times New Roman" panose="02020603050405020304" pitchFamily="18" charset="0"/>
              </a:rPr>
              <a:t>is therefore awarded the</a:t>
            </a:r>
          </a:p>
          <a:p>
            <a:pPr algn="ctr"/>
            <a:r>
              <a:rPr lang="en-AU" sz="1800" dirty="0">
                <a:latin typeface="Times New Roman" panose="02020603050405020304" pitchFamily="18" charset="0"/>
                <a:cs typeface="Times New Roman" panose="02020603050405020304" pitchFamily="18" charset="0"/>
              </a:rPr>
              <a:t>Campaign Medallion Tier 3 with second clasp</a:t>
            </a:r>
            <a:r>
              <a:rPr lang="en-AU" dirty="0">
                <a:latin typeface="Times New Roman" panose="02020603050405020304" pitchFamily="18" charset="0"/>
                <a:cs typeface="Times New Roman" panose="02020603050405020304" pitchFamily="18" charset="0"/>
              </a:rPr>
              <a:t>.</a:t>
            </a:r>
          </a:p>
        </p:txBody>
      </p:sp>
      <p:pic>
        <p:nvPicPr>
          <p:cNvPr id="2" name="Picture 1">
            <a:extLst>
              <a:ext uri="{FF2B5EF4-FFF2-40B4-BE49-F238E27FC236}">
                <a16:creationId xmlns:a16="http://schemas.microsoft.com/office/drawing/2014/main" id="{2BF639B1-6A6D-0430-699A-16F1EC5CBB9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74002" y="797767"/>
            <a:ext cx="856179" cy="1838266"/>
          </a:xfrm>
          <a:prstGeom prst="rect">
            <a:avLst/>
          </a:prstGeom>
        </p:spPr>
      </p:pic>
      <p:sp>
        <p:nvSpPr>
          <p:cNvPr id="10" name="TextBox 33">
            <a:extLst>
              <a:ext uri="{FF2B5EF4-FFF2-40B4-BE49-F238E27FC236}">
                <a16:creationId xmlns:a16="http://schemas.microsoft.com/office/drawing/2014/main" id="{C53C28BF-65F0-50D1-DCA8-15CC6C06AC58}"/>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cxnSp>
        <p:nvCxnSpPr>
          <p:cNvPr id="17" name="Straight Connector 31">
            <a:extLst>
              <a:ext uri="{FF2B5EF4-FFF2-40B4-BE49-F238E27FC236}">
                <a16:creationId xmlns:a16="http://schemas.microsoft.com/office/drawing/2014/main" id="{75F7E1F0-310C-DF18-C64B-CF44E8FCB3A8}"/>
              </a:ext>
            </a:extLst>
          </p:cNvPr>
          <p:cNvCxnSpPr/>
          <p:nvPr/>
        </p:nvCxnSpPr>
        <p:spPr>
          <a:xfrm flipH="1">
            <a:off x="5849280" y="6918120"/>
            <a:ext cx="2452680" cy="1440"/>
          </a:xfrm>
          <a:prstGeom prst="straightConnector1">
            <a:avLst/>
          </a:prstGeom>
          <a:ln w="12700">
            <a:solidFill>
              <a:srgbClr val="000000"/>
            </a:solidFill>
            <a:round/>
          </a:ln>
        </p:spPr>
      </p:cxnSp>
      <p:sp>
        <p:nvSpPr>
          <p:cNvPr id="7" name="Google Shape;90;p1">
            <a:extLst>
              <a:ext uri="{FF2B5EF4-FFF2-40B4-BE49-F238E27FC236}">
                <a16:creationId xmlns:a16="http://schemas.microsoft.com/office/drawing/2014/main" id="{06658527-1EC1-ECF9-AF16-707DAFE82767}"/>
              </a:ext>
            </a:extLst>
          </p:cNvPr>
          <p:cNvSpPr/>
          <p:nvPr/>
        </p:nvSpPr>
        <p:spPr>
          <a:xfrm>
            <a:off x="4905450" y="6882257"/>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11" name="Google Shape;347;p28">
            <a:extLst>
              <a:ext uri="{FF2B5EF4-FFF2-40B4-BE49-F238E27FC236}">
                <a16:creationId xmlns:a16="http://schemas.microsoft.com/office/drawing/2014/main" id="{51CA4B35-6955-4A51-E6BE-2624AB9BEF63}"/>
              </a:ext>
            </a:extLst>
          </p:cNvPr>
          <p:cNvSpPr/>
          <p:nvPr/>
        </p:nvSpPr>
        <p:spPr>
          <a:xfrm>
            <a:off x="4852260" y="6412873"/>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extLst>
      <p:ext uri="{BB962C8B-B14F-4D97-AF65-F5344CB8AC3E}">
        <p14:creationId xmlns:p14="http://schemas.microsoft.com/office/powerpoint/2010/main" val="17083860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02F8D24D-B690-429A-B31A-EE075F591D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9151" y="714375"/>
            <a:ext cx="12430124" cy="7105650"/>
          </a:xfrm>
          <a:prstGeom prst="rect">
            <a:avLst/>
          </a:prstGeom>
        </p:spPr>
      </p:pic>
      <p:pic>
        <p:nvPicPr>
          <p:cNvPr id="20" name="Picture 19">
            <a:extLst>
              <a:ext uri="{FF2B5EF4-FFF2-40B4-BE49-F238E27FC236}">
                <a16:creationId xmlns:a16="http://schemas.microsoft.com/office/drawing/2014/main" id="{E93A7C25-E6EB-404F-B46D-2C23D8281883}"/>
              </a:ext>
            </a:extLst>
          </p:cNvPr>
          <p:cNvPicPr>
            <a:picLocks noChangeAspect="1"/>
          </p:cNvPicPr>
          <p:nvPr/>
        </p:nvPicPr>
        <p:blipFill rotWithShape="1">
          <a:blip r:embed="rId3">
            <a:extLst>
              <a:ext uri="{28A0092B-C50C-407E-A947-70E740481C1C}">
                <a14:useLocalDpi xmlns:a14="http://schemas.microsoft.com/office/drawing/2010/main" val="0"/>
              </a:ext>
            </a:extLst>
          </a:blip>
          <a:srcRect l="10028" t="12537" r="10465" b="20263"/>
          <a:stretch/>
        </p:blipFill>
        <p:spPr>
          <a:xfrm>
            <a:off x="0" y="3090"/>
            <a:ext cx="14039850" cy="8456697"/>
          </a:xfrm>
          <a:prstGeom prst="rect">
            <a:avLst/>
          </a:prstGeom>
        </p:spPr>
      </p:pic>
      <p:sp>
        <p:nvSpPr>
          <p:cNvPr id="8" name="TextBox 7">
            <a:extLst>
              <a:ext uri="{FF2B5EF4-FFF2-40B4-BE49-F238E27FC236}">
                <a16:creationId xmlns:a16="http://schemas.microsoft.com/office/drawing/2014/main" id="{D7E785A6-A2A0-41EA-A1D2-14E262272345}"/>
              </a:ext>
            </a:extLst>
          </p:cNvPr>
          <p:cNvSpPr txBox="1"/>
          <p:nvPr/>
        </p:nvSpPr>
        <p:spPr>
          <a:xfrm>
            <a:off x="1668886" y="2526227"/>
            <a:ext cx="10737849" cy="646203"/>
          </a:xfrm>
          <a:prstGeom prst="rect">
            <a:avLst/>
          </a:prstGeom>
          <a:noFill/>
        </p:spPr>
        <p:txBody>
          <a:bodyPr wrap="square" rtlCol="0">
            <a:spAutoFit/>
          </a:bodyPr>
          <a:lstStyle/>
          <a:p>
            <a:pPr algn="ctr"/>
            <a:r>
              <a:rPr lang="en-AU" sz="3599" dirty="0">
                <a:latin typeface="Times New Roman" panose="02020603050405020304" pitchFamily="18" charset="0"/>
                <a:cs typeface="Times New Roman" panose="02020603050405020304" pitchFamily="18" charset="0"/>
              </a:rPr>
              <a:t>AUSTRALIAN SPECIAL OPERATIONS TASKFORCE</a:t>
            </a:r>
          </a:p>
        </p:txBody>
      </p:sp>
      <p:sp>
        <p:nvSpPr>
          <p:cNvPr id="9" name="TextBox 8">
            <a:extLst>
              <a:ext uri="{FF2B5EF4-FFF2-40B4-BE49-F238E27FC236}">
                <a16:creationId xmlns:a16="http://schemas.microsoft.com/office/drawing/2014/main" id="{CEE68CE4-34AF-4ADF-B29B-D28BDCB22EE8}"/>
              </a:ext>
            </a:extLst>
          </p:cNvPr>
          <p:cNvSpPr txBox="1"/>
          <p:nvPr/>
        </p:nvSpPr>
        <p:spPr>
          <a:xfrm>
            <a:off x="4094814" y="2918089"/>
            <a:ext cx="6072189" cy="646203"/>
          </a:xfrm>
          <a:prstGeom prst="rect">
            <a:avLst/>
          </a:prstGeom>
          <a:noFill/>
        </p:spPr>
        <p:txBody>
          <a:bodyPr wrap="square" rtlCol="0">
            <a:spAutoFit/>
          </a:bodyPr>
          <a:lstStyle/>
          <a:p>
            <a:pPr algn="ctr"/>
            <a:r>
              <a:rPr lang="en-AU" sz="2400" dirty="0">
                <a:latin typeface="Times New Roman" panose="02020603050405020304" pitchFamily="18" charset="0"/>
                <a:cs typeface="Times New Roman" panose="02020603050405020304" pitchFamily="18" charset="0"/>
              </a:rPr>
              <a:t>This is to certify that command has awarded the</a:t>
            </a:r>
            <a:r>
              <a:rPr lang="en-AU" sz="3599" dirty="0">
                <a:latin typeface="Times New Roman" panose="02020603050405020304" pitchFamily="18" charset="0"/>
                <a:cs typeface="Times New Roman" panose="02020603050405020304" pitchFamily="18" charset="0"/>
              </a:rPr>
              <a:t> </a:t>
            </a:r>
          </a:p>
        </p:txBody>
      </p:sp>
      <p:sp>
        <p:nvSpPr>
          <p:cNvPr id="12" name="TextBox 11">
            <a:extLst>
              <a:ext uri="{FF2B5EF4-FFF2-40B4-BE49-F238E27FC236}">
                <a16:creationId xmlns:a16="http://schemas.microsoft.com/office/drawing/2014/main" id="{66251F15-5C9B-4076-9AC4-A7542F35F809}"/>
              </a:ext>
            </a:extLst>
          </p:cNvPr>
          <p:cNvSpPr txBox="1"/>
          <p:nvPr/>
        </p:nvSpPr>
        <p:spPr>
          <a:xfrm>
            <a:off x="6723495" y="3932030"/>
            <a:ext cx="592891" cy="461665"/>
          </a:xfrm>
          <a:prstGeom prst="rect">
            <a:avLst/>
          </a:prstGeom>
          <a:noFill/>
        </p:spPr>
        <p:txBody>
          <a:bodyPr wrap="square" rtlCol="0">
            <a:spAutoFit/>
          </a:bodyPr>
          <a:lstStyle/>
          <a:p>
            <a:pPr algn="ctr"/>
            <a:r>
              <a:rPr lang="en-AU" sz="2400" dirty="0">
                <a:latin typeface="Times New Roman" panose="02020603050405020304" pitchFamily="18" charset="0"/>
                <a:cs typeface="Times New Roman" panose="02020603050405020304" pitchFamily="18" charset="0"/>
              </a:rPr>
              <a:t>TO</a:t>
            </a:r>
          </a:p>
        </p:txBody>
      </p:sp>
      <p:pic>
        <p:nvPicPr>
          <p:cNvPr id="3" name="Picture 2">
            <a:extLst>
              <a:ext uri="{FF2B5EF4-FFF2-40B4-BE49-F238E27FC236}">
                <a16:creationId xmlns:a16="http://schemas.microsoft.com/office/drawing/2014/main" id="{60284F50-8D17-4ED6-AFBB-6246451EE4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81551" y="6171659"/>
            <a:ext cx="1572386" cy="1372265"/>
          </a:xfrm>
          <a:prstGeom prst="rect">
            <a:avLst/>
          </a:prstGeom>
        </p:spPr>
      </p:pic>
      <p:pic>
        <p:nvPicPr>
          <p:cNvPr id="5" name="Picture 4">
            <a:extLst>
              <a:ext uri="{FF2B5EF4-FFF2-40B4-BE49-F238E27FC236}">
                <a16:creationId xmlns:a16="http://schemas.microsoft.com/office/drawing/2014/main" id="{2AAA12D2-3373-46F3-9023-5E737A57AC8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68892" y="6107880"/>
            <a:ext cx="1394987" cy="1442544"/>
          </a:xfrm>
          <a:prstGeom prst="rect">
            <a:avLst/>
          </a:prstGeom>
        </p:spPr>
      </p:pic>
      <p:sp>
        <p:nvSpPr>
          <p:cNvPr id="15" name="TextBox 14">
            <a:extLst>
              <a:ext uri="{FF2B5EF4-FFF2-40B4-BE49-F238E27FC236}">
                <a16:creationId xmlns:a16="http://schemas.microsoft.com/office/drawing/2014/main" id="{0DBB7150-9B2C-C26D-3305-A7DB02A80770}"/>
              </a:ext>
            </a:extLst>
          </p:cNvPr>
          <p:cNvSpPr txBox="1"/>
          <p:nvPr/>
        </p:nvSpPr>
        <p:spPr>
          <a:xfrm>
            <a:off x="2890374" y="3418013"/>
            <a:ext cx="8287677" cy="646203"/>
          </a:xfrm>
          <a:prstGeom prst="rect">
            <a:avLst/>
          </a:prstGeom>
          <a:noFill/>
        </p:spPr>
        <p:txBody>
          <a:bodyPr wrap="square" rtlCol="0">
            <a:spAutoFit/>
          </a:bodyPr>
          <a:lstStyle/>
          <a:p>
            <a:pPr algn="ctr"/>
            <a:r>
              <a:rPr lang="en-AU" sz="3599" dirty="0">
                <a:latin typeface="Times New Roman" panose="02020603050405020304" pitchFamily="18" charset="0"/>
                <a:cs typeface="Times New Roman" panose="02020603050405020304" pitchFamily="18" charset="0"/>
              </a:rPr>
              <a:t>Campaign Medallion Tier 3 Third Clasp</a:t>
            </a:r>
          </a:p>
        </p:txBody>
      </p:sp>
      <p:sp>
        <p:nvSpPr>
          <p:cNvPr id="4" name="TextBox 3">
            <a:extLst>
              <a:ext uri="{FF2B5EF4-FFF2-40B4-BE49-F238E27FC236}">
                <a16:creationId xmlns:a16="http://schemas.microsoft.com/office/drawing/2014/main" id="{AD3D0B76-8537-0116-E409-90D47BA45611}"/>
              </a:ext>
            </a:extLst>
          </p:cNvPr>
          <p:cNvSpPr txBox="1"/>
          <p:nvPr/>
        </p:nvSpPr>
        <p:spPr>
          <a:xfrm>
            <a:off x="1611043" y="4975159"/>
            <a:ext cx="10817764" cy="1415772"/>
          </a:xfrm>
          <a:prstGeom prst="rect">
            <a:avLst/>
          </a:prstGeom>
          <a:noFill/>
        </p:spPr>
        <p:txBody>
          <a:bodyPr wrap="square" rtlCol="0">
            <a:spAutoFit/>
          </a:bodyPr>
          <a:lstStyle/>
          <a:p>
            <a:pPr algn="ctr" rtl="0">
              <a:spcBef>
                <a:spcPts val="0"/>
              </a:spcBef>
              <a:spcAft>
                <a:spcPts val="0"/>
              </a:spcAft>
            </a:pPr>
            <a:r>
              <a:rPr lang="en-AU" sz="1800" dirty="0">
                <a:solidFill>
                  <a:srgbClr val="000000"/>
                </a:solidFill>
                <a:latin typeface="Times New Roman" panose="02020603050405020304" pitchFamily="18" charset="0"/>
                <a:cs typeface="Times New Roman" panose="02020603050405020304" pitchFamily="18" charset="0"/>
              </a:rPr>
              <a:t>{name} </a:t>
            </a:r>
            <a:r>
              <a:rPr lang="en-AU" sz="1800" b="0" i="0" u="none" strike="noStrike" dirty="0">
                <a:solidFill>
                  <a:srgbClr val="000000"/>
                </a:solidFill>
                <a:effectLst/>
                <a:latin typeface="Times New Roman" panose="02020603050405020304" pitchFamily="18" charset="0"/>
              </a:rPr>
              <a:t>has seen service with the Australian Special Operations Taskforce in multiple theatres of operations, successfully providing aid and conducting combat operations across the globe.</a:t>
            </a:r>
            <a:endParaRPr lang="en-AU" sz="1600" b="0" dirty="0">
              <a:effectLst/>
            </a:endParaRPr>
          </a:p>
          <a:p>
            <a:pPr algn="ctr" rtl="0">
              <a:spcBef>
                <a:spcPts val="0"/>
              </a:spcBef>
              <a:spcAft>
                <a:spcPts val="0"/>
              </a:spcAft>
            </a:pPr>
            <a:r>
              <a:rPr lang="en-AU" sz="1800" b="0" i="0" u="none" strike="noStrike" dirty="0">
                <a:solidFill>
                  <a:srgbClr val="000000"/>
                </a:solidFill>
                <a:effectLst/>
                <a:latin typeface="Times New Roman" panose="02020603050405020304" pitchFamily="18" charset="0"/>
              </a:rPr>
              <a:t>They are characterised by their commitment to duty and peace.</a:t>
            </a:r>
            <a:endParaRPr lang="en-AU" sz="1600" b="0" dirty="0">
              <a:effectLst/>
            </a:endParaRPr>
          </a:p>
          <a:p>
            <a:br>
              <a:rPr lang="en-AU" sz="1600" dirty="0"/>
            </a:br>
            <a:endParaRPr lang="en-AU" sz="1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718E15B-7258-714F-DC79-C32D439E9315}"/>
              </a:ext>
            </a:extLst>
          </p:cNvPr>
          <p:cNvSpPr txBox="1"/>
          <p:nvPr/>
        </p:nvSpPr>
        <p:spPr>
          <a:xfrm>
            <a:off x="2003790" y="5847649"/>
            <a:ext cx="10032270" cy="646331"/>
          </a:xfrm>
          <a:prstGeom prst="rect">
            <a:avLst/>
          </a:prstGeom>
          <a:noFill/>
        </p:spPr>
        <p:txBody>
          <a:bodyPr wrap="square" rtlCol="0">
            <a:spAutoFit/>
          </a:bodyPr>
          <a:lstStyle/>
          <a:p>
            <a:pPr algn="ctr"/>
            <a:r>
              <a:rPr lang="en-AU" dirty="0">
                <a:latin typeface="Times New Roman" panose="02020603050405020304" pitchFamily="18" charset="0"/>
                <a:cs typeface="Times New Roman" panose="02020603050405020304" pitchFamily="18" charset="0"/>
              </a:rPr>
              <a:t>On today’s date, </a:t>
            </a:r>
            <a:r>
              <a:rPr lang="en-AU" i="1" dirty="0">
                <a:latin typeface="Times New Roman" panose="02020603050405020304" pitchFamily="18" charset="0"/>
                <a:cs typeface="Times New Roman" panose="02020603050405020304" pitchFamily="18" charset="0"/>
              </a:rPr>
              <a:t>{</a:t>
            </a:r>
            <a:r>
              <a:rPr lang="en-AU" i="1" dirty="0" err="1">
                <a:latin typeface="Times New Roman" panose="02020603050405020304" pitchFamily="18" charset="0"/>
                <a:cs typeface="Times New Roman" panose="02020603050405020304" pitchFamily="18" charset="0"/>
              </a:rPr>
              <a:t>dateNumber</a:t>
            </a:r>
            <a:r>
              <a:rPr lang="en-AU" sz="1800" b="0" i="1" strike="noStrike" spc="-1" dirty="0">
                <a:solidFill>
                  <a:srgbClr val="000000"/>
                </a:solidFill>
                <a:latin typeface="Times New Roman"/>
                <a:ea typeface="DejaVu Sans"/>
              </a:rPr>
              <a:t>}</a:t>
            </a:r>
            <a:r>
              <a:rPr lang="en-AU" sz="1800" b="0" i="1" strike="noStrike" spc="-1" baseline="30000" dirty="0">
                <a:solidFill>
                  <a:srgbClr val="000000"/>
                </a:solidFill>
                <a:latin typeface="Times New Roman"/>
                <a:ea typeface="DejaVu Sans"/>
              </a:rPr>
              <a:t>{suffix}</a:t>
            </a:r>
            <a:r>
              <a:rPr lang="en-AU" sz="1800" b="0" i="1" strike="noStrike" spc="-1" dirty="0">
                <a:solidFill>
                  <a:srgbClr val="000000"/>
                </a:solidFill>
                <a:latin typeface="Times New Roman"/>
                <a:ea typeface="DejaVu Sans"/>
              </a:rPr>
              <a:t> </a:t>
            </a:r>
            <a:r>
              <a:rPr lang="en-AU" i="1" dirty="0">
                <a:latin typeface="Times New Roman" panose="02020603050405020304" pitchFamily="18" charset="0"/>
                <a:cs typeface="Times New Roman" panose="02020603050405020304" pitchFamily="18" charset="0"/>
              </a:rPr>
              <a:t>{date}</a:t>
            </a:r>
            <a:r>
              <a:rPr lang="en-AU" dirty="0">
                <a:latin typeface="Times New Roman" panose="02020603050405020304" pitchFamily="18" charset="0"/>
                <a:cs typeface="Times New Roman" panose="02020603050405020304" pitchFamily="18" charset="0"/>
              </a:rPr>
              <a:t>, </a:t>
            </a:r>
            <a:r>
              <a:rPr lang="en-AU" sz="1800" dirty="0">
                <a:solidFill>
                  <a:srgbClr val="000000"/>
                </a:solidFill>
                <a:latin typeface="Times New Roman" panose="02020603050405020304" pitchFamily="18" charset="0"/>
                <a:cs typeface="Times New Roman" panose="02020603050405020304" pitchFamily="18" charset="0"/>
              </a:rPr>
              <a:t>{name} </a:t>
            </a:r>
            <a:r>
              <a:rPr lang="en-AU" dirty="0">
                <a:latin typeface="Times New Roman" panose="02020603050405020304" pitchFamily="18" charset="0"/>
                <a:cs typeface="Times New Roman" panose="02020603050405020304" pitchFamily="18" charset="0"/>
              </a:rPr>
              <a:t>is therefore awarded the</a:t>
            </a:r>
          </a:p>
          <a:p>
            <a:pPr algn="ctr"/>
            <a:r>
              <a:rPr lang="en-AU" sz="1800" dirty="0">
                <a:latin typeface="Times New Roman" panose="02020603050405020304" pitchFamily="18" charset="0"/>
                <a:cs typeface="Times New Roman" panose="02020603050405020304" pitchFamily="18" charset="0"/>
              </a:rPr>
              <a:t>Campaign Medallion Tier 3 with third clasp</a:t>
            </a:r>
            <a:r>
              <a:rPr lang="en-AU" dirty="0">
                <a:latin typeface="Times New Roman" panose="02020603050405020304" pitchFamily="18" charset="0"/>
                <a:cs typeface="Times New Roman" panose="02020603050405020304" pitchFamily="18" charset="0"/>
              </a:rPr>
              <a:t>.</a:t>
            </a:r>
          </a:p>
        </p:txBody>
      </p:sp>
      <p:pic>
        <p:nvPicPr>
          <p:cNvPr id="10" name="Picture 9">
            <a:extLst>
              <a:ext uri="{FF2B5EF4-FFF2-40B4-BE49-F238E27FC236}">
                <a16:creationId xmlns:a16="http://schemas.microsoft.com/office/drawing/2014/main" id="{695EF164-488E-8F2A-0425-43946B612B9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74002" y="797767"/>
            <a:ext cx="856179" cy="1838266"/>
          </a:xfrm>
          <a:prstGeom prst="rect">
            <a:avLst/>
          </a:prstGeom>
        </p:spPr>
      </p:pic>
      <p:sp>
        <p:nvSpPr>
          <p:cNvPr id="2" name="TextBox 33">
            <a:extLst>
              <a:ext uri="{FF2B5EF4-FFF2-40B4-BE49-F238E27FC236}">
                <a16:creationId xmlns:a16="http://schemas.microsoft.com/office/drawing/2014/main" id="{9655621C-5A63-A337-BFA0-D71BECE08ABD}"/>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cxnSp>
        <p:nvCxnSpPr>
          <p:cNvPr id="17" name="Straight Connector 31">
            <a:extLst>
              <a:ext uri="{FF2B5EF4-FFF2-40B4-BE49-F238E27FC236}">
                <a16:creationId xmlns:a16="http://schemas.microsoft.com/office/drawing/2014/main" id="{D49AEB93-669A-9CBD-EF62-7656874C2E72}"/>
              </a:ext>
            </a:extLst>
          </p:cNvPr>
          <p:cNvCxnSpPr/>
          <p:nvPr/>
        </p:nvCxnSpPr>
        <p:spPr>
          <a:xfrm flipH="1">
            <a:off x="5849280" y="6918120"/>
            <a:ext cx="2452680" cy="1440"/>
          </a:xfrm>
          <a:prstGeom prst="straightConnector1">
            <a:avLst/>
          </a:prstGeom>
          <a:ln w="12700">
            <a:solidFill>
              <a:srgbClr val="000000"/>
            </a:solidFill>
            <a:round/>
          </a:ln>
        </p:spPr>
      </p:cxnSp>
      <p:sp>
        <p:nvSpPr>
          <p:cNvPr id="7" name="Google Shape;90;p1">
            <a:extLst>
              <a:ext uri="{FF2B5EF4-FFF2-40B4-BE49-F238E27FC236}">
                <a16:creationId xmlns:a16="http://schemas.microsoft.com/office/drawing/2014/main" id="{13FD0A8E-FEE0-C190-547B-31824492BB10}"/>
              </a:ext>
            </a:extLst>
          </p:cNvPr>
          <p:cNvSpPr/>
          <p:nvPr/>
        </p:nvSpPr>
        <p:spPr>
          <a:xfrm>
            <a:off x="4905450" y="6882257"/>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11" name="Google Shape;347;p28">
            <a:extLst>
              <a:ext uri="{FF2B5EF4-FFF2-40B4-BE49-F238E27FC236}">
                <a16:creationId xmlns:a16="http://schemas.microsoft.com/office/drawing/2014/main" id="{0853628A-F027-25C7-E1B9-6A59A4623DBB}"/>
              </a:ext>
            </a:extLst>
          </p:cNvPr>
          <p:cNvSpPr/>
          <p:nvPr/>
        </p:nvSpPr>
        <p:spPr>
          <a:xfrm>
            <a:off x="4852260" y="6412873"/>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extLst>
      <p:ext uri="{BB962C8B-B14F-4D97-AF65-F5344CB8AC3E}">
        <p14:creationId xmlns:p14="http://schemas.microsoft.com/office/powerpoint/2010/main" val="22593834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02F8D24D-B690-429A-B31A-EE075F591D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9151" y="714375"/>
            <a:ext cx="12430124" cy="7105650"/>
          </a:xfrm>
          <a:prstGeom prst="rect">
            <a:avLst/>
          </a:prstGeom>
        </p:spPr>
      </p:pic>
      <p:pic>
        <p:nvPicPr>
          <p:cNvPr id="20" name="Picture 19">
            <a:extLst>
              <a:ext uri="{FF2B5EF4-FFF2-40B4-BE49-F238E27FC236}">
                <a16:creationId xmlns:a16="http://schemas.microsoft.com/office/drawing/2014/main" id="{E93A7C25-E6EB-404F-B46D-2C23D8281883}"/>
              </a:ext>
            </a:extLst>
          </p:cNvPr>
          <p:cNvPicPr>
            <a:picLocks noChangeAspect="1"/>
          </p:cNvPicPr>
          <p:nvPr/>
        </p:nvPicPr>
        <p:blipFill rotWithShape="1">
          <a:blip r:embed="rId3">
            <a:extLst>
              <a:ext uri="{28A0092B-C50C-407E-A947-70E740481C1C}">
                <a14:useLocalDpi xmlns:a14="http://schemas.microsoft.com/office/drawing/2010/main" val="0"/>
              </a:ext>
            </a:extLst>
          </a:blip>
          <a:srcRect l="10028" t="12537" r="10465" b="20263"/>
          <a:stretch/>
        </p:blipFill>
        <p:spPr>
          <a:xfrm>
            <a:off x="0" y="3090"/>
            <a:ext cx="14039850" cy="8456697"/>
          </a:xfrm>
          <a:prstGeom prst="rect">
            <a:avLst/>
          </a:prstGeom>
        </p:spPr>
      </p:pic>
      <p:sp>
        <p:nvSpPr>
          <p:cNvPr id="8" name="TextBox 7">
            <a:extLst>
              <a:ext uri="{FF2B5EF4-FFF2-40B4-BE49-F238E27FC236}">
                <a16:creationId xmlns:a16="http://schemas.microsoft.com/office/drawing/2014/main" id="{D7E785A6-A2A0-41EA-A1D2-14E262272345}"/>
              </a:ext>
            </a:extLst>
          </p:cNvPr>
          <p:cNvSpPr txBox="1"/>
          <p:nvPr/>
        </p:nvSpPr>
        <p:spPr>
          <a:xfrm>
            <a:off x="1668886" y="2526227"/>
            <a:ext cx="10737849" cy="646203"/>
          </a:xfrm>
          <a:prstGeom prst="rect">
            <a:avLst/>
          </a:prstGeom>
          <a:noFill/>
        </p:spPr>
        <p:txBody>
          <a:bodyPr wrap="square" rtlCol="0">
            <a:spAutoFit/>
          </a:bodyPr>
          <a:lstStyle/>
          <a:p>
            <a:pPr algn="ctr"/>
            <a:r>
              <a:rPr lang="en-AU" sz="3599" dirty="0">
                <a:latin typeface="Times New Roman" panose="02020603050405020304" pitchFamily="18" charset="0"/>
                <a:cs typeface="Times New Roman" panose="02020603050405020304" pitchFamily="18" charset="0"/>
              </a:rPr>
              <a:t>AUSTRALIAN SPECIAL OPERATIONS TASKFORCE</a:t>
            </a:r>
          </a:p>
        </p:txBody>
      </p:sp>
      <p:sp>
        <p:nvSpPr>
          <p:cNvPr id="9" name="TextBox 8">
            <a:extLst>
              <a:ext uri="{FF2B5EF4-FFF2-40B4-BE49-F238E27FC236}">
                <a16:creationId xmlns:a16="http://schemas.microsoft.com/office/drawing/2014/main" id="{CEE68CE4-34AF-4ADF-B29B-D28BDCB22EE8}"/>
              </a:ext>
            </a:extLst>
          </p:cNvPr>
          <p:cNvSpPr txBox="1"/>
          <p:nvPr/>
        </p:nvSpPr>
        <p:spPr>
          <a:xfrm>
            <a:off x="4094814" y="2918089"/>
            <a:ext cx="6072189" cy="646203"/>
          </a:xfrm>
          <a:prstGeom prst="rect">
            <a:avLst/>
          </a:prstGeom>
          <a:noFill/>
        </p:spPr>
        <p:txBody>
          <a:bodyPr wrap="square" rtlCol="0">
            <a:spAutoFit/>
          </a:bodyPr>
          <a:lstStyle/>
          <a:p>
            <a:pPr algn="ctr"/>
            <a:r>
              <a:rPr lang="en-AU" sz="2400" dirty="0">
                <a:latin typeface="Times New Roman" panose="02020603050405020304" pitchFamily="18" charset="0"/>
                <a:cs typeface="Times New Roman" panose="02020603050405020304" pitchFamily="18" charset="0"/>
              </a:rPr>
              <a:t>This is to certify that command has awarded the</a:t>
            </a:r>
            <a:r>
              <a:rPr lang="en-AU" sz="3599" dirty="0">
                <a:latin typeface="Times New Roman" panose="02020603050405020304" pitchFamily="18" charset="0"/>
                <a:cs typeface="Times New Roman" panose="02020603050405020304" pitchFamily="18" charset="0"/>
              </a:rPr>
              <a:t> </a:t>
            </a:r>
          </a:p>
        </p:txBody>
      </p:sp>
      <p:sp>
        <p:nvSpPr>
          <p:cNvPr id="12" name="TextBox 11">
            <a:extLst>
              <a:ext uri="{FF2B5EF4-FFF2-40B4-BE49-F238E27FC236}">
                <a16:creationId xmlns:a16="http://schemas.microsoft.com/office/drawing/2014/main" id="{66251F15-5C9B-4076-9AC4-A7542F35F809}"/>
              </a:ext>
            </a:extLst>
          </p:cNvPr>
          <p:cNvSpPr txBox="1"/>
          <p:nvPr/>
        </p:nvSpPr>
        <p:spPr>
          <a:xfrm>
            <a:off x="6723495" y="3932030"/>
            <a:ext cx="592891" cy="461665"/>
          </a:xfrm>
          <a:prstGeom prst="rect">
            <a:avLst/>
          </a:prstGeom>
          <a:noFill/>
        </p:spPr>
        <p:txBody>
          <a:bodyPr wrap="square" rtlCol="0">
            <a:spAutoFit/>
          </a:bodyPr>
          <a:lstStyle/>
          <a:p>
            <a:pPr algn="ctr"/>
            <a:r>
              <a:rPr lang="en-AU" sz="2400" dirty="0">
                <a:latin typeface="Times New Roman" panose="02020603050405020304" pitchFamily="18" charset="0"/>
                <a:cs typeface="Times New Roman" panose="02020603050405020304" pitchFamily="18" charset="0"/>
              </a:rPr>
              <a:t>TO</a:t>
            </a:r>
          </a:p>
        </p:txBody>
      </p:sp>
      <p:pic>
        <p:nvPicPr>
          <p:cNvPr id="3" name="Picture 2">
            <a:extLst>
              <a:ext uri="{FF2B5EF4-FFF2-40B4-BE49-F238E27FC236}">
                <a16:creationId xmlns:a16="http://schemas.microsoft.com/office/drawing/2014/main" id="{60284F50-8D17-4ED6-AFBB-6246451EE4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81551" y="6171659"/>
            <a:ext cx="1572386" cy="1372265"/>
          </a:xfrm>
          <a:prstGeom prst="rect">
            <a:avLst/>
          </a:prstGeom>
        </p:spPr>
      </p:pic>
      <p:pic>
        <p:nvPicPr>
          <p:cNvPr id="5" name="Picture 4">
            <a:extLst>
              <a:ext uri="{FF2B5EF4-FFF2-40B4-BE49-F238E27FC236}">
                <a16:creationId xmlns:a16="http://schemas.microsoft.com/office/drawing/2014/main" id="{2AAA12D2-3373-46F3-9023-5E737A57AC8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68892" y="6107880"/>
            <a:ext cx="1394987" cy="1442544"/>
          </a:xfrm>
          <a:prstGeom prst="rect">
            <a:avLst/>
          </a:prstGeom>
        </p:spPr>
      </p:pic>
      <p:sp>
        <p:nvSpPr>
          <p:cNvPr id="15" name="TextBox 14">
            <a:extLst>
              <a:ext uri="{FF2B5EF4-FFF2-40B4-BE49-F238E27FC236}">
                <a16:creationId xmlns:a16="http://schemas.microsoft.com/office/drawing/2014/main" id="{0DBB7150-9B2C-C26D-3305-A7DB02A80770}"/>
              </a:ext>
            </a:extLst>
          </p:cNvPr>
          <p:cNvSpPr txBox="1"/>
          <p:nvPr/>
        </p:nvSpPr>
        <p:spPr>
          <a:xfrm>
            <a:off x="2890374" y="3418013"/>
            <a:ext cx="8287677" cy="646203"/>
          </a:xfrm>
          <a:prstGeom prst="rect">
            <a:avLst/>
          </a:prstGeom>
          <a:noFill/>
        </p:spPr>
        <p:txBody>
          <a:bodyPr wrap="square" rtlCol="0">
            <a:spAutoFit/>
          </a:bodyPr>
          <a:lstStyle/>
          <a:p>
            <a:pPr algn="ctr"/>
            <a:r>
              <a:rPr lang="en-AU" sz="3599" dirty="0">
                <a:latin typeface="Times New Roman" panose="02020603050405020304" pitchFamily="18" charset="0"/>
                <a:cs typeface="Times New Roman" panose="02020603050405020304" pitchFamily="18" charset="0"/>
              </a:rPr>
              <a:t>Campaign Medallion Tier 3 Fourth Clasp</a:t>
            </a:r>
          </a:p>
        </p:txBody>
      </p:sp>
      <p:sp>
        <p:nvSpPr>
          <p:cNvPr id="4" name="TextBox 3">
            <a:extLst>
              <a:ext uri="{FF2B5EF4-FFF2-40B4-BE49-F238E27FC236}">
                <a16:creationId xmlns:a16="http://schemas.microsoft.com/office/drawing/2014/main" id="{AD3D0B76-8537-0116-E409-90D47BA45611}"/>
              </a:ext>
            </a:extLst>
          </p:cNvPr>
          <p:cNvSpPr txBox="1"/>
          <p:nvPr/>
        </p:nvSpPr>
        <p:spPr>
          <a:xfrm>
            <a:off x="1611043" y="4975159"/>
            <a:ext cx="10817764" cy="1415772"/>
          </a:xfrm>
          <a:prstGeom prst="rect">
            <a:avLst/>
          </a:prstGeom>
          <a:noFill/>
        </p:spPr>
        <p:txBody>
          <a:bodyPr wrap="square" rtlCol="0">
            <a:spAutoFit/>
          </a:bodyPr>
          <a:lstStyle/>
          <a:p>
            <a:pPr algn="ctr" rtl="0">
              <a:spcBef>
                <a:spcPts val="0"/>
              </a:spcBef>
              <a:spcAft>
                <a:spcPts val="0"/>
              </a:spcAft>
            </a:pPr>
            <a:r>
              <a:rPr lang="en-AU" sz="1800" dirty="0">
                <a:solidFill>
                  <a:srgbClr val="000000"/>
                </a:solidFill>
                <a:latin typeface="Times New Roman" panose="02020603050405020304" pitchFamily="18" charset="0"/>
                <a:cs typeface="Times New Roman" panose="02020603050405020304" pitchFamily="18" charset="0"/>
              </a:rPr>
              <a:t>{name} </a:t>
            </a:r>
            <a:r>
              <a:rPr lang="en-AU" sz="1800" b="0" i="0" u="none" strike="noStrike" dirty="0">
                <a:solidFill>
                  <a:srgbClr val="000000"/>
                </a:solidFill>
                <a:effectLst/>
                <a:latin typeface="Times New Roman" panose="02020603050405020304" pitchFamily="18" charset="0"/>
              </a:rPr>
              <a:t>has seen service with the Australian Special Operations Taskforce in multiple theatres of operations, successfully providing aid and conducting combat operations across the globe.</a:t>
            </a:r>
            <a:endParaRPr lang="en-AU" sz="1600" b="0" dirty="0">
              <a:effectLst/>
            </a:endParaRPr>
          </a:p>
          <a:p>
            <a:pPr algn="ctr" rtl="0">
              <a:spcBef>
                <a:spcPts val="0"/>
              </a:spcBef>
              <a:spcAft>
                <a:spcPts val="0"/>
              </a:spcAft>
            </a:pPr>
            <a:r>
              <a:rPr lang="en-AU" sz="1800" b="0" i="0" u="none" strike="noStrike" dirty="0">
                <a:solidFill>
                  <a:srgbClr val="000000"/>
                </a:solidFill>
                <a:effectLst/>
                <a:latin typeface="Times New Roman" panose="02020603050405020304" pitchFamily="18" charset="0"/>
              </a:rPr>
              <a:t>They are characterised by their commitment to duty and peace.</a:t>
            </a:r>
            <a:endParaRPr lang="en-AU" sz="1600" b="0" dirty="0">
              <a:effectLst/>
            </a:endParaRPr>
          </a:p>
          <a:p>
            <a:br>
              <a:rPr lang="en-AU" sz="1600" dirty="0"/>
            </a:br>
            <a:endParaRPr lang="en-AU" sz="1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718E15B-7258-714F-DC79-C32D439E9315}"/>
              </a:ext>
            </a:extLst>
          </p:cNvPr>
          <p:cNvSpPr txBox="1"/>
          <p:nvPr/>
        </p:nvSpPr>
        <p:spPr>
          <a:xfrm>
            <a:off x="2003790" y="5847649"/>
            <a:ext cx="10032270" cy="646331"/>
          </a:xfrm>
          <a:prstGeom prst="rect">
            <a:avLst/>
          </a:prstGeom>
          <a:noFill/>
        </p:spPr>
        <p:txBody>
          <a:bodyPr wrap="square" rtlCol="0">
            <a:spAutoFit/>
          </a:bodyPr>
          <a:lstStyle/>
          <a:p>
            <a:pPr algn="ctr"/>
            <a:r>
              <a:rPr lang="en-AU" dirty="0">
                <a:latin typeface="Times New Roman" panose="02020603050405020304" pitchFamily="18" charset="0"/>
                <a:cs typeface="Times New Roman" panose="02020603050405020304" pitchFamily="18" charset="0"/>
              </a:rPr>
              <a:t>On today’s date, </a:t>
            </a:r>
            <a:r>
              <a:rPr lang="en-AU" i="1" dirty="0">
                <a:latin typeface="Times New Roman" panose="02020603050405020304" pitchFamily="18" charset="0"/>
                <a:cs typeface="Times New Roman" panose="02020603050405020304" pitchFamily="18" charset="0"/>
              </a:rPr>
              <a:t>{</a:t>
            </a:r>
            <a:r>
              <a:rPr lang="en-AU" i="1" dirty="0" err="1">
                <a:latin typeface="Times New Roman" panose="02020603050405020304" pitchFamily="18" charset="0"/>
                <a:cs typeface="Times New Roman" panose="02020603050405020304" pitchFamily="18" charset="0"/>
              </a:rPr>
              <a:t>dateNumber</a:t>
            </a:r>
            <a:r>
              <a:rPr lang="en-AU" sz="1800" b="0" i="1" strike="noStrike" spc="-1" dirty="0">
                <a:solidFill>
                  <a:srgbClr val="000000"/>
                </a:solidFill>
                <a:latin typeface="Times New Roman"/>
                <a:ea typeface="DejaVu Sans"/>
              </a:rPr>
              <a:t>}</a:t>
            </a:r>
            <a:r>
              <a:rPr lang="en-AU" sz="1800" b="0" i="1" strike="noStrike" spc="-1" baseline="30000" dirty="0">
                <a:solidFill>
                  <a:srgbClr val="000000"/>
                </a:solidFill>
                <a:latin typeface="Times New Roman"/>
                <a:ea typeface="DejaVu Sans"/>
              </a:rPr>
              <a:t>{suffix}</a:t>
            </a:r>
            <a:r>
              <a:rPr lang="en-AU" sz="1800" b="0" i="1" strike="noStrike" spc="-1" dirty="0">
                <a:solidFill>
                  <a:srgbClr val="000000"/>
                </a:solidFill>
                <a:latin typeface="Times New Roman"/>
                <a:ea typeface="DejaVu Sans"/>
              </a:rPr>
              <a:t> </a:t>
            </a:r>
            <a:r>
              <a:rPr lang="en-AU" i="1" dirty="0">
                <a:latin typeface="Times New Roman" panose="02020603050405020304" pitchFamily="18" charset="0"/>
                <a:cs typeface="Times New Roman" panose="02020603050405020304" pitchFamily="18" charset="0"/>
              </a:rPr>
              <a:t>{date}</a:t>
            </a:r>
            <a:r>
              <a:rPr lang="en-AU" dirty="0">
                <a:latin typeface="Times New Roman" panose="02020603050405020304" pitchFamily="18" charset="0"/>
                <a:cs typeface="Times New Roman" panose="02020603050405020304" pitchFamily="18" charset="0"/>
              </a:rPr>
              <a:t>, </a:t>
            </a:r>
            <a:r>
              <a:rPr lang="en-AU" sz="1800" dirty="0">
                <a:solidFill>
                  <a:srgbClr val="000000"/>
                </a:solidFill>
                <a:latin typeface="Times New Roman" panose="02020603050405020304" pitchFamily="18" charset="0"/>
                <a:cs typeface="Times New Roman" panose="02020603050405020304" pitchFamily="18" charset="0"/>
              </a:rPr>
              <a:t>{name} </a:t>
            </a:r>
            <a:r>
              <a:rPr lang="en-AU" dirty="0">
                <a:latin typeface="Times New Roman" panose="02020603050405020304" pitchFamily="18" charset="0"/>
                <a:cs typeface="Times New Roman" panose="02020603050405020304" pitchFamily="18" charset="0"/>
              </a:rPr>
              <a:t>is therefore awarded the</a:t>
            </a:r>
          </a:p>
          <a:p>
            <a:pPr algn="ctr"/>
            <a:r>
              <a:rPr lang="en-AU" sz="1800" dirty="0">
                <a:latin typeface="Times New Roman" panose="02020603050405020304" pitchFamily="18" charset="0"/>
                <a:cs typeface="Times New Roman" panose="02020603050405020304" pitchFamily="18" charset="0"/>
              </a:rPr>
              <a:t>Campaign Medallion Tier 3 with fourth clasp</a:t>
            </a:r>
            <a:r>
              <a:rPr lang="en-AU" dirty="0">
                <a:latin typeface="Times New Roman" panose="02020603050405020304" pitchFamily="18" charset="0"/>
                <a:cs typeface="Times New Roman" panose="02020603050405020304" pitchFamily="18" charset="0"/>
              </a:rPr>
              <a:t>.</a:t>
            </a:r>
          </a:p>
        </p:txBody>
      </p:sp>
      <p:pic>
        <p:nvPicPr>
          <p:cNvPr id="2" name="Picture 1">
            <a:extLst>
              <a:ext uri="{FF2B5EF4-FFF2-40B4-BE49-F238E27FC236}">
                <a16:creationId xmlns:a16="http://schemas.microsoft.com/office/drawing/2014/main" id="{7DA20BC4-CCFD-9BE4-91B0-6D2A5B551C2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74002" y="806087"/>
            <a:ext cx="856179" cy="1838266"/>
          </a:xfrm>
          <a:prstGeom prst="rect">
            <a:avLst/>
          </a:prstGeom>
        </p:spPr>
      </p:pic>
      <p:sp>
        <p:nvSpPr>
          <p:cNvPr id="10" name="TextBox 33">
            <a:extLst>
              <a:ext uri="{FF2B5EF4-FFF2-40B4-BE49-F238E27FC236}">
                <a16:creationId xmlns:a16="http://schemas.microsoft.com/office/drawing/2014/main" id="{B0C7CC8B-1368-0078-B2F3-84536919F03E}"/>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cxnSp>
        <p:nvCxnSpPr>
          <p:cNvPr id="17" name="Straight Connector 31">
            <a:extLst>
              <a:ext uri="{FF2B5EF4-FFF2-40B4-BE49-F238E27FC236}">
                <a16:creationId xmlns:a16="http://schemas.microsoft.com/office/drawing/2014/main" id="{8D5A5EDE-48FA-8550-3EDE-2302E3665899}"/>
              </a:ext>
            </a:extLst>
          </p:cNvPr>
          <p:cNvCxnSpPr/>
          <p:nvPr/>
        </p:nvCxnSpPr>
        <p:spPr>
          <a:xfrm flipH="1">
            <a:off x="5849280" y="6918120"/>
            <a:ext cx="2452680" cy="1440"/>
          </a:xfrm>
          <a:prstGeom prst="straightConnector1">
            <a:avLst/>
          </a:prstGeom>
          <a:ln w="12700">
            <a:solidFill>
              <a:srgbClr val="000000"/>
            </a:solidFill>
            <a:round/>
          </a:ln>
        </p:spPr>
      </p:cxnSp>
      <p:sp>
        <p:nvSpPr>
          <p:cNvPr id="7" name="Google Shape;90;p1">
            <a:extLst>
              <a:ext uri="{FF2B5EF4-FFF2-40B4-BE49-F238E27FC236}">
                <a16:creationId xmlns:a16="http://schemas.microsoft.com/office/drawing/2014/main" id="{CED87D18-4F76-3F97-7189-6DDEF88064D1}"/>
              </a:ext>
            </a:extLst>
          </p:cNvPr>
          <p:cNvSpPr/>
          <p:nvPr/>
        </p:nvSpPr>
        <p:spPr>
          <a:xfrm>
            <a:off x="4905450" y="6882257"/>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11" name="Google Shape;347;p28">
            <a:extLst>
              <a:ext uri="{FF2B5EF4-FFF2-40B4-BE49-F238E27FC236}">
                <a16:creationId xmlns:a16="http://schemas.microsoft.com/office/drawing/2014/main" id="{842D4200-F884-23C9-65F1-1CF612979751}"/>
              </a:ext>
            </a:extLst>
          </p:cNvPr>
          <p:cNvSpPr/>
          <p:nvPr/>
        </p:nvSpPr>
        <p:spPr>
          <a:xfrm>
            <a:off x="4852260" y="6412873"/>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extLst>
      <p:ext uri="{BB962C8B-B14F-4D97-AF65-F5344CB8AC3E}">
        <p14:creationId xmlns:p14="http://schemas.microsoft.com/office/powerpoint/2010/main" val="1039197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02F8D24D-B690-429A-B31A-EE075F591D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9151" y="714375"/>
            <a:ext cx="12430124" cy="7105650"/>
          </a:xfrm>
          <a:prstGeom prst="rect">
            <a:avLst/>
          </a:prstGeom>
        </p:spPr>
      </p:pic>
      <p:pic>
        <p:nvPicPr>
          <p:cNvPr id="20" name="Picture 19">
            <a:extLst>
              <a:ext uri="{FF2B5EF4-FFF2-40B4-BE49-F238E27FC236}">
                <a16:creationId xmlns:a16="http://schemas.microsoft.com/office/drawing/2014/main" id="{E93A7C25-E6EB-404F-B46D-2C23D8281883}"/>
              </a:ext>
            </a:extLst>
          </p:cNvPr>
          <p:cNvPicPr>
            <a:picLocks noChangeAspect="1"/>
          </p:cNvPicPr>
          <p:nvPr/>
        </p:nvPicPr>
        <p:blipFill rotWithShape="1">
          <a:blip r:embed="rId3">
            <a:extLst>
              <a:ext uri="{28A0092B-C50C-407E-A947-70E740481C1C}">
                <a14:useLocalDpi xmlns:a14="http://schemas.microsoft.com/office/drawing/2010/main" val="0"/>
              </a:ext>
            </a:extLst>
          </a:blip>
          <a:srcRect l="10028" t="12537" r="10465" b="20263"/>
          <a:stretch/>
        </p:blipFill>
        <p:spPr>
          <a:xfrm>
            <a:off x="0" y="3090"/>
            <a:ext cx="14039850" cy="8456697"/>
          </a:xfrm>
          <a:prstGeom prst="rect">
            <a:avLst/>
          </a:prstGeom>
        </p:spPr>
      </p:pic>
      <p:sp>
        <p:nvSpPr>
          <p:cNvPr id="8" name="TextBox 7">
            <a:extLst>
              <a:ext uri="{FF2B5EF4-FFF2-40B4-BE49-F238E27FC236}">
                <a16:creationId xmlns:a16="http://schemas.microsoft.com/office/drawing/2014/main" id="{D7E785A6-A2A0-41EA-A1D2-14E262272345}"/>
              </a:ext>
            </a:extLst>
          </p:cNvPr>
          <p:cNvSpPr txBox="1"/>
          <p:nvPr/>
        </p:nvSpPr>
        <p:spPr>
          <a:xfrm>
            <a:off x="1668886" y="2526227"/>
            <a:ext cx="10737849" cy="646203"/>
          </a:xfrm>
          <a:prstGeom prst="rect">
            <a:avLst/>
          </a:prstGeom>
          <a:noFill/>
        </p:spPr>
        <p:txBody>
          <a:bodyPr wrap="square" rtlCol="0">
            <a:spAutoFit/>
          </a:bodyPr>
          <a:lstStyle/>
          <a:p>
            <a:pPr algn="ctr"/>
            <a:r>
              <a:rPr lang="en-AU" sz="3599" dirty="0">
                <a:latin typeface="Times New Roman" panose="02020603050405020304" pitchFamily="18" charset="0"/>
                <a:cs typeface="Times New Roman" panose="02020603050405020304" pitchFamily="18" charset="0"/>
              </a:rPr>
              <a:t>AUSTRALIAN SPECIAL OPERATIONS TASKFORCE</a:t>
            </a:r>
          </a:p>
        </p:txBody>
      </p:sp>
      <p:sp>
        <p:nvSpPr>
          <p:cNvPr id="9" name="TextBox 8">
            <a:extLst>
              <a:ext uri="{FF2B5EF4-FFF2-40B4-BE49-F238E27FC236}">
                <a16:creationId xmlns:a16="http://schemas.microsoft.com/office/drawing/2014/main" id="{CEE68CE4-34AF-4ADF-B29B-D28BDCB22EE8}"/>
              </a:ext>
            </a:extLst>
          </p:cNvPr>
          <p:cNvSpPr txBox="1"/>
          <p:nvPr/>
        </p:nvSpPr>
        <p:spPr>
          <a:xfrm>
            <a:off x="4094814" y="2918089"/>
            <a:ext cx="6072189" cy="646203"/>
          </a:xfrm>
          <a:prstGeom prst="rect">
            <a:avLst/>
          </a:prstGeom>
          <a:noFill/>
        </p:spPr>
        <p:txBody>
          <a:bodyPr wrap="square" rtlCol="0">
            <a:spAutoFit/>
          </a:bodyPr>
          <a:lstStyle/>
          <a:p>
            <a:pPr algn="ctr"/>
            <a:r>
              <a:rPr lang="en-AU" sz="2400" dirty="0">
                <a:latin typeface="Times New Roman" panose="02020603050405020304" pitchFamily="18" charset="0"/>
                <a:cs typeface="Times New Roman" panose="02020603050405020304" pitchFamily="18" charset="0"/>
              </a:rPr>
              <a:t>This is to certify that command has awarded the</a:t>
            </a:r>
            <a:r>
              <a:rPr lang="en-AU" sz="3599" dirty="0">
                <a:latin typeface="Times New Roman" panose="02020603050405020304" pitchFamily="18" charset="0"/>
                <a:cs typeface="Times New Roman" panose="02020603050405020304" pitchFamily="18" charset="0"/>
              </a:rPr>
              <a:t> </a:t>
            </a:r>
          </a:p>
        </p:txBody>
      </p:sp>
      <p:sp>
        <p:nvSpPr>
          <p:cNvPr id="12" name="TextBox 11">
            <a:extLst>
              <a:ext uri="{FF2B5EF4-FFF2-40B4-BE49-F238E27FC236}">
                <a16:creationId xmlns:a16="http://schemas.microsoft.com/office/drawing/2014/main" id="{66251F15-5C9B-4076-9AC4-A7542F35F809}"/>
              </a:ext>
            </a:extLst>
          </p:cNvPr>
          <p:cNvSpPr txBox="1"/>
          <p:nvPr/>
        </p:nvSpPr>
        <p:spPr>
          <a:xfrm>
            <a:off x="6723495" y="3932030"/>
            <a:ext cx="592891" cy="461665"/>
          </a:xfrm>
          <a:prstGeom prst="rect">
            <a:avLst/>
          </a:prstGeom>
          <a:noFill/>
        </p:spPr>
        <p:txBody>
          <a:bodyPr wrap="square" rtlCol="0">
            <a:spAutoFit/>
          </a:bodyPr>
          <a:lstStyle/>
          <a:p>
            <a:pPr algn="ctr"/>
            <a:r>
              <a:rPr lang="en-AU" sz="2400" dirty="0">
                <a:latin typeface="Times New Roman" panose="02020603050405020304" pitchFamily="18" charset="0"/>
                <a:cs typeface="Times New Roman" panose="02020603050405020304" pitchFamily="18" charset="0"/>
              </a:rPr>
              <a:t>TO</a:t>
            </a:r>
          </a:p>
        </p:txBody>
      </p:sp>
      <p:pic>
        <p:nvPicPr>
          <p:cNvPr id="3" name="Picture 2">
            <a:extLst>
              <a:ext uri="{FF2B5EF4-FFF2-40B4-BE49-F238E27FC236}">
                <a16:creationId xmlns:a16="http://schemas.microsoft.com/office/drawing/2014/main" id="{60284F50-8D17-4ED6-AFBB-6246451EE4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81551" y="6171659"/>
            <a:ext cx="1572386" cy="1372265"/>
          </a:xfrm>
          <a:prstGeom prst="rect">
            <a:avLst/>
          </a:prstGeom>
        </p:spPr>
      </p:pic>
      <p:pic>
        <p:nvPicPr>
          <p:cNvPr id="5" name="Picture 4">
            <a:extLst>
              <a:ext uri="{FF2B5EF4-FFF2-40B4-BE49-F238E27FC236}">
                <a16:creationId xmlns:a16="http://schemas.microsoft.com/office/drawing/2014/main" id="{2AAA12D2-3373-46F3-9023-5E737A57AC8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68892" y="6107880"/>
            <a:ext cx="1394987" cy="1442544"/>
          </a:xfrm>
          <a:prstGeom prst="rect">
            <a:avLst/>
          </a:prstGeom>
        </p:spPr>
      </p:pic>
      <p:sp>
        <p:nvSpPr>
          <p:cNvPr id="15" name="TextBox 14">
            <a:extLst>
              <a:ext uri="{FF2B5EF4-FFF2-40B4-BE49-F238E27FC236}">
                <a16:creationId xmlns:a16="http://schemas.microsoft.com/office/drawing/2014/main" id="{0DBB7150-9B2C-C26D-3305-A7DB02A80770}"/>
              </a:ext>
            </a:extLst>
          </p:cNvPr>
          <p:cNvSpPr txBox="1"/>
          <p:nvPr/>
        </p:nvSpPr>
        <p:spPr>
          <a:xfrm>
            <a:off x="2890374" y="3418013"/>
            <a:ext cx="8287677" cy="646203"/>
          </a:xfrm>
          <a:prstGeom prst="rect">
            <a:avLst/>
          </a:prstGeom>
          <a:noFill/>
        </p:spPr>
        <p:txBody>
          <a:bodyPr wrap="square" rtlCol="0">
            <a:spAutoFit/>
          </a:bodyPr>
          <a:lstStyle/>
          <a:p>
            <a:pPr algn="ctr"/>
            <a:r>
              <a:rPr lang="en-AU" sz="3599" dirty="0">
                <a:latin typeface="Times New Roman" panose="02020603050405020304" pitchFamily="18" charset="0"/>
                <a:cs typeface="Times New Roman" panose="02020603050405020304" pitchFamily="18" charset="0"/>
              </a:rPr>
              <a:t>Campaign Medallion Tier 4 First Clasp</a:t>
            </a:r>
          </a:p>
        </p:txBody>
      </p:sp>
      <p:sp>
        <p:nvSpPr>
          <p:cNvPr id="4" name="TextBox 3">
            <a:extLst>
              <a:ext uri="{FF2B5EF4-FFF2-40B4-BE49-F238E27FC236}">
                <a16:creationId xmlns:a16="http://schemas.microsoft.com/office/drawing/2014/main" id="{AD3D0B76-8537-0116-E409-90D47BA45611}"/>
              </a:ext>
            </a:extLst>
          </p:cNvPr>
          <p:cNvSpPr txBox="1"/>
          <p:nvPr/>
        </p:nvSpPr>
        <p:spPr>
          <a:xfrm>
            <a:off x="1611043" y="4975159"/>
            <a:ext cx="10817764" cy="1415772"/>
          </a:xfrm>
          <a:prstGeom prst="rect">
            <a:avLst/>
          </a:prstGeom>
          <a:noFill/>
        </p:spPr>
        <p:txBody>
          <a:bodyPr wrap="square" rtlCol="0">
            <a:spAutoFit/>
          </a:bodyPr>
          <a:lstStyle/>
          <a:p>
            <a:pPr algn="ctr" rtl="0">
              <a:spcBef>
                <a:spcPts val="0"/>
              </a:spcBef>
              <a:spcAft>
                <a:spcPts val="0"/>
              </a:spcAft>
            </a:pPr>
            <a:r>
              <a:rPr lang="en-AU" sz="1800" dirty="0">
                <a:solidFill>
                  <a:srgbClr val="000000"/>
                </a:solidFill>
                <a:latin typeface="Times New Roman" panose="02020603050405020304" pitchFamily="18" charset="0"/>
                <a:cs typeface="Times New Roman" panose="02020603050405020304" pitchFamily="18" charset="0"/>
              </a:rPr>
              <a:t>{name} </a:t>
            </a:r>
            <a:r>
              <a:rPr lang="en-AU" sz="1800" b="0" i="0" u="none" strike="noStrike" dirty="0">
                <a:solidFill>
                  <a:srgbClr val="000000"/>
                </a:solidFill>
                <a:effectLst/>
                <a:latin typeface="Times New Roman" panose="02020603050405020304" pitchFamily="18" charset="0"/>
              </a:rPr>
              <a:t>has seen service with the Australian Special Operations Taskforce in multiple theatres of operations, successfully providing aid and conducting combat operations across the globe.</a:t>
            </a:r>
            <a:endParaRPr lang="en-AU" sz="1600" b="0" dirty="0">
              <a:effectLst/>
            </a:endParaRPr>
          </a:p>
          <a:p>
            <a:pPr algn="ctr" rtl="0">
              <a:spcBef>
                <a:spcPts val="0"/>
              </a:spcBef>
              <a:spcAft>
                <a:spcPts val="0"/>
              </a:spcAft>
            </a:pPr>
            <a:r>
              <a:rPr lang="en-AU" sz="1800" b="0" i="0" u="none" strike="noStrike" dirty="0">
                <a:solidFill>
                  <a:srgbClr val="000000"/>
                </a:solidFill>
                <a:effectLst/>
                <a:latin typeface="Times New Roman" panose="02020603050405020304" pitchFamily="18" charset="0"/>
              </a:rPr>
              <a:t>They are characterised by their commitment to duty and peace.</a:t>
            </a:r>
            <a:endParaRPr lang="en-AU" sz="1600" b="0" dirty="0">
              <a:effectLst/>
            </a:endParaRPr>
          </a:p>
          <a:p>
            <a:br>
              <a:rPr lang="en-AU" sz="1600" dirty="0"/>
            </a:br>
            <a:endParaRPr lang="en-AU" sz="1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718E15B-7258-714F-DC79-C32D439E9315}"/>
              </a:ext>
            </a:extLst>
          </p:cNvPr>
          <p:cNvSpPr txBox="1"/>
          <p:nvPr/>
        </p:nvSpPr>
        <p:spPr>
          <a:xfrm>
            <a:off x="2003790" y="5847649"/>
            <a:ext cx="10032270" cy="646331"/>
          </a:xfrm>
          <a:prstGeom prst="rect">
            <a:avLst/>
          </a:prstGeom>
          <a:noFill/>
        </p:spPr>
        <p:txBody>
          <a:bodyPr wrap="square" rtlCol="0">
            <a:spAutoFit/>
          </a:bodyPr>
          <a:lstStyle/>
          <a:p>
            <a:pPr algn="ctr"/>
            <a:r>
              <a:rPr lang="en-AU" dirty="0">
                <a:latin typeface="Times New Roman" panose="02020603050405020304" pitchFamily="18" charset="0"/>
                <a:cs typeface="Times New Roman" panose="02020603050405020304" pitchFamily="18" charset="0"/>
              </a:rPr>
              <a:t>On today’s date, </a:t>
            </a:r>
            <a:r>
              <a:rPr lang="en-AU" i="1" dirty="0">
                <a:latin typeface="Times New Roman" panose="02020603050405020304" pitchFamily="18" charset="0"/>
                <a:cs typeface="Times New Roman" panose="02020603050405020304" pitchFamily="18" charset="0"/>
              </a:rPr>
              <a:t>{</a:t>
            </a:r>
            <a:r>
              <a:rPr lang="en-AU" i="1" dirty="0" err="1">
                <a:latin typeface="Times New Roman" panose="02020603050405020304" pitchFamily="18" charset="0"/>
                <a:cs typeface="Times New Roman" panose="02020603050405020304" pitchFamily="18" charset="0"/>
              </a:rPr>
              <a:t>dateNumber</a:t>
            </a:r>
            <a:r>
              <a:rPr lang="en-AU" sz="1800" b="0" i="1" strike="noStrike" spc="-1" dirty="0">
                <a:solidFill>
                  <a:srgbClr val="000000"/>
                </a:solidFill>
                <a:latin typeface="Times New Roman"/>
                <a:ea typeface="DejaVu Sans"/>
              </a:rPr>
              <a:t>}</a:t>
            </a:r>
            <a:r>
              <a:rPr lang="en-AU" sz="1800" b="0" i="1" strike="noStrike" spc="-1" baseline="30000" dirty="0">
                <a:solidFill>
                  <a:srgbClr val="000000"/>
                </a:solidFill>
                <a:latin typeface="Times New Roman"/>
                <a:ea typeface="DejaVu Sans"/>
              </a:rPr>
              <a:t>{suffix}</a:t>
            </a:r>
            <a:r>
              <a:rPr lang="en-AU" sz="1800" b="0" i="1" strike="noStrike" spc="-1" dirty="0">
                <a:solidFill>
                  <a:srgbClr val="000000"/>
                </a:solidFill>
                <a:latin typeface="Times New Roman"/>
                <a:ea typeface="DejaVu Sans"/>
              </a:rPr>
              <a:t> </a:t>
            </a:r>
            <a:r>
              <a:rPr lang="en-AU" i="1" dirty="0">
                <a:latin typeface="Times New Roman" panose="02020603050405020304" pitchFamily="18" charset="0"/>
                <a:cs typeface="Times New Roman" panose="02020603050405020304" pitchFamily="18" charset="0"/>
              </a:rPr>
              <a:t>{date}</a:t>
            </a:r>
            <a:r>
              <a:rPr lang="en-AU" dirty="0">
                <a:latin typeface="Times New Roman" panose="02020603050405020304" pitchFamily="18" charset="0"/>
                <a:cs typeface="Times New Roman" panose="02020603050405020304" pitchFamily="18" charset="0"/>
              </a:rPr>
              <a:t>, </a:t>
            </a:r>
            <a:r>
              <a:rPr lang="en-AU" sz="1800" dirty="0">
                <a:solidFill>
                  <a:srgbClr val="000000"/>
                </a:solidFill>
                <a:latin typeface="Times New Roman" panose="02020603050405020304" pitchFamily="18" charset="0"/>
                <a:cs typeface="Times New Roman" panose="02020603050405020304" pitchFamily="18" charset="0"/>
              </a:rPr>
              <a:t>{name} </a:t>
            </a:r>
            <a:r>
              <a:rPr lang="en-AU" dirty="0">
                <a:latin typeface="Times New Roman" panose="02020603050405020304" pitchFamily="18" charset="0"/>
                <a:cs typeface="Times New Roman" panose="02020603050405020304" pitchFamily="18" charset="0"/>
              </a:rPr>
              <a:t>is therefore awarded the</a:t>
            </a:r>
          </a:p>
          <a:p>
            <a:pPr algn="ctr"/>
            <a:r>
              <a:rPr lang="en-AU" sz="1800" dirty="0">
                <a:latin typeface="Times New Roman" panose="02020603050405020304" pitchFamily="18" charset="0"/>
                <a:cs typeface="Times New Roman" panose="02020603050405020304" pitchFamily="18" charset="0"/>
              </a:rPr>
              <a:t>Campaign Medallion Tier 3 with first clasp</a:t>
            </a:r>
            <a:r>
              <a:rPr lang="en-AU" dirty="0">
                <a:latin typeface="Times New Roman" panose="02020603050405020304" pitchFamily="18" charset="0"/>
                <a:cs typeface="Times New Roman" panose="02020603050405020304" pitchFamily="18" charset="0"/>
              </a:rPr>
              <a:t>.</a:t>
            </a:r>
          </a:p>
        </p:txBody>
      </p:sp>
      <p:pic>
        <p:nvPicPr>
          <p:cNvPr id="10" name="Picture 9">
            <a:extLst>
              <a:ext uri="{FF2B5EF4-FFF2-40B4-BE49-F238E27FC236}">
                <a16:creationId xmlns:a16="http://schemas.microsoft.com/office/drawing/2014/main" id="{51231E4A-E9F4-668F-A09D-A850240BED4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74002" y="806087"/>
            <a:ext cx="856179" cy="1838266"/>
          </a:xfrm>
          <a:prstGeom prst="rect">
            <a:avLst/>
          </a:prstGeom>
        </p:spPr>
      </p:pic>
      <p:sp>
        <p:nvSpPr>
          <p:cNvPr id="2" name="TextBox 33">
            <a:extLst>
              <a:ext uri="{FF2B5EF4-FFF2-40B4-BE49-F238E27FC236}">
                <a16:creationId xmlns:a16="http://schemas.microsoft.com/office/drawing/2014/main" id="{625D9B5C-2E30-F3CA-AB32-73F482CC9075}"/>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cxnSp>
        <p:nvCxnSpPr>
          <p:cNvPr id="17" name="Straight Connector 31">
            <a:extLst>
              <a:ext uri="{FF2B5EF4-FFF2-40B4-BE49-F238E27FC236}">
                <a16:creationId xmlns:a16="http://schemas.microsoft.com/office/drawing/2014/main" id="{054176FD-7CCD-6089-CF82-1901E6884C5D}"/>
              </a:ext>
            </a:extLst>
          </p:cNvPr>
          <p:cNvCxnSpPr/>
          <p:nvPr/>
        </p:nvCxnSpPr>
        <p:spPr>
          <a:xfrm flipH="1">
            <a:off x="5849280" y="6918120"/>
            <a:ext cx="2452680" cy="1440"/>
          </a:xfrm>
          <a:prstGeom prst="straightConnector1">
            <a:avLst/>
          </a:prstGeom>
          <a:ln w="12700">
            <a:solidFill>
              <a:srgbClr val="000000"/>
            </a:solidFill>
            <a:round/>
          </a:ln>
        </p:spPr>
      </p:cxnSp>
      <p:sp>
        <p:nvSpPr>
          <p:cNvPr id="7" name="Google Shape;90;p1">
            <a:extLst>
              <a:ext uri="{FF2B5EF4-FFF2-40B4-BE49-F238E27FC236}">
                <a16:creationId xmlns:a16="http://schemas.microsoft.com/office/drawing/2014/main" id="{2F6BC2F9-E137-8895-FD13-FFA9E0BE02E9}"/>
              </a:ext>
            </a:extLst>
          </p:cNvPr>
          <p:cNvSpPr/>
          <p:nvPr/>
        </p:nvSpPr>
        <p:spPr>
          <a:xfrm>
            <a:off x="4905450" y="6882257"/>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11" name="Google Shape;347;p28">
            <a:extLst>
              <a:ext uri="{FF2B5EF4-FFF2-40B4-BE49-F238E27FC236}">
                <a16:creationId xmlns:a16="http://schemas.microsoft.com/office/drawing/2014/main" id="{C494A1DA-618A-9E5C-A1D6-36202D26AF4A}"/>
              </a:ext>
            </a:extLst>
          </p:cNvPr>
          <p:cNvSpPr/>
          <p:nvPr/>
        </p:nvSpPr>
        <p:spPr>
          <a:xfrm>
            <a:off x="4852260" y="6412873"/>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extLst>
      <p:ext uri="{BB962C8B-B14F-4D97-AF65-F5344CB8AC3E}">
        <p14:creationId xmlns:p14="http://schemas.microsoft.com/office/powerpoint/2010/main" val="16286047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02F8D24D-B690-429A-B31A-EE075F591D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9151" y="714375"/>
            <a:ext cx="12430124" cy="7105650"/>
          </a:xfrm>
          <a:prstGeom prst="rect">
            <a:avLst/>
          </a:prstGeom>
        </p:spPr>
      </p:pic>
      <p:pic>
        <p:nvPicPr>
          <p:cNvPr id="20" name="Picture 19">
            <a:extLst>
              <a:ext uri="{FF2B5EF4-FFF2-40B4-BE49-F238E27FC236}">
                <a16:creationId xmlns:a16="http://schemas.microsoft.com/office/drawing/2014/main" id="{E93A7C25-E6EB-404F-B46D-2C23D8281883}"/>
              </a:ext>
            </a:extLst>
          </p:cNvPr>
          <p:cNvPicPr>
            <a:picLocks noChangeAspect="1"/>
          </p:cNvPicPr>
          <p:nvPr/>
        </p:nvPicPr>
        <p:blipFill rotWithShape="1">
          <a:blip r:embed="rId3">
            <a:extLst>
              <a:ext uri="{28A0092B-C50C-407E-A947-70E740481C1C}">
                <a14:useLocalDpi xmlns:a14="http://schemas.microsoft.com/office/drawing/2010/main" val="0"/>
              </a:ext>
            </a:extLst>
          </a:blip>
          <a:srcRect l="10028" t="12537" r="10465" b="20263"/>
          <a:stretch/>
        </p:blipFill>
        <p:spPr>
          <a:xfrm>
            <a:off x="0" y="3090"/>
            <a:ext cx="14039850" cy="8456697"/>
          </a:xfrm>
          <a:prstGeom prst="rect">
            <a:avLst/>
          </a:prstGeom>
        </p:spPr>
      </p:pic>
      <p:sp>
        <p:nvSpPr>
          <p:cNvPr id="8" name="TextBox 7">
            <a:extLst>
              <a:ext uri="{FF2B5EF4-FFF2-40B4-BE49-F238E27FC236}">
                <a16:creationId xmlns:a16="http://schemas.microsoft.com/office/drawing/2014/main" id="{D7E785A6-A2A0-41EA-A1D2-14E262272345}"/>
              </a:ext>
            </a:extLst>
          </p:cNvPr>
          <p:cNvSpPr txBox="1"/>
          <p:nvPr/>
        </p:nvSpPr>
        <p:spPr>
          <a:xfrm>
            <a:off x="1668886" y="2526227"/>
            <a:ext cx="10737849" cy="646203"/>
          </a:xfrm>
          <a:prstGeom prst="rect">
            <a:avLst/>
          </a:prstGeom>
          <a:noFill/>
        </p:spPr>
        <p:txBody>
          <a:bodyPr wrap="square" rtlCol="0">
            <a:spAutoFit/>
          </a:bodyPr>
          <a:lstStyle/>
          <a:p>
            <a:pPr algn="ctr"/>
            <a:r>
              <a:rPr lang="en-AU" sz="3599" dirty="0">
                <a:latin typeface="Times New Roman" panose="02020603050405020304" pitchFamily="18" charset="0"/>
                <a:cs typeface="Times New Roman" panose="02020603050405020304" pitchFamily="18" charset="0"/>
              </a:rPr>
              <a:t>AUSTRALIAN SPECIAL OPERATIONS TASKFORCE</a:t>
            </a:r>
          </a:p>
        </p:txBody>
      </p:sp>
      <p:sp>
        <p:nvSpPr>
          <p:cNvPr id="9" name="TextBox 8">
            <a:extLst>
              <a:ext uri="{FF2B5EF4-FFF2-40B4-BE49-F238E27FC236}">
                <a16:creationId xmlns:a16="http://schemas.microsoft.com/office/drawing/2014/main" id="{CEE68CE4-34AF-4ADF-B29B-D28BDCB22EE8}"/>
              </a:ext>
            </a:extLst>
          </p:cNvPr>
          <p:cNvSpPr txBox="1"/>
          <p:nvPr/>
        </p:nvSpPr>
        <p:spPr>
          <a:xfrm>
            <a:off x="4094814" y="2918089"/>
            <a:ext cx="6072189" cy="646203"/>
          </a:xfrm>
          <a:prstGeom prst="rect">
            <a:avLst/>
          </a:prstGeom>
          <a:noFill/>
        </p:spPr>
        <p:txBody>
          <a:bodyPr wrap="square" rtlCol="0">
            <a:spAutoFit/>
          </a:bodyPr>
          <a:lstStyle/>
          <a:p>
            <a:pPr algn="ctr"/>
            <a:r>
              <a:rPr lang="en-AU" sz="2400" dirty="0">
                <a:latin typeface="Times New Roman" panose="02020603050405020304" pitchFamily="18" charset="0"/>
                <a:cs typeface="Times New Roman" panose="02020603050405020304" pitchFamily="18" charset="0"/>
              </a:rPr>
              <a:t>This is to certify that command has awarded the</a:t>
            </a:r>
            <a:r>
              <a:rPr lang="en-AU" sz="3599" dirty="0">
                <a:latin typeface="Times New Roman" panose="02020603050405020304" pitchFamily="18" charset="0"/>
                <a:cs typeface="Times New Roman" panose="02020603050405020304" pitchFamily="18" charset="0"/>
              </a:rPr>
              <a:t> </a:t>
            </a:r>
          </a:p>
        </p:txBody>
      </p:sp>
      <p:sp>
        <p:nvSpPr>
          <p:cNvPr id="12" name="TextBox 11">
            <a:extLst>
              <a:ext uri="{FF2B5EF4-FFF2-40B4-BE49-F238E27FC236}">
                <a16:creationId xmlns:a16="http://schemas.microsoft.com/office/drawing/2014/main" id="{66251F15-5C9B-4076-9AC4-A7542F35F809}"/>
              </a:ext>
            </a:extLst>
          </p:cNvPr>
          <p:cNvSpPr txBox="1"/>
          <p:nvPr/>
        </p:nvSpPr>
        <p:spPr>
          <a:xfrm>
            <a:off x="6723495" y="3932030"/>
            <a:ext cx="592891" cy="461665"/>
          </a:xfrm>
          <a:prstGeom prst="rect">
            <a:avLst/>
          </a:prstGeom>
          <a:noFill/>
        </p:spPr>
        <p:txBody>
          <a:bodyPr wrap="square" rtlCol="0">
            <a:spAutoFit/>
          </a:bodyPr>
          <a:lstStyle/>
          <a:p>
            <a:pPr algn="ctr"/>
            <a:r>
              <a:rPr lang="en-AU" sz="2400" dirty="0">
                <a:latin typeface="Times New Roman" panose="02020603050405020304" pitchFamily="18" charset="0"/>
                <a:cs typeface="Times New Roman" panose="02020603050405020304" pitchFamily="18" charset="0"/>
              </a:rPr>
              <a:t>TO</a:t>
            </a:r>
          </a:p>
        </p:txBody>
      </p:sp>
      <p:pic>
        <p:nvPicPr>
          <p:cNvPr id="3" name="Picture 2">
            <a:extLst>
              <a:ext uri="{FF2B5EF4-FFF2-40B4-BE49-F238E27FC236}">
                <a16:creationId xmlns:a16="http://schemas.microsoft.com/office/drawing/2014/main" id="{60284F50-8D17-4ED6-AFBB-6246451EE4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81551" y="6171659"/>
            <a:ext cx="1572386" cy="1372265"/>
          </a:xfrm>
          <a:prstGeom prst="rect">
            <a:avLst/>
          </a:prstGeom>
        </p:spPr>
      </p:pic>
      <p:pic>
        <p:nvPicPr>
          <p:cNvPr id="5" name="Picture 4">
            <a:extLst>
              <a:ext uri="{FF2B5EF4-FFF2-40B4-BE49-F238E27FC236}">
                <a16:creationId xmlns:a16="http://schemas.microsoft.com/office/drawing/2014/main" id="{2AAA12D2-3373-46F3-9023-5E737A57AC8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68892" y="6107880"/>
            <a:ext cx="1394987" cy="1442544"/>
          </a:xfrm>
          <a:prstGeom prst="rect">
            <a:avLst/>
          </a:prstGeom>
        </p:spPr>
      </p:pic>
      <p:sp>
        <p:nvSpPr>
          <p:cNvPr id="15" name="TextBox 14">
            <a:extLst>
              <a:ext uri="{FF2B5EF4-FFF2-40B4-BE49-F238E27FC236}">
                <a16:creationId xmlns:a16="http://schemas.microsoft.com/office/drawing/2014/main" id="{0DBB7150-9B2C-C26D-3305-A7DB02A80770}"/>
              </a:ext>
            </a:extLst>
          </p:cNvPr>
          <p:cNvSpPr txBox="1"/>
          <p:nvPr/>
        </p:nvSpPr>
        <p:spPr>
          <a:xfrm>
            <a:off x="2890374" y="3418013"/>
            <a:ext cx="8287677" cy="646203"/>
          </a:xfrm>
          <a:prstGeom prst="rect">
            <a:avLst/>
          </a:prstGeom>
          <a:noFill/>
        </p:spPr>
        <p:txBody>
          <a:bodyPr wrap="square" rtlCol="0">
            <a:spAutoFit/>
          </a:bodyPr>
          <a:lstStyle/>
          <a:p>
            <a:pPr algn="ctr"/>
            <a:r>
              <a:rPr lang="en-AU" sz="3599" dirty="0">
                <a:latin typeface="Times New Roman" panose="02020603050405020304" pitchFamily="18" charset="0"/>
                <a:cs typeface="Times New Roman" panose="02020603050405020304" pitchFamily="18" charset="0"/>
              </a:rPr>
              <a:t>Campaign Medallion Tier 4 Second Clasp</a:t>
            </a:r>
          </a:p>
        </p:txBody>
      </p:sp>
      <p:sp>
        <p:nvSpPr>
          <p:cNvPr id="4" name="TextBox 3">
            <a:extLst>
              <a:ext uri="{FF2B5EF4-FFF2-40B4-BE49-F238E27FC236}">
                <a16:creationId xmlns:a16="http://schemas.microsoft.com/office/drawing/2014/main" id="{AD3D0B76-8537-0116-E409-90D47BA45611}"/>
              </a:ext>
            </a:extLst>
          </p:cNvPr>
          <p:cNvSpPr txBox="1"/>
          <p:nvPr/>
        </p:nvSpPr>
        <p:spPr>
          <a:xfrm>
            <a:off x="1611043" y="4975159"/>
            <a:ext cx="10817764" cy="1415772"/>
          </a:xfrm>
          <a:prstGeom prst="rect">
            <a:avLst/>
          </a:prstGeom>
          <a:noFill/>
        </p:spPr>
        <p:txBody>
          <a:bodyPr wrap="square" rtlCol="0">
            <a:spAutoFit/>
          </a:bodyPr>
          <a:lstStyle/>
          <a:p>
            <a:pPr algn="ctr" rtl="0">
              <a:spcBef>
                <a:spcPts val="0"/>
              </a:spcBef>
              <a:spcAft>
                <a:spcPts val="0"/>
              </a:spcAft>
            </a:pPr>
            <a:r>
              <a:rPr lang="en-AU" sz="1800" dirty="0">
                <a:solidFill>
                  <a:srgbClr val="000000"/>
                </a:solidFill>
                <a:latin typeface="Times New Roman" panose="02020603050405020304" pitchFamily="18" charset="0"/>
                <a:cs typeface="Times New Roman" panose="02020603050405020304" pitchFamily="18" charset="0"/>
              </a:rPr>
              <a:t>{name} </a:t>
            </a:r>
            <a:r>
              <a:rPr lang="en-AU" sz="1800" b="0" i="0" u="none" strike="noStrike" dirty="0">
                <a:solidFill>
                  <a:srgbClr val="000000"/>
                </a:solidFill>
                <a:effectLst/>
                <a:latin typeface="Times New Roman" panose="02020603050405020304" pitchFamily="18" charset="0"/>
              </a:rPr>
              <a:t>has seen service with the Australian Special Operations Taskforce in multiple theatres of operations, successfully providing aid and conducting combat operations across the globe.</a:t>
            </a:r>
            <a:endParaRPr lang="en-AU" sz="1600" b="0" dirty="0">
              <a:effectLst/>
            </a:endParaRPr>
          </a:p>
          <a:p>
            <a:pPr algn="ctr" rtl="0">
              <a:spcBef>
                <a:spcPts val="0"/>
              </a:spcBef>
              <a:spcAft>
                <a:spcPts val="0"/>
              </a:spcAft>
            </a:pPr>
            <a:r>
              <a:rPr lang="en-AU" sz="1800" b="0" i="0" u="none" strike="noStrike" dirty="0">
                <a:solidFill>
                  <a:srgbClr val="000000"/>
                </a:solidFill>
                <a:effectLst/>
                <a:latin typeface="Times New Roman" panose="02020603050405020304" pitchFamily="18" charset="0"/>
              </a:rPr>
              <a:t>They are characterised by their commitment to duty and peace.</a:t>
            </a:r>
            <a:endParaRPr lang="en-AU" sz="1600" b="0" dirty="0">
              <a:effectLst/>
            </a:endParaRPr>
          </a:p>
          <a:p>
            <a:br>
              <a:rPr lang="en-AU" sz="1600" dirty="0"/>
            </a:br>
            <a:endParaRPr lang="en-AU" sz="1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718E15B-7258-714F-DC79-C32D439E9315}"/>
              </a:ext>
            </a:extLst>
          </p:cNvPr>
          <p:cNvSpPr txBox="1"/>
          <p:nvPr/>
        </p:nvSpPr>
        <p:spPr>
          <a:xfrm>
            <a:off x="2003790" y="5847649"/>
            <a:ext cx="10032270" cy="646331"/>
          </a:xfrm>
          <a:prstGeom prst="rect">
            <a:avLst/>
          </a:prstGeom>
          <a:noFill/>
        </p:spPr>
        <p:txBody>
          <a:bodyPr wrap="square" rtlCol="0">
            <a:spAutoFit/>
          </a:bodyPr>
          <a:lstStyle/>
          <a:p>
            <a:pPr algn="ctr"/>
            <a:r>
              <a:rPr lang="en-AU" dirty="0">
                <a:latin typeface="Times New Roman" panose="02020603050405020304" pitchFamily="18" charset="0"/>
                <a:cs typeface="Times New Roman" panose="02020603050405020304" pitchFamily="18" charset="0"/>
              </a:rPr>
              <a:t>On today’s date, </a:t>
            </a:r>
            <a:r>
              <a:rPr lang="en-AU" i="1" dirty="0">
                <a:latin typeface="Times New Roman" panose="02020603050405020304" pitchFamily="18" charset="0"/>
                <a:cs typeface="Times New Roman" panose="02020603050405020304" pitchFamily="18" charset="0"/>
              </a:rPr>
              <a:t>{</a:t>
            </a:r>
            <a:r>
              <a:rPr lang="en-AU" i="1" dirty="0" err="1">
                <a:latin typeface="Times New Roman" panose="02020603050405020304" pitchFamily="18" charset="0"/>
                <a:cs typeface="Times New Roman" panose="02020603050405020304" pitchFamily="18" charset="0"/>
              </a:rPr>
              <a:t>dateNumber</a:t>
            </a:r>
            <a:r>
              <a:rPr lang="en-AU" sz="1800" b="0" i="1" strike="noStrike" spc="-1" dirty="0">
                <a:solidFill>
                  <a:srgbClr val="000000"/>
                </a:solidFill>
                <a:latin typeface="Times New Roman"/>
                <a:ea typeface="DejaVu Sans"/>
              </a:rPr>
              <a:t>}</a:t>
            </a:r>
            <a:r>
              <a:rPr lang="en-AU" sz="1800" b="0" i="1" strike="noStrike" spc="-1" baseline="30000" dirty="0">
                <a:solidFill>
                  <a:srgbClr val="000000"/>
                </a:solidFill>
                <a:latin typeface="Times New Roman"/>
                <a:ea typeface="DejaVu Sans"/>
              </a:rPr>
              <a:t>{suffix}</a:t>
            </a:r>
            <a:r>
              <a:rPr lang="en-AU" sz="1800" b="0" i="1" strike="noStrike" spc="-1" dirty="0">
                <a:solidFill>
                  <a:srgbClr val="000000"/>
                </a:solidFill>
                <a:latin typeface="Times New Roman"/>
                <a:ea typeface="DejaVu Sans"/>
              </a:rPr>
              <a:t> </a:t>
            </a:r>
            <a:r>
              <a:rPr lang="en-AU" i="1" dirty="0">
                <a:latin typeface="Times New Roman" panose="02020603050405020304" pitchFamily="18" charset="0"/>
                <a:cs typeface="Times New Roman" panose="02020603050405020304" pitchFamily="18" charset="0"/>
              </a:rPr>
              <a:t>{date}</a:t>
            </a:r>
            <a:r>
              <a:rPr lang="en-AU" dirty="0">
                <a:latin typeface="Times New Roman" panose="02020603050405020304" pitchFamily="18" charset="0"/>
                <a:cs typeface="Times New Roman" panose="02020603050405020304" pitchFamily="18" charset="0"/>
              </a:rPr>
              <a:t>, </a:t>
            </a:r>
            <a:r>
              <a:rPr lang="en-AU" sz="1800" dirty="0">
                <a:solidFill>
                  <a:srgbClr val="000000"/>
                </a:solidFill>
                <a:latin typeface="Times New Roman" panose="02020603050405020304" pitchFamily="18" charset="0"/>
                <a:cs typeface="Times New Roman" panose="02020603050405020304" pitchFamily="18" charset="0"/>
              </a:rPr>
              <a:t>{name} </a:t>
            </a:r>
            <a:r>
              <a:rPr lang="en-AU" dirty="0">
                <a:latin typeface="Times New Roman" panose="02020603050405020304" pitchFamily="18" charset="0"/>
                <a:cs typeface="Times New Roman" panose="02020603050405020304" pitchFamily="18" charset="0"/>
              </a:rPr>
              <a:t>is therefore awarded the</a:t>
            </a:r>
          </a:p>
          <a:p>
            <a:pPr algn="ctr"/>
            <a:r>
              <a:rPr lang="en-AU" sz="1800" dirty="0">
                <a:latin typeface="Times New Roman" panose="02020603050405020304" pitchFamily="18" charset="0"/>
                <a:cs typeface="Times New Roman" panose="02020603050405020304" pitchFamily="18" charset="0"/>
              </a:rPr>
              <a:t>Campaign Medallion Tier 3 with second clasp</a:t>
            </a:r>
            <a:r>
              <a:rPr lang="en-AU" dirty="0">
                <a:latin typeface="Times New Roman" panose="02020603050405020304" pitchFamily="18" charset="0"/>
                <a:cs typeface="Times New Roman" panose="02020603050405020304" pitchFamily="18" charset="0"/>
              </a:rPr>
              <a:t>.</a:t>
            </a:r>
          </a:p>
        </p:txBody>
      </p:sp>
      <p:pic>
        <p:nvPicPr>
          <p:cNvPr id="2" name="Picture 1">
            <a:extLst>
              <a:ext uri="{FF2B5EF4-FFF2-40B4-BE49-F238E27FC236}">
                <a16:creationId xmlns:a16="http://schemas.microsoft.com/office/drawing/2014/main" id="{FDA68BFC-80BB-9255-CEFA-5481EB59230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67183" y="806087"/>
            <a:ext cx="856179" cy="1838266"/>
          </a:xfrm>
          <a:prstGeom prst="rect">
            <a:avLst/>
          </a:prstGeom>
        </p:spPr>
      </p:pic>
      <p:sp>
        <p:nvSpPr>
          <p:cNvPr id="10" name="TextBox 33">
            <a:extLst>
              <a:ext uri="{FF2B5EF4-FFF2-40B4-BE49-F238E27FC236}">
                <a16:creationId xmlns:a16="http://schemas.microsoft.com/office/drawing/2014/main" id="{53C351AD-C400-109E-30BE-6D5D2C818812}"/>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cxnSp>
        <p:nvCxnSpPr>
          <p:cNvPr id="17" name="Straight Connector 31">
            <a:extLst>
              <a:ext uri="{FF2B5EF4-FFF2-40B4-BE49-F238E27FC236}">
                <a16:creationId xmlns:a16="http://schemas.microsoft.com/office/drawing/2014/main" id="{C7ED4BA2-BA4D-F6AF-1DCD-AD05B20E1C7B}"/>
              </a:ext>
            </a:extLst>
          </p:cNvPr>
          <p:cNvCxnSpPr/>
          <p:nvPr/>
        </p:nvCxnSpPr>
        <p:spPr>
          <a:xfrm flipH="1">
            <a:off x="5849280" y="6918120"/>
            <a:ext cx="2452680" cy="1440"/>
          </a:xfrm>
          <a:prstGeom prst="straightConnector1">
            <a:avLst/>
          </a:prstGeom>
          <a:ln w="12700">
            <a:solidFill>
              <a:srgbClr val="000000"/>
            </a:solidFill>
            <a:round/>
          </a:ln>
        </p:spPr>
      </p:cxnSp>
      <p:sp>
        <p:nvSpPr>
          <p:cNvPr id="7" name="Google Shape;90;p1">
            <a:extLst>
              <a:ext uri="{FF2B5EF4-FFF2-40B4-BE49-F238E27FC236}">
                <a16:creationId xmlns:a16="http://schemas.microsoft.com/office/drawing/2014/main" id="{674A590F-1DDB-58D2-E4AD-7EE8ED14F464}"/>
              </a:ext>
            </a:extLst>
          </p:cNvPr>
          <p:cNvSpPr/>
          <p:nvPr/>
        </p:nvSpPr>
        <p:spPr>
          <a:xfrm>
            <a:off x="4905450" y="6882257"/>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11" name="Google Shape;347;p28">
            <a:extLst>
              <a:ext uri="{FF2B5EF4-FFF2-40B4-BE49-F238E27FC236}">
                <a16:creationId xmlns:a16="http://schemas.microsoft.com/office/drawing/2014/main" id="{CC4DC3D8-F479-F29D-94F0-2A2FC358516C}"/>
              </a:ext>
            </a:extLst>
          </p:cNvPr>
          <p:cNvSpPr/>
          <p:nvPr/>
        </p:nvSpPr>
        <p:spPr>
          <a:xfrm>
            <a:off x="4852260" y="6412873"/>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extLst>
      <p:ext uri="{BB962C8B-B14F-4D97-AF65-F5344CB8AC3E}">
        <p14:creationId xmlns:p14="http://schemas.microsoft.com/office/powerpoint/2010/main" val="4643823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02F8D24D-B690-429A-B31A-EE075F591D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9151" y="714375"/>
            <a:ext cx="12430124" cy="7105650"/>
          </a:xfrm>
          <a:prstGeom prst="rect">
            <a:avLst/>
          </a:prstGeom>
        </p:spPr>
      </p:pic>
      <p:pic>
        <p:nvPicPr>
          <p:cNvPr id="20" name="Picture 19">
            <a:extLst>
              <a:ext uri="{FF2B5EF4-FFF2-40B4-BE49-F238E27FC236}">
                <a16:creationId xmlns:a16="http://schemas.microsoft.com/office/drawing/2014/main" id="{E93A7C25-E6EB-404F-B46D-2C23D8281883}"/>
              </a:ext>
            </a:extLst>
          </p:cNvPr>
          <p:cNvPicPr>
            <a:picLocks noChangeAspect="1"/>
          </p:cNvPicPr>
          <p:nvPr/>
        </p:nvPicPr>
        <p:blipFill rotWithShape="1">
          <a:blip r:embed="rId3">
            <a:extLst>
              <a:ext uri="{28A0092B-C50C-407E-A947-70E740481C1C}">
                <a14:useLocalDpi xmlns:a14="http://schemas.microsoft.com/office/drawing/2010/main" val="0"/>
              </a:ext>
            </a:extLst>
          </a:blip>
          <a:srcRect l="10028" t="12537" r="10465" b="20263"/>
          <a:stretch/>
        </p:blipFill>
        <p:spPr>
          <a:xfrm>
            <a:off x="0" y="3090"/>
            <a:ext cx="14039850" cy="8456697"/>
          </a:xfrm>
          <a:prstGeom prst="rect">
            <a:avLst/>
          </a:prstGeom>
        </p:spPr>
      </p:pic>
      <p:sp>
        <p:nvSpPr>
          <p:cNvPr id="8" name="TextBox 7">
            <a:extLst>
              <a:ext uri="{FF2B5EF4-FFF2-40B4-BE49-F238E27FC236}">
                <a16:creationId xmlns:a16="http://schemas.microsoft.com/office/drawing/2014/main" id="{D7E785A6-A2A0-41EA-A1D2-14E262272345}"/>
              </a:ext>
            </a:extLst>
          </p:cNvPr>
          <p:cNvSpPr txBox="1"/>
          <p:nvPr/>
        </p:nvSpPr>
        <p:spPr>
          <a:xfrm>
            <a:off x="1668886" y="2526227"/>
            <a:ext cx="10737849" cy="646203"/>
          </a:xfrm>
          <a:prstGeom prst="rect">
            <a:avLst/>
          </a:prstGeom>
          <a:noFill/>
        </p:spPr>
        <p:txBody>
          <a:bodyPr wrap="square" rtlCol="0">
            <a:spAutoFit/>
          </a:bodyPr>
          <a:lstStyle/>
          <a:p>
            <a:pPr algn="ctr"/>
            <a:r>
              <a:rPr lang="en-AU" sz="3599" dirty="0">
                <a:latin typeface="Times New Roman" panose="02020603050405020304" pitchFamily="18" charset="0"/>
                <a:cs typeface="Times New Roman" panose="02020603050405020304" pitchFamily="18" charset="0"/>
              </a:rPr>
              <a:t>AUSTRALIAN SPECIAL OPERATIONS TASKFORCE</a:t>
            </a:r>
          </a:p>
        </p:txBody>
      </p:sp>
      <p:sp>
        <p:nvSpPr>
          <p:cNvPr id="9" name="TextBox 8">
            <a:extLst>
              <a:ext uri="{FF2B5EF4-FFF2-40B4-BE49-F238E27FC236}">
                <a16:creationId xmlns:a16="http://schemas.microsoft.com/office/drawing/2014/main" id="{CEE68CE4-34AF-4ADF-B29B-D28BDCB22EE8}"/>
              </a:ext>
            </a:extLst>
          </p:cNvPr>
          <p:cNvSpPr txBox="1"/>
          <p:nvPr/>
        </p:nvSpPr>
        <p:spPr>
          <a:xfrm>
            <a:off x="4094814" y="2918089"/>
            <a:ext cx="6072189" cy="646203"/>
          </a:xfrm>
          <a:prstGeom prst="rect">
            <a:avLst/>
          </a:prstGeom>
          <a:noFill/>
        </p:spPr>
        <p:txBody>
          <a:bodyPr wrap="square" rtlCol="0">
            <a:spAutoFit/>
          </a:bodyPr>
          <a:lstStyle/>
          <a:p>
            <a:pPr algn="ctr"/>
            <a:r>
              <a:rPr lang="en-AU" sz="2400" dirty="0">
                <a:latin typeface="Times New Roman" panose="02020603050405020304" pitchFamily="18" charset="0"/>
                <a:cs typeface="Times New Roman" panose="02020603050405020304" pitchFamily="18" charset="0"/>
              </a:rPr>
              <a:t>This is to certify that command has awarded the</a:t>
            </a:r>
            <a:r>
              <a:rPr lang="en-AU" sz="3599" dirty="0">
                <a:latin typeface="Times New Roman" panose="02020603050405020304" pitchFamily="18" charset="0"/>
                <a:cs typeface="Times New Roman" panose="02020603050405020304" pitchFamily="18" charset="0"/>
              </a:rPr>
              <a:t> </a:t>
            </a:r>
          </a:p>
        </p:txBody>
      </p:sp>
      <p:sp>
        <p:nvSpPr>
          <p:cNvPr id="12" name="TextBox 11">
            <a:extLst>
              <a:ext uri="{FF2B5EF4-FFF2-40B4-BE49-F238E27FC236}">
                <a16:creationId xmlns:a16="http://schemas.microsoft.com/office/drawing/2014/main" id="{66251F15-5C9B-4076-9AC4-A7542F35F809}"/>
              </a:ext>
            </a:extLst>
          </p:cNvPr>
          <p:cNvSpPr txBox="1"/>
          <p:nvPr/>
        </p:nvSpPr>
        <p:spPr>
          <a:xfrm>
            <a:off x="6723495" y="3932030"/>
            <a:ext cx="592891" cy="461665"/>
          </a:xfrm>
          <a:prstGeom prst="rect">
            <a:avLst/>
          </a:prstGeom>
          <a:noFill/>
        </p:spPr>
        <p:txBody>
          <a:bodyPr wrap="square" rtlCol="0">
            <a:spAutoFit/>
          </a:bodyPr>
          <a:lstStyle/>
          <a:p>
            <a:pPr algn="ctr"/>
            <a:r>
              <a:rPr lang="en-AU" sz="2400" dirty="0">
                <a:latin typeface="Times New Roman" panose="02020603050405020304" pitchFamily="18" charset="0"/>
                <a:cs typeface="Times New Roman" panose="02020603050405020304" pitchFamily="18" charset="0"/>
              </a:rPr>
              <a:t>TO</a:t>
            </a:r>
          </a:p>
        </p:txBody>
      </p:sp>
      <p:pic>
        <p:nvPicPr>
          <p:cNvPr id="3" name="Picture 2">
            <a:extLst>
              <a:ext uri="{FF2B5EF4-FFF2-40B4-BE49-F238E27FC236}">
                <a16:creationId xmlns:a16="http://schemas.microsoft.com/office/drawing/2014/main" id="{60284F50-8D17-4ED6-AFBB-6246451EE4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81551" y="6171659"/>
            <a:ext cx="1572386" cy="1372265"/>
          </a:xfrm>
          <a:prstGeom prst="rect">
            <a:avLst/>
          </a:prstGeom>
        </p:spPr>
      </p:pic>
      <p:pic>
        <p:nvPicPr>
          <p:cNvPr id="5" name="Picture 4">
            <a:extLst>
              <a:ext uri="{FF2B5EF4-FFF2-40B4-BE49-F238E27FC236}">
                <a16:creationId xmlns:a16="http://schemas.microsoft.com/office/drawing/2014/main" id="{2AAA12D2-3373-46F3-9023-5E737A57AC8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68892" y="6107880"/>
            <a:ext cx="1394987" cy="1442544"/>
          </a:xfrm>
          <a:prstGeom prst="rect">
            <a:avLst/>
          </a:prstGeom>
        </p:spPr>
      </p:pic>
      <p:sp>
        <p:nvSpPr>
          <p:cNvPr id="15" name="TextBox 14">
            <a:extLst>
              <a:ext uri="{FF2B5EF4-FFF2-40B4-BE49-F238E27FC236}">
                <a16:creationId xmlns:a16="http://schemas.microsoft.com/office/drawing/2014/main" id="{0DBB7150-9B2C-C26D-3305-A7DB02A80770}"/>
              </a:ext>
            </a:extLst>
          </p:cNvPr>
          <p:cNvSpPr txBox="1"/>
          <p:nvPr/>
        </p:nvSpPr>
        <p:spPr>
          <a:xfrm>
            <a:off x="2890374" y="3418013"/>
            <a:ext cx="8287677" cy="646203"/>
          </a:xfrm>
          <a:prstGeom prst="rect">
            <a:avLst/>
          </a:prstGeom>
          <a:noFill/>
        </p:spPr>
        <p:txBody>
          <a:bodyPr wrap="square" rtlCol="0">
            <a:spAutoFit/>
          </a:bodyPr>
          <a:lstStyle/>
          <a:p>
            <a:pPr algn="ctr"/>
            <a:r>
              <a:rPr lang="en-AU" sz="3599" dirty="0">
                <a:latin typeface="Times New Roman" panose="02020603050405020304" pitchFamily="18" charset="0"/>
                <a:cs typeface="Times New Roman" panose="02020603050405020304" pitchFamily="18" charset="0"/>
              </a:rPr>
              <a:t>Campaign Medallion Tier 4 Third Clasp</a:t>
            </a:r>
          </a:p>
        </p:txBody>
      </p:sp>
      <p:sp>
        <p:nvSpPr>
          <p:cNvPr id="4" name="TextBox 3">
            <a:extLst>
              <a:ext uri="{FF2B5EF4-FFF2-40B4-BE49-F238E27FC236}">
                <a16:creationId xmlns:a16="http://schemas.microsoft.com/office/drawing/2014/main" id="{AD3D0B76-8537-0116-E409-90D47BA45611}"/>
              </a:ext>
            </a:extLst>
          </p:cNvPr>
          <p:cNvSpPr txBox="1"/>
          <p:nvPr/>
        </p:nvSpPr>
        <p:spPr>
          <a:xfrm>
            <a:off x="1611043" y="4975159"/>
            <a:ext cx="10817764" cy="1415772"/>
          </a:xfrm>
          <a:prstGeom prst="rect">
            <a:avLst/>
          </a:prstGeom>
          <a:noFill/>
        </p:spPr>
        <p:txBody>
          <a:bodyPr wrap="square" rtlCol="0">
            <a:spAutoFit/>
          </a:bodyPr>
          <a:lstStyle/>
          <a:p>
            <a:pPr algn="ctr" rtl="0">
              <a:spcBef>
                <a:spcPts val="0"/>
              </a:spcBef>
              <a:spcAft>
                <a:spcPts val="0"/>
              </a:spcAft>
            </a:pPr>
            <a:r>
              <a:rPr lang="en-AU" sz="1800" dirty="0">
                <a:solidFill>
                  <a:srgbClr val="000000"/>
                </a:solidFill>
                <a:latin typeface="Times New Roman" panose="02020603050405020304" pitchFamily="18" charset="0"/>
                <a:cs typeface="Times New Roman" panose="02020603050405020304" pitchFamily="18" charset="0"/>
              </a:rPr>
              <a:t>{name} </a:t>
            </a:r>
            <a:r>
              <a:rPr lang="en-AU" sz="1800" b="0" i="0" u="none" strike="noStrike" dirty="0">
                <a:solidFill>
                  <a:srgbClr val="000000"/>
                </a:solidFill>
                <a:effectLst/>
                <a:latin typeface="Times New Roman" panose="02020603050405020304" pitchFamily="18" charset="0"/>
              </a:rPr>
              <a:t>has seen service with the Australian Special Operations Taskforce in multiple theatres of operations, successfully providing aid and conducting combat operations across the globe.</a:t>
            </a:r>
            <a:endParaRPr lang="en-AU" sz="1600" b="0" dirty="0">
              <a:effectLst/>
            </a:endParaRPr>
          </a:p>
          <a:p>
            <a:pPr algn="ctr" rtl="0">
              <a:spcBef>
                <a:spcPts val="0"/>
              </a:spcBef>
              <a:spcAft>
                <a:spcPts val="0"/>
              </a:spcAft>
            </a:pPr>
            <a:r>
              <a:rPr lang="en-AU" sz="1800" b="0" i="0" u="none" strike="noStrike" dirty="0">
                <a:solidFill>
                  <a:srgbClr val="000000"/>
                </a:solidFill>
                <a:effectLst/>
                <a:latin typeface="Times New Roman" panose="02020603050405020304" pitchFamily="18" charset="0"/>
              </a:rPr>
              <a:t>They are characterised by their commitment to duty and peace.</a:t>
            </a:r>
            <a:endParaRPr lang="en-AU" sz="1600" b="0" dirty="0">
              <a:effectLst/>
            </a:endParaRPr>
          </a:p>
          <a:p>
            <a:br>
              <a:rPr lang="en-AU" sz="1600" dirty="0"/>
            </a:br>
            <a:endParaRPr lang="en-AU" sz="1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718E15B-7258-714F-DC79-C32D439E9315}"/>
              </a:ext>
            </a:extLst>
          </p:cNvPr>
          <p:cNvSpPr txBox="1"/>
          <p:nvPr/>
        </p:nvSpPr>
        <p:spPr>
          <a:xfrm>
            <a:off x="2003790" y="5847649"/>
            <a:ext cx="10032270" cy="646331"/>
          </a:xfrm>
          <a:prstGeom prst="rect">
            <a:avLst/>
          </a:prstGeom>
          <a:noFill/>
        </p:spPr>
        <p:txBody>
          <a:bodyPr wrap="square" rtlCol="0">
            <a:spAutoFit/>
          </a:bodyPr>
          <a:lstStyle/>
          <a:p>
            <a:pPr algn="ctr"/>
            <a:r>
              <a:rPr lang="en-AU" dirty="0">
                <a:latin typeface="Times New Roman" panose="02020603050405020304" pitchFamily="18" charset="0"/>
                <a:cs typeface="Times New Roman" panose="02020603050405020304" pitchFamily="18" charset="0"/>
              </a:rPr>
              <a:t>On today’s date, </a:t>
            </a:r>
            <a:r>
              <a:rPr lang="en-AU" i="1" dirty="0">
                <a:latin typeface="Times New Roman" panose="02020603050405020304" pitchFamily="18" charset="0"/>
                <a:cs typeface="Times New Roman" panose="02020603050405020304" pitchFamily="18" charset="0"/>
              </a:rPr>
              <a:t>{</a:t>
            </a:r>
            <a:r>
              <a:rPr lang="en-AU" i="1" dirty="0" err="1">
                <a:latin typeface="Times New Roman" panose="02020603050405020304" pitchFamily="18" charset="0"/>
                <a:cs typeface="Times New Roman" panose="02020603050405020304" pitchFamily="18" charset="0"/>
              </a:rPr>
              <a:t>dateNumber</a:t>
            </a:r>
            <a:r>
              <a:rPr lang="en-AU" sz="1800" b="0" i="1" strike="noStrike" spc="-1" dirty="0">
                <a:solidFill>
                  <a:srgbClr val="000000"/>
                </a:solidFill>
                <a:latin typeface="Times New Roman"/>
                <a:ea typeface="DejaVu Sans"/>
              </a:rPr>
              <a:t>}</a:t>
            </a:r>
            <a:r>
              <a:rPr lang="en-AU" sz="1800" b="0" i="1" strike="noStrike" spc="-1" baseline="30000" dirty="0">
                <a:solidFill>
                  <a:srgbClr val="000000"/>
                </a:solidFill>
                <a:latin typeface="Times New Roman"/>
                <a:ea typeface="DejaVu Sans"/>
              </a:rPr>
              <a:t>{suffix}</a:t>
            </a:r>
            <a:r>
              <a:rPr lang="en-AU" sz="1800" b="0" i="1" strike="noStrike" spc="-1" dirty="0">
                <a:solidFill>
                  <a:srgbClr val="000000"/>
                </a:solidFill>
                <a:latin typeface="Times New Roman"/>
                <a:ea typeface="DejaVu Sans"/>
              </a:rPr>
              <a:t> </a:t>
            </a:r>
            <a:r>
              <a:rPr lang="en-AU" i="1" dirty="0">
                <a:latin typeface="Times New Roman" panose="02020603050405020304" pitchFamily="18" charset="0"/>
                <a:cs typeface="Times New Roman" panose="02020603050405020304" pitchFamily="18" charset="0"/>
              </a:rPr>
              <a:t>{date}</a:t>
            </a:r>
            <a:r>
              <a:rPr lang="en-AU" dirty="0">
                <a:latin typeface="Times New Roman" panose="02020603050405020304" pitchFamily="18" charset="0"/>
                <a:cs typeface="Times New Roman" panose="02020603050405020304" pitchFamily="18" charset="0"/>
              </a:rPr>
              <a:t>, </a:t>
            </a:r>
            <a:r>
              <a:rPr lang="en-AU" sz="1800" dirty="0">
                <a:solidFill>
                  <a:srgbClr val="000000"/>
                </a:solidFill>
                <a:latin typeface="Times New Roman" panose="02020603050405020304" pitchFamily="18" charset="0"/>
                <a:cs typeface="Times New Roman" panose="02020603050405020304" pitchFamily="18" charset="0"/>
              </a:rPr>
              <a:t>{name} </a:t>
            </a:r>
            <a:r>
              <a:rPr lang="en-AU" dirty="0">
                <a:latin typeface="Times New Roman" panose="02020603050405020304" pitchFamily="18" charset="0"/>
                <a:cs typeface="Times New Roman" panose="02020603050405020304" pitchFamily="18" charset="0"/>
              </a:rPr>
              <a:t>is therefore awarded the</a:t>
            </a:r>
          </a:p>
          <a:p>
            <a:pPr algn="ctr"/>
            <a:r>
              <a:rPr lang="en-AU" sz="1800" dirty="0">
                <a:latin typeface="Times New Roman" panose="02020603050405020304" pitchFamily="18" charset="0"/>
                <a:cs typeface="Times New Roman" panose="02020603050405020304" pitchFamily="18" charset="0"/>
              </a:rPr>
              <a:t>Campaign Medallion Tier 3 with third clasp</a:t>
            </a:r>
            <a:r>
              <a:rPr lang="en-AU" dirty="0">
                <a:latin typeface="Times New Roman" panose="02020603050405020304" pitchFamily="18" charset="0"/>
                <a:cs typeface="Times New Roman" panose="02020603050405020304" pitchFamily="18" charset="0"/>
              </a:rPr>
              <a:t>.</a:t>
            </a:r>
          </a:p>
        </p:txBody>
      </p:sp>
      <p:pic>
        <p:nvPicPr>
          <p:cNvPr id="10" name="Picture 9">
            <a:extLst>
              <a:ext uri="{FF2B5EF4-FFF2-40B4-BE49-F238E27FC236}">
                <a16:creationId xmlns:a16="http://schemas.microsoft.com/office/drawing/2014/main" id="{1C02360B-309E-8379-58AF-62C6A03AF4D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67182" y="806087"/>
            <a:ext cx="856179" cy="1838266"/>
          </a:xfrm>
          <a:prstGeom prst="rect">
            <a:avLst/>
          </a:prstGeom>
        </p:spPr>
      </p:pic>
      <p:sp>
        <p:nvSpPr>
          <p:cNvPr id="2" name="TextBox 33">
            <a:extLst>
              <a:ext uri="{FF2B5EF4-FFF2-40B4-BE49-F238E27FC236}">
                <a16:creationId xmlns:a16="http://schemas.microsoft.com/office/drawing/2014/main" id="{3B247615-46AE-046A-9AF8-664E2017BD82}"/>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cxnSp>
        <p:nvCxnSpPr>
          <p:cNvPr id="17" name="Straight Connector 31">
            <a:extLst>
              <a:ext uri="{FF2B5EF4-FFF2-40B4-BE49-F238E27FC236}">
                <a16:creationId xmlns:a16="http://schemas.microsoft.com/office/drawing/2014/main" id="{A92F35B2-1300-E7CE-B655-C18E473E5FC1}"/>
              </a:ext>
            </a:extLst>
          </p:cNvPr>
          <p:cNvCxnSpPr/>
          <p:nvPr/>
        </p:nvCxnSpPr>
        <p:spPr>
          <a:xfrm flipH="1">
            <a:off x="5849280" y="6918120"/>
            <a:ext cx="2452680" cy="1440"/>
          </a:xfrm>
          <a:prstGeom prst="straightConnector1">
            <a:avLst/>
          </a:prstGeom>
          <a:ln w="12700">
            <a:solidFill>
              <a:srgbClr val="000000"/>
            </a:solidFill>
            <a:round/>
          </a:ln>
        </p:spPr>
      </p:cxnSp>
      <p:sp>
        <p:nvSpPr>
          <p:cNvPr id="7" name="Google Shape;90;p1">
            <a:extLst>
              <a:ext uri="{FF2B5EF4-FFF2-40B4-BE49-F238E27FC236}">
                <a16:creationId xmlns:a16="http://schemas.microsoft.com/office/drawing/2014/main" id="{3BD2E5AA-5D74-F04A-21B0-85643FB7445D}"/>
              </a:ext>
            </a:extLst>
          </p:cNvPr>
          <p:cNvSpPr/>
          <p:nvPr/>
        </p:nvSpPr>
        <p:spPr>
          <a:xfrm>
            <a:off x="4905450" y="6882257"/>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11" name="Google Shape;347;p28">
            <a:extLst>
              <a:ext uri="{FF2B5EF4-FFF2-40B4-BE49-F238E27FC236}">
                <a16:creationId xmlns:a16="http://schemas.microsoft.com/office/drawing/2014/main" id="{15978D7D-8DDE-5258-391C-F4226DDE820B}"/>
              </a:ext>
            </a:extLst>
          </p:cNvPr>
          <p:cNvSpPr/>
          <p:nvPr/>
        </p:nvSpPr>
        <p:spPr>
          <a:xfrm>
            <a:off x="4852260" y="6412873"/>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extLst>
      <p:ext uri="{BB962C8B-B14F-4D97-AF65-F5344CB8AC3E}">
        <p14:creationId xmlns:p14="http://schemas.microsoft.com/office/powerpoint/2010/main" val="31429399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02F8D24D-B690-429A-B31A-EE075F591D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9151" y="714375"/>
            <a:ext cx="12430124" cy="7105650"/>
          </a:xfrm>
          <a:prstGeom prst="rect">
            <a:avLst/>
          </a:prstGeom>
        </p:spPr>
      </p:pic>
      <p:pic>
        <p:nvPicPr>
          <p:cNvPr id="20" name="Picture 19">
            <a:extLst>
              <a:ext uri="{FF2B5EF4-FFF2-40B4-BE49-F238E27FC236}">
                <a16:creationId xmlns:a16="http://schemas.microsoft.com/office/drawing/2014/main" id="{E93A7C25-E6EB-404F-B46D-2C23D8281883}"/>
              </a:ext>
            </a:extLst>
          </p:cNvPr>
          <p:cNvPicPr>
            <a:picLocks noChangeAspect="1"/>
          </p:cNvPicPr>
          <p:nvPr/>
        </p:nvPicPr>
        <p:blipFill rotWithShape="1">
          <a:blip r:embed="rId3">
            <a:extLst>
              <a:ext uri="{28A0092B-C50C-407E-A947-70E740481C1C}">
                <a14:useLocalDpi xmlns:a14="http://schemas.microsoft.com/office/drawing/2010/main" val="0"/>
              </a:ext>
            </a:extLst>
          </a:blip>
          <a:srcRect l="10028" t="12537" r="10465" b="20263"/>
          <a:stretch/>
        </p:blipFill>
        <p:spPr>
          <a:xfrm>
            <a:off x="0" y="3091"/>
            <a:ext cx="14039850" cy="8456697"/>
          </a:xfrm>
          <a:prstGeom prst="rect">
            <a:avLst/>
          </a:prstGeom>
        </p:spPr>
      </p:pic>
      <p:sp>
        <p:nvSpPr>
          <p:cNvPr id="8" name="TextBox 7">
            <a:extLst>
              <a:ext uri="{FF2B5EF4-FFF2-40B4-BE49-F238E27FC236}">
                <a16:creationId xmlns:a16="http://schemas.microsoft.com/office/drawing/2014/main" id="{D7E785A6-A2A0-41EA-A1D2-14E262272345}"/>
              </a:ext>
            </a:extLst>
          </p:cNvPr>
          <p:cNvSpPr txBox="1"/>
          <p:nvPr/>
        </p:nvSpPr>
        <p:spPr>
          <a:xfrm>
            <a:off x="1668886" y="2526227"/>
            <a:ext cx="10737849" cy="646203"/>
          </a:xfrm>
          <a:prstGeom prst="rect">
            <a:avLst/>
          </a:prstGeom>
          <a:noFill/>
        </p:spPr>
        <p:txBody>
          <a:bodyPr wrap="square" rtlCol="0">
            <a:spAutoFit/>
          </a:bodyPr>
          <a:lstStyle/>
          <a:p>
            <a:pPr algn="ctr"/>
            <a:r>
              <a:rPr lang="en-AU" sz="3599" dirty="0">
                <a:latin typeface="Times New Roman" panose="02020603050405020304" pitchFamily="18" charset="0"/>
                <a:cs typeface="Times New Roman" panose="02020603050405020304" pitchFamily="18" charset="0"/>
              </a:rPr>
              <a:t>AUSTRALIAN SPECIAL OPERATIONS TASKFORCE</a:t>
            </a:r>
          </a:p>
        </p:txBody>
      </p:sp>
      <p:sp>
        <p:nvSpPr>
          <p:cNvPr id="9" name="TextBox 8">
            <a:extLst>
              <a:ext uri="{FF2B5EF4-FFF2-40B4-BE49-F238E27FC236}">
                <a16:creationId xmlns:a16="http://schemas.microsoft.com/office/drawing/2014/main" id="{CEE68CE4-34AF-4ADF-B29B-D28BDCB22EE8}"/>
              </a:ext>
            </a:extLst>
          </p:cNvPr>
          <p:cNvSpPr txBox="1"/>
          <p:nvPr/>
        </p:nvSpPr>
        <p:spPr>
          <a:xfrm>
            <a:off x="4094814" y="2918089"/>
            <a:ext cx="6072189" cy="646203"/>
          </a:xfrm>
          <a:prstGeom prst="rect">
            <a:avLst/>
          </a:prstGeom>
          <a:noFill/>
        </p:spPr>
        <p:txBody>
          <a:bodyPr wrap="square" rtlCol="0">
            <a:spAutoFit/>
          </a:bodyPr>
          <a:lstStyle/>
          <a:p>
            <a:pPr algn="ctr"/>
            <a:r>
              <a:rPr lang="en-AU" sz="2400" dirty="0">
                <a:latin typeface="Times New Roman" panose="02020603050405020304" pitchFamily="18" charset="0"/>
                <a:cs typeface="Times New Roman" panose="02020603050405020304" pitchFamily="18" charset="0"/>
              </a:rPr>
              <a:t>This is to certify that command has awarded the</a:t>
            </a:r>
            <a:r>
              <a:rPr lang="en-AU" sz="3599" dirty="0">
                <a:latin typeface="Times New Roman" panose="02020603050405020304" pitchFamily="18" charset="0"/>
                <a:cs typeface="Times New Roman" panose="02020603050405020304" pitchFamily="18" charset="0"/>
              </a:rPr>
              <a:t> </a:t>
            </a:r>
          </a:p>
        </p:txBody>
      </p:sp>
      <p:sp>
        <p:nvSpPr>
          <p:cNvPr id="12" name="TextBox 11">
            <a:extLst>
              <a:ext uri="{FF2B5EF4-FFF2-40B4-BE49-F238E27FC236}">
                <a16:creationId xmlns:a16="http://schemas.microsoft.com/office/drawing/2014/main" id="{66251F15-5C9B-4076-9AC4-A7542F35F809}"/>
              </a:ext>
            </a:extLst>
          </p:cNvPr>
          <p:cNvSpPr txBox="1"/>
          <p:nvPr/>
        </p:nvSpPr>
        <p:spPr>
          <a:xfrm>
            <a:off x="6723495" y="3932030"/>
            <a:ext cx="592891" cy="461665"/>
          </a:xfrm>
          <a:prstGeom prst="rect">
            <a:avLst/>
          </a:prstGeom>
          <a:noFill/>
        </p:spPr>
        <p:txBody>
          <a:bodyPr wrap="square" rtlCol="0">
            <a:spAutoFit/>
          </a:bodyPr>
          <a:lstStyle/>
          <a:p>
            <a:pPr algn="ctr"/>
            <a:r>
              <a:rPr lang="en-AU" sz="2400" dirty="0">
                <a:latin typeface="Times New Roman" panose="02020603050405020304" pitchFamily="18" charset="0"/>
                <a:cs typeface="Times New Roman" panose="02020603050405020304" pitchFamily="18" charset="0"/>
              </a:rPr>
              <a:t>TO</a:t>
            </a:r>
          </a:p>
        </p:txBody>
      </p:sp>
      <p:pic>
        <p:nvPicPr>
          <p:cNvPr id="3" name="Picture 2">
            <a:extLst>
              <a:ext uri="{FF2B5EF4-FFF2-40B4-BE49-F238E27FC236}">
                <a16:creationId xmlns:a16="http://schemas.microsoft.com/office/drawing/2014/main" id="{60284F50-8D17-4ED6-AFBB-6246451EE4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81551" y="6171659"/>
            <a:ext cx="1572386" cy="1372265"/>
          </a:xfrm>
          <a:prstGeom prst="rect">
            <a:avLst/>
          </a:prstGeom>
        </p:spPr>
      </p:pic>
      <p:pic>
        <p:nvPicPr>
          <p:cNvPr id="5" name="Picture 4">
            <a:extLst>
              <a:ext uri="{FF2B5EF4-FFF2-40B4-BE49-F238E27FC236}">
                <a16:creationId xmlns:a16="http://schemas.microsoft.com/office/drawing/2014/main" id="{2AAA12D2-3373-46F3-9023-5E737A57AC8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68892" y="6107880"/>
            <a:ext cx="1394987" cy="1442544"/>
          </a:xfrm>
          <a:prstGeom prst="rect">
            <a:avLst/>
          </a:prstGeom>
        </p:spPr>
      </p:pic>
      <p:sp>
        <p:nvSpPr>
          <p:cNvPr id="15" name="TextBox 14">
            <a:extLst>
              <a:ext uri="{FF2B5EF4-FFF2-40B4-BE49-F238E27FC236}">
                <a16:creationId xmlns:a16="http://schemas.microsoft.com/office/drawing/2014/main" id="{0DBB7150-9B2C-C26D-3305-A7DB02A80770}"/>
              </a:ext>
            </a:extLst>
          </p:cNvPr>
          <p:cNvSpPr txBox="1"/>
          <p:nvPr/>
        </p:nvSpPr>
        <p:spPr>
          <a:xfrm>
            <a:off x="2890374" y="3418013"/>
            <a:ext cx="8287677" cy="646203"/>
          </a:xfrm>
          <a:prstGeom prst="rect">
            <a:avLst/>
          </a:prstGeom>
          <a:noFill/>
        </p:spPr>
        <p:txBody>
          <a:bodyPr wrap="square" rtlCol="0">
            <a:spAutoFit/>
          </a:bodyPr>
          <a:lstStyle/>
          <a:p>
            <a:pPr algn="ctr"/>
            <a:r>
              <a:rPr lang="en-AU" sz="3599" dirty="0">
                <a:latin typeface="Times New Roman" panose="02020603050405020304" pitchFamily="18" charset="0"/>
                <a:cs typeface="Times New Roman" panose="02020603050405020304" pitchFamily="18" charset="0"/>
              </a:rPr>
              <a:t>Campaign Medallion Tier 4 Fourth Clasp</a:t>
            </a:r>
          </a:p>
        </p:txBody>
      </p:sp>
      <p:sp>
        <p:nvSpPr>
          <p:cNvPr id="4" name="TextBox 3">
            <a:extLst>
              <a:ext uri="{FF2B5EF4-FFF2-40B4-BE49-F238E27FC236}">
                <a16:creationId xmlns:a16="http://schemas.microsoft.com/office/drawing/2014/main" id="{AD3D0B76-8537-0116-E409-90D47BA45611}"/>
              </a:ext>
            </a:extLst>
          </p:cNvPr>
          <p:cNvSpPr txBox="1"/>
          <p:nvPr/>
        </p:nvSpPr>
        <p:spPr>
          <a:xfrm>
            <a:off x="1611043" y="4975159"/>
            <a:ext cx="10817764" cy="1415772"/>
          </a:xfrm>
          <a:prstGeom prst="rect">
            <a:avLst/>
          </a:prstGeom>
          <a:noFill/>
        </p:spPr>
        <p:txBody>
          <a:bodyPr wrap="square" rtlCol="0">
            <a:spAutoFit/>
          </a:bodyPr>
          <a:lstStyle/>
          <a:p>
            <a:pPr algn="ctr" rtl="0">
              <a:spcBef>
                <a:spcPts val="0"/>
              </a:spcBef>
              <a:spcAft>
                <a:spcPts val="0"/>
              </a:spcAft>
            </a:pPr>
            <a:r>
              <a:rPr lang="en-AU" sz="1800" dirty="0">
                <a:solidFill>
                  <a:srgbClr val="000000"/>
                </a:solidFill>
                <a:latin typeface="Times New Roman" panose="02020603050405020304" pitchFamily="18" charset="0"/>
                <a:cs typeface="Times New Roman" panose="02020603050405020304" pitchFamily="18" charset="0"/>
              </a:rPr>
              <a:t>{name} </a:t>
            </a:r>
            <a:r>
              <a:rPr lang="en-AU" sz="1800" b="0" i="0" u="none" strike="noStrike" dirty="0">
                <a:solidFill>
                  <a:srgbClr val="000000"/>
                </a:solidFill>
                <a:effectLst/>
                <a:latin typeface="Times New Roman" panose="02020603050405020304" pitchFamily="18" charset="0"/>
              </a:rPr>
              <a:t>has seen service with the Australian Special Operations Taskforce in multiple theatres of operations, successfully providing aid and conducting combat operations across the globe.</a:t>
            </a:r>
            <a:endParaRPr lang="en-AU" sz="1600" b="0" dirty="0">
              <a:effectLst/>
            </a:endParaRPr>
          </a:p>
          <a:p>
            <a:pPr algn="ctr" rtl="0">
              <a:spcBef>
                <a:spcPts val="0"/>
              </a:spcBef>
              <a:spcAft>
                <a:spcPts val="0"/>
              </a:spcAft>
            </a:pPr>
            <a:r>
              <a:rPr lang="en-AU" sz="1800" b="0" i="0" u="none" strike="noStrike" dirty="0">
                <a:solidFill>
                  <a:srgbClr val="000000"/>
                </a:solidFill>
                <a:effectLst/>
                <a:latin typeface="Times New Roman" panose="02020603050405020304" pitchFamily="18" charset="0"/>
              </a:rPr>
              <a:t>They are characterised by their commitment to duty and peace.</a:t>
            </a:r>
            <a:endParaRPr lang="en-AU" sz="1600" b="0" dirty="0">
              <a:effectLst/>
            </a:endParaRPr>
          </a:p>
          <a:p>
            <a:br>
              <a:rPr lang="en-AU" sz="1600" dirty="0"/>
            </a:br>
            <a:endParaRPr lang="en-AU" sz="1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718E15B-7258-714F-DC79-C32D439E9315}"/>
              </a:ext>
            </a:extLst>
          </p:cNvPr>
          <p:cNvSpPr txBox="1"/>
          <p:nvPr/>
        </p:nvSpPr>
        <p:spPr>
          <a:xfrm>
            <a:off x="2003790" y="5847649"/>
            <a:ext cx="10032270" cy="646331"/>
          </a:xfrm>
          <a:prstGeom prst="rect">
            <a:avLst/>
          </a:prstGeom>
          <a:noFill/>
        </p:spPr>
        <p:txBody>
          <a:bodyPr wrap="square" rtlCol="0">
            <a:spAutoFit/>
          </a:bodyPr>
          <a:lstStyle/>
          <a:p>
            <a:pPr algn="ctr"/>
            <a:r>
              <a:rPr lang="en-AU" dirty="0">
                <a:latin typeface="Times New Roman" panose="02020603050405020304" pitchFamily="18" charset="0"/>
                <a:cs typeface="Times New Roman" panose="02020603050405020304" pitchFamily="18" charset="0"/>
              </a:rPr>
              <a:t>On today’s date, </a:t>
            </a:r>
            <a:r>
              <a:rPr lang="en-AU" i="1" dirty="0">
                <a:latin typeface="Times New Roman" panose="02020603050405020304" pitchFamily="18" charset="0"/>
                <a:cs typeface="Times New Roman" panose="02020603050405020304" pitchFamily="18" charset="0"/>
              </a:rPr>
              <a:t>{</a:t>
            </a:r>
            <a:r>
              <a:rPr lang="en-AU" i="1" dirty="0" err="1">
                <a:latin typeface="Times New Roman" panose="02020603050405020304" pitchFamily="18" charset="0"/>
                <a:cs typeface="Times New Roman" panose="02020603050405020304" pitchFamily="18" charset="0"/>
              </a:rPr>
              <a:t>dateNumber</a:t>
            </a:r>
            <a:r>
              <a:rPr lang="en-AU" sz="1800" b="0" i="1" strike="noStrike" spc="-1" dirty="0">
                <a:solidFill>
                  <a:srgbClr val="000000"/>
                </a:solidFill>
                <a:latin typeface="Times New Roman"/>
                <a:ea typeface="DejaVu Sans"/>
              </a:rPr>
              <a:t>}</a:t>
            </a:r>
            <a:r>
              <a:rPr lang="en-AU" sz="1800" b="0" i="1" strike="noStrike" spc="-1" baseline="30000" dirty="0">
                <a:solidFill>
                  <a:srgbClr val="000000"/>
                </a:solidFill>
                <a:latin typeface="Times New Roman"/>
                <a:ea typeface="DejaVu Sans"/>
              </a:rPr>
              <a:t>{suffix}</a:t>
            </a:r>
            <a:r>
              <a:rPr lang="en-AU" sz="1800" b="0" i="1" strike="noStrike" spc="-1" dirty="0">
                <a:solidFill>
                  <a:srgbClr val="000000"/>
                </a:solidFill>
                <a:latin typeface="Times New Roman"/>
                <a:ea typeface="DejaVu Sans"/>
              </a:rPr>
              <a:t> </a:t>
            </a:r>
            <a:r>
              <a:rPr lang="en-AU" i="1" dirty="0">
                <a:latin typeface="Times New Roman" panose="02020603050405020304" pitchFamily="18" charset="0"/>
                <a:cs typeface="Times New Roman" panose="02020603050405020304" pitchFamily="18" charset="0"/>
              </a:rPr>
              <a:t>{date}</a:t>
            </a:r>
            <a:r>
              <a:rPr lang="en-AU" dirty="0">
                <a:latin typeface="Times New Roman" panose="02020603050405020304" pitchFamily="18" charset="0"/>
                <a:cs typeface="Times New Roman" panose="02020603050405020304" pitchFamily="18" charset="0"/>
              </a:rPr>
              <a:t>, </a:t>
            </a:r>
            <a:r>
              <a:rPr lang="en-AU" sz="1800" dirty="0">
                <a:solidFill>
                  <a:srgbClr val="000000"/>
                </a:solidFill>
                <a:latin typeface="Times New Roman" panose="02020603050405020304" pitchFamily="18" charset="0"/>
                <a:cs typeface="Times New Roman" panose="02020603050405020304" pitchFamily="18" charset="0"/>
              </a:rPr>
              <a:t>{name} </a:t>
            </a:r>
            <a:r>
              <a:rPr lang="en-AU" dirty="0">
                <a:latin typeface="Times New Roman" panose="02020603050405020304" pitchFamily="18" charset="0"/>
                <a:cs typeface="Times New Roman" panose="02020603050405020304" pitchFamily="18" charset="0"/>
              </a:rPr>
              <a:t>is therefore awarded the</a:t>
            </a:r>
          </a:p>
          <a:p>
            <a:pPr algn="ctr"/>
            <a:r>
              <a:rPr lang="en-AU" sz="1800" dirty="0">
                <a:latin typeface="Times New Roman" panose="02020603050405020304" pitchFamily="18" charset="0"/>
                <a:cs typeface="Times New Roman" panose="02020603050405020304" pitchFamily="18" charset="0"/>
              </a:rPr>
              <a:t>Campaign Medallion Tier 3 with fourth clasp</a:t>
            </a:r>
            <a:r>
              <a:rPr lang="en-AU" dirty="0">
                <a:latin typeface="Times New Roman" panose="02020603050405020304" pitchFamily="18" charset="0"/>
                <a:cs typeface="Times New Roman" panose="02020603050405020304" pitchFamily="18" charset="0"/>
              </a:rPr>
              <a:t>.</a:t>
            </a:r>
          </a:p>
        </p:txBody>
      </p:sp>
      <p:pic>
        <p:nvPicPr>
          <p:cNvPr id="10" name="Picture 9">
            <a:extLst>
              <a:ext uri="{FF2B5EF4-FFF2-40B4-BE49-F238E27FC236}">
                <a16:creationId xmlns:a16="http://schemas.microsoft.com/office/drawing/2014/main" id="{1C02360B-309E-8379-58AF-62C6A03AF4D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67182" y="806087"/>
            <a:ext cx="856179" cy="1838266"/>
          </a:xfrm>
          <a:prstGeom prst="rect">
            <a:avLst/>
          </a:prstGeom>
        </p:spPr>
      </p:pic>
      <p:pic>
        <p:nvPicPr>
          <p:cNvPr id="2" name="Picture 1">
            <a:extLst>
              <a:ext uri="{FF2B5EF4-FFF2-40B4-BE49-F238E27FC236}">
                <a16:creationId xmlns:a16="http://schemas.microsoft.com/office/drawing/2014/main" id="{221B2B37-831C-9366-3803-5CCFC83989F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667181" y="817634"/>
            <a:ext cx="856179" cy="1838266"/>
          </a:xfrm>
          <a:prstGeom prst="rect">
            <a:avLst/>
          </a:prstGeom>
        </p:spPr>
      </p:pic>
      <p:sp>
        <p:nvSpPr>
          <p:cNvPr id="13" name="TextBox 33">
            <a:extLst>
              <a:ext uri="{FF2B5EF4-FFF2-40B4-BE49-F238E27FC236}">
                <a16:creationId xmlns:a16="http://schemas.microsoft.com/office/drawing/2014/main" id="{A54BC6DB-7AA4-F804-AA87-D718DBB600FF}"/>
              </a:ext>
            </a:extLst>
          </p:cNvPr>
          <p:cNvSpPr/>
          <p:nvPr/>
        </p:nvSpPr>
        <p:spPr>
          <a:xfrm>
            <a:off x="4046505" y="4271176"/>
            <a:ext cx="59468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pPr>
            <a:r>
              <a:rPr lang="en-AU" sz="3600" b="0" strike="noStrike" spc="-1" dirty="0">
                <a:solidFill>
                  <a:srgbClr val="000000"/>
                </a:solidFill>
                <a:latin typeface="Old English Text MT"/>
                <a:ea typeface="DejaVu Sans"/>
              </a:rPr>
              <a:t>{name}</a:t>
            </a:r>
            <a:endParaRPr lang="en-IN" sz="3600" b="0" strike="noStrike" spc="-1" dirty="0">
              <a:solidFill>
                <a:srgbClr val="000000"/>
              </a:solidFill>
              <a:latin typeface="Arial"/>
            </a:endParaRPr>
          </a:p>
        </p:txBody>
      </p:sp>
      <p:cxnSp>
        <p:nvCxnSpPr>
          <p:cNvPr id="19" name="Straight Connector 31">
            <a:extLst>
              <a:ext uri="{FF2B5EF4-FFF2-40B4-BE49-F238E27FC236}">
                <a16:creationId xmlns:a16="http://schemas.microsoft.com/office/drawing/2014/main" id="{500F124B-C99E-6E87-E356-360BC7F21008}"/>
              </a:ext>
            </a:extLst>
          </p:cNvPr>
          <p:cNvCxnSpPr/>
          <p:nvPr/>
        </p:nvCxnSpPr>
        <p:spPr>
          <a:xfrm flipH="1">
            <a:off x="5849280" y="6918120"/>
            <a:ext cx="2452680" cy="1440"/>
          </a:xfrm>
          <a:prstGeom prst="straightConnector1">
            <a:avLst/>
          </a:prstGeom>
          <a:ln w="12700">
            <a:solidFill>
              <a:srgbClr val="000000"/>
            </a:solidFill>
            <a:round/>
          </a:ln>
        </p:spPr>
      </p:cxnSp>
      <p:sp>
        <p:nvSpPr>
          <p:cNvPr id="7" name="Google Shape;90;p1">
            <a:extLst>
              <a:ext uri="{FF2B5EF4-FFF2-40B4-BE49-F238E27FC236}">
                <a16:creationId xmlns:a16="http://schemas.microsoft.com/office/drawing/2014/main" id="{D1437C15-93CD-9D64-F5FC-F4E3F237E681}"/>
              </a:ext>
            </a:extLst>
          </p:cNvPr>
          <p:cNvSpPr/>
          <p:nvPr/>
        </p:nvSpPr>
        <p:spPr>
          <a:xfrm>
            <a:off x="4905450" y="6882257"/>
            <a:ext cx="4277880" cy="59871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tabLst>
                <a:tab pos="0" algn="l"/>
              </a:tabLst>
            </a:pPr>
            <a:r>
              <a:rPr lang="en-AU" sz="1100" b="1" strike="noStrike" spc="-1" dirty="0">
                <a:solidFill>
                  <a:srgbClr val="000000"/>
                </a:solidFill>
                <a:latin typeface="Times New Roman"/>
                <a:ea typeface="Times New Roman"/>
              </a:rPr>
              <a:t>{</a:t>
            </a:r>
            <a:r>
              <a:rPr lang="en-AU" sz="1100" b="1" strike="noStrike" spc="-1" dirty="0" err="1">
                <a:solidFill>
                  <a:srgbClr val="000000"/>
                </a:solidFill>
                <a:latin typeface="Times New Roman"/>
                <a:ea typeface="Times New Roman"/>
              </a:rPr>
              <a:t>signaturerRankShort</a:t>
            </a:r>
            <a:r>
              <a:rPr lang="en-AU" sz="1100" b="1" strike="noStrike" spc="-1" dirty="0">
                <a:solidFill>
                  <a:srgbClr val="000000"/>
                </a:solidFill>
                <a:latin typeface="Times New Roman"/>
                <a:ea typeface="Times New Roman"/>
              </a:rPr>
              <a:t>} {</a:t>
            </a:r>
            <a:r>
              <a:rPr lang="en-AU" sz="1100" b="1" strike="noStrike" spc="-1" dirty="0" err="1">
                <a:solidFill>
                  <a:srgbClr val="000000"/>
                </a:solidFill>
                <a:latin typeface="Times New Roman"/>
                <a:ea typeface="Times New Roman"/>
              </a:rPr>
              <a:t>signaturer</a:t>
            </a:r>
            <a:r>
              <a:rPr lang="en-AU" sz="1100" b="1" strike="noStrike" spc="-1" dirty="0">
                <a:solidFill>
                  <a:srgbClr val="000000"/>
                </a:solidFill>
                <a:latin typeface="Times New Roman"/>
                <a:ea typeface="Times New Roman"/>
              </a:rPr>
              <a:t>}</a:t>
            </a:r>
            <a:br>
              <a:rPr sz="1100" dirty="0"/>
            </a:br>
            <a:r>
              <a:rPr lang="en-AU" sz="1100" b="1" strike="noStrike" spc="-1" dirty="0">
                <a:solidFill>
                  <a:srgbClr val="000000"/>
                </a:solidFill>
                <a:latin typeface="Times New Roman"/>
                <a:ea typeface="Times New Roman"/>
              </a:rPr>
              <a:t>Officer Commanding</a:t>
            </a:r>
            <a:br>
              <a:rPr sz="1100" dirty="0"/>
            </a:br>
            <a:r>
              <a:rPr lang="en-AU" sz="1100" b="1" strike="noStrike" spc="-1" dirty="0">
                <a:solidFill>
                  <a:srgbClr val="000000"/>
                </a:solidFill>
                <a:latin typeface="Times New Roman"/>
                <a:ea typeface="Times New Roman"/>
              </a:rPr>
              <a:t>Australian Special Operations Taskforce HQ</a:t>
            </a:r>
            <a:endParaRPr lang="en-AU" sz="1100" b="0" strike="noStrike" spc="-1" dirty="0">
              <a:solidFill>
                <a:srgbClr val="000000"/>
              </a:solidFill>
              <a:latin typeface="Arial"/>
            </a:endParaRPr>
          </a:p>
        </p:txBody>
      </p:sp>
      <p:sp>
        <p:nvSpPr>
          <p:cNvPr id="11" name="Google Shape;347;p28">
            <a:extLst>
              <a:ext uri="{FF2B5EF4-FFF2-40B4-BE49-F238E27FC236}">
                <a16:creationId xmlns:a16="http://schemas.microsoft.com/office/drawing/2014/main" id="{BB081F53-EA62-B373-0A6B-8D47C3BD8EFC}"/>
              </a:ext>
            </a:extLst>
          </p:cNvPr>
          <p:cNvSpPr/>
          <p:nvPr/>
        </p:nvSpPr>
        <p:spPr>
          <a:xfrm>
            <a:off x="4852260" y="6412873"/>
            <a:ext cx="453942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lnSpc>
                <a:spcPct val="100000"/>
              </a:lnSpc>
              <a:tabLst>
                <a:tab pos="0" algn="l"/>
              </a:tabLst>
            </a:pPr>
            <a:r>
              <a:rPr lang="en-AU" sz="2800" b="0" i="1" strike="noStrike" spc="-1" dirty="0">
                <a:solidFill>
                  <a:schemeClr val="dk1"/>
                </a:solidFill>
                <a:latin typeface="Brush Script MT"/>
                <a:ea typeface="Courgette"/>
              </a:rPr>
              <a:t>{</a:t>
            </a:r>
            <a:r>
              <a:rPr lang="en-AU" sz="2800" b="0" i="1" strike="noStrike" spc="-1" dirty="0" err="1">
                <a:solidFill>
                  <a:schemeClr val="dk1"/>
                </a:solidFill>
                <a:latin typeface="Brush Script MT"/>
                <a:ea typeface="Courgette"/>
              </a:rPr>
              <a:t>signaturerRankShort</a:t>
            </a:r>
            <a:r>
              <a:rPr lang="en-AU" sz="2800" b="0" i="1" strike="noStrike" spc="-1" dirty="0">
                <a:solidFill>
                  <a:schemeClr val="dk1"/>
                </a:solidFill>
                <a:latin typeface="Brush Script MT"/>
                <a:ea typeface="Courgette"/>
              </a:rPr>
              <a:t>} {</a:t>
            </a:r>
            <a:r>
              <a:rPr lang="en-AU" sz="2800" b="0" i="1" strike="noStrike" spc="-1" dirty="0" err="1">
                <a:solidFill>
                  <a:schemeClr val="dk1"/>
                </a:solidFill>
                <a:latin typeface="Brush Script MT"/>
                <a:ea typeface="Courgette"/>
              </a:rPr>
              <a:t>signaturer</a:t>
            </a:r>
            <a:r>
              <a:rPr lang="en-AU" sz="2800" b="0" i="1" strike="noStrike" spc="-1" dirty="0">
                <a:solidFill>
                  <a:schemeClr val="dk1"/>
                </a:solidFill>
                <a:latin typeface="Brush Script MT"/>
                <a:ea typeface="Courgette"/>
              </a:rPr>
              <a:t>}</a:t>
            </a:r>
            <a:endParaRPr lang="en-AU" sz="2800" b="0" strike="noStrike" spc="-1" dirty="0">
              <a:solidFill>
                <a:srgbClr val="000000"/>
              </a:solidFill>
              <a:latin typeface="Arial"/>
            </a:endParaRPr>
          </a:p>
        </p:txBody>
      </p:sp>
    </p:spTree>
    <p:extLst>
      <p:ext uri="{BB962C8B-B14F-4D97-AF65-F5344CB8AC3E}">
        <p14:creationId xmlns:p14="http://schemas.microsoft.com/office/powerpoint/2010/main" val="1851240524"/>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6350" cap="flat" cmpd="sng" algn="ctr">
          <a:prstDash val="solid"/>
          <a:miter/>
        </a:ln>
        <a:ln w="12700" cap="flat" cmpd="sng" algn="ctr">
          <a:prstDash val="solid"/>
          <a:miter/>
        </a:ln>
        <a:ln w="1905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736</TotalTime>
  <Words>4721</Words>
  <Application>Microsoft Office PowerPoint</Application>
  <PresentationFormat>Custom</PresentationFormat>
  <Paragraphs>432</Paragraphs>
  <Slides>42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Arial</vt:lpstr>
      <vt:lpstr>Brush Script MT</vt:lpstr>
      <vt:lpstr>Calibri</vt:lpstr>
      <vt:lpstr>Old English Text MT</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Dean Thomas</dc:creator>
  <dc:description/>
  <cp:lastModifiedBy>Dean Thomas</cp:lastModifiedBy>
  <cp:revision>79</cp:revision>
  <dcterms:created xsi:type="dcterms:W3CDTF">2022-02-20T05:20:44Z</dcterms:created>
  <dcterms:modified xsi:type="dcterms:W3CDTF">2024-12-02T04:14:02Z</dcterms:modified>
  <dc:language>en-AU</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Custom</vt:lpwstr>
  </property>
  <property fmtid="{D5CDD505-2E9C-101B-9397-08002B2CF9AE}" pid="3" name="Slides">
    <vt:i4>38</vt:i4>
  </property>
</Properties>
</file>